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h4XPxC1vb9YdT7egrFq3WW1QAz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8304c1d38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28304c1d3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7B49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5147925" y="1028700"/>
            <a:ext cx="2111375" cy="1931987"/>
          </a:xfrm>
          <a:custGeom>
            <a:rect b="b" l="l" r="r" t="t"/>
            <a:pathLst>
              <a:path extrusionOk="0" h="1932533" w="2111795">
                <a:moveTo>
                  <a:pt x="0" y="0"/>
                </a:moveTo>
                <a:lnTo>
                  <a:pt x="2111795" y="0"/>
                </a:lnTo>
                <a:lnTo>
                  <a:pt x="2111795" y="1932533"/>
                </a:lnTo>
                <a:lnTo>
                  <a:pt x="0" y="1932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870822" y="1994693"/>
            <a:ext cx="10753725" cy="5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BFD"/>
              </a:buClr>
              <a:buSzPts val="8500"/>
              <a:buFont typeface="Poppins"/>
              <a:buNone/>
            </a:pPr>
            <a:r>
              <a:rPr b="0" i="0" lang="en-US" sz="8500" u="none" cap="none" strike="noStrike">
                <a:solidFill>
                  <a:srgbClr val="F8FBFD"/>
                </a:solidFill>
                <a:latin typeface="Poppins"/>
                <a:ea typeface="Poppins"/>
                <a:cs typeface="Poppins"/>
                <a:sym typeface="Poppins"/>
              </a:rPr>
              <a:t>TEMA 1. 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BFD"/>
              </a:buClr>
              <a:buSzPts val="8500"/>
              <a:buFont typeface="Poppins"/>
              <a:buNone/>
            </a:pPr>
            <a:r>
              <a:rPr b="0" i="0" lang="en-US" sz="8500" u="none" cap="none" strike="noStrike">
                <a:solidFill>
                  <a:srgbClr val="F8FBFD"/>
                </a:solidFill>
                <a:latin typeface="Poppins"/>
                <a:ea typeface="Poppins"/>
                <a:cs typeface="Poppins"/>
                <a:sym typeface="Poppins"/>
              </a:rPr>
              <a:t>INICIATIVA EMPRENDEDORA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&#10;&#10;Descripción generada automáticamente"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7979" y="8136904"/>
            <a:ext cx="6231323" cy="148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2557008" y="844776"/>
            <a:ext cx="107521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440"/>
              </a:buClr>
              <a:buSzPts val="4600"/>
              <a:buFont typeface="Poppins"/>
              <a:buNone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Índice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729208" y="1839995"/>
            <a:ext cx="12407700" cy="7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  <a:endParaRPr/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ESPÍRITU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EMPRENDEDOR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-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LOS EMPRENDEDORES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TIPOS DE EMPRENDEDORES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- VENTAJAS Y DESVENTAJAS DEL EMPRESARIO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LA IDEA: CREATIVIDAD E INNOVACIÓN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-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BÚSQUEDA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IDEAS DE NEGOCIO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- TIPOS DE INNOVACIÓN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	* INNOVACIÓN DE PRODUCTO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	* INNOVACIÓN DE PROCESO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	* INNOVACIÓN TECNOLÓGICA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- COMO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CONSEGUIR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LA INNOVACIÓN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- ESTUDIO Y VALORACIÓN DE LA IDEA INICIAL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5. EL EMPRENDEDOR</a:t>
            </a:r>
            <a:endParaRPr/>
          </a:p>
        </p:txBody>
      </p:sp>
      <p:pic>
        <p:nvPicPr>
          <p:cNvPr descr="Logotipo, nombre de la empresa&#10;&#10;Descripción generada automáticamente"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55524" y="8666450"/>
            <a:ext cx="3986375" cy="1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/>
        </p:nvSpPr>
        <p:spPr>
          <a:xfrm>
            <a:off x="2557008" y="844776"/>
            <a:ext cx="10752137" cy="99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440"/>
              </a:buClr>
              <a:buSzPts val="4600"/>
              <a:buFont typeface="Poppins"/>
              <a:buNone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2932112" y="2917825"/>
            <a:ext cx="12864936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finalizar el estudio  </a:t>
            </a:r>
            <a:r>
              <a:rPr b="0" i="0" lang="en-US" sz="3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participante será capaz de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Determinar las cualidades que debe poseer una persona emprendedora.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Diferenciar los diferentes tipos de emprendimiento, tanto por cuenta propia, social y corporativo, valorando la importancia de cada uno de ellos como agente social de cambio.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Autoevaluar nuestra capacidad emprendedora.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 ideas para emprender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, nombre de la empresa&#10;&#10;Descripción generada automáticamente" id="102" name="Google Shape;10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83532" y="8854325"/>
            <a:ext cx="3121272" cy="103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028698" y="419804"/>
            <a:ext cx="14558511" cy="99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1440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440"/>
              </a:buClr>
              <a:buSzPts val="4600"/>
              <a:buFont typeface="Poppins"/>
              <a:buAutoNum type="arabicPeriod"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  <a:endParaRPr b="0" i="0" sz="4600" u="none" cap="none" strike="noStrike">
              <a:solidFill>
                <a:srgbClr val="1B3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781503" y="2060575"/>
            <a:ext cx="14204731" cy="2117287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iniciativa emprendedora favorece el crecimiento económico y genera empleo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1781503" y="4546271"/>
            <a:ext cx="14204731" cy="2117287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Importancia de la creatividad y la innovación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1781503" y="6932121"/>
            <a:ext cx="14204731" cy="2117287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Aprenderemos a evaluar una idea de negocio y su idoneidad</a:t>
            </a:r>
            <a:endParaRPr/>
          </a:p>
        </p:txBody>
      </p:sp>
      <p:pic>
        <p:nvPicPr>
          <p:cNvPr descr="Logotipo, nombre de la empresa&#10;&#10;Descripción generada automáticamente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90399" y="8969125"/>
            <a:ext cx="3986375" cy="1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8304c1d384_0_0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28304c1d384_0_0"/>
          <p:cNvSpPr txBox="1"/>
          <p:nvPr/>
        </p:nvSpPr>
        <p:spPr>
          <a:xfrm>
            <a:off x="1028698" y="419804"/>
            <a:ext cx="14558511" cy="99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2. El espíritu emprendedor</a:t>
            </a:r>
            <a:endParaRPr b="0" i="0" sz="4600" u="none" cap="none" strike="noStrike">
              <a:solidFill>
                <a:srgbClr val="1B3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g28304c1d384_0_0"/>
          <p:cNvSpPr/>
          <p:nvPr/>
        </p:nvSpPr>
        <p:spPr>
          <a:xfrm>
            <a:off x="441434" y="2554014"/>
            <a:ext cx="4288221" cy="2506717"/>
          </a:xfrm>
          <a:prstGeom prst="striped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EMPRENDEDOR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28304c1d384_0_0"/>
          <p:cNvSpPr/>
          <p:nvPr/>
        </p:nvSpPr>
        <p:spPr>
          <a:xfrm>
            <a:off x="441435" y="6332483"/>
            <a:ext cx="4288220" cy="2506717"/>
          </a:xfrm>
          <a:prstGeom prst="striped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EXPÍRITU EMPRENDEDOR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28304c1d384_0_0"/>
          <p:cNvSpPr/>
          <p:nvPr/>
        </p:nvSpPr>
        <p:spPr>
          <a:xfrm>
            <a:off x="5697963" y="1734208"/>
            <a:ext cx="10996187" cy="348417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 capaz de convertir en realidad una idea concreta (no sólo crear empresas).</a:t>
            </a:r>
            <a:endParaRPr/>
          </a:p>
        </p:txBody>
      </p:sp>
      <p:sp>
        <p:nvSpPr>
          <p:cNvPr id="122" name="Google Shape;122;g28304c1d384_0_0"/>
          <p:cNvSpPr/>
          <p:nvPr/>
        </p:nvSpPr>
        <p:spPr>
          <a:xfrm>
            <a:off x="5697963" y="5575737"/>
            <a:ext cx="10996187" cy="3484179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Capacidad innovadora para probar cosas nuevas o hacerlas de una manera diferente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Logotipo, nombre de la empresa&#10;&#10;Descripción generada automáticamente" id="123" name="Google Shape;123;g28304c1d38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90399" y="8969125"/>
            <a:ext cx="3986375" cy="1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16694150" y="571884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049016" y="335579"/>
            <a:ext cx="8997044" cy="722212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 de los emprendedores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09904" y="1087821"/>
            <a:ext cx="6794938" cy="4099034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lphaUcParenR"/>
            </a:pPr>
            <a:r>
              <a:rPr b="1" i="1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Creatividad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Facilidad para imaginar ideas y proyectos nuevos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Proponer soluciones originales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Saber analizar e investigar </a:t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457200" y="4795344"/>
            <a:ext cx="6794938" cy="4099034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 </a:t>
            </a:r>
            <a:r>
              <a:rPr b="1" i="1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Autonomía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necesitan supervisión inmediata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Confianza en uno mismo</a:t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1508234" y="8600090"/>
            <a:ext cx="6794938" cy="1686910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C) </a:t>
            </a:r>
            <a:r>
              <a:rPr b="1" i="1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Tenacidad</a:t>
            </a:r>
            <a:endParaRPr b="1" i="1" sz="32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9249104" y="1087821"/>
            <a:ext cx="6794938" cy="4099034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D) </a:t>
            </a:r>
            <a:r>
              <a:rPr b="1" i="1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Sentido de la responsabilidad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Tendencia a cumplir las obligaciones contraídas con otros y consigo mismo </a:t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9344656" y="5186855"/>
            <a:ext cx="6794938" cy="1686910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E) </a:t>
            </a:r>
            <a:r>
              <a:rPr b="1" i="1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Capacidad de asumir riesgos</a:t>
            </a:r>
            <a:endParaRPr b="1" i="1" sz="32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9344656" y="7233744"/>
            <a:ext cx="6794938" cy="2209801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F) </a:t>
            </a:r>
            <a:r>
              <a:rPr b="1" i="1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Liderazgo</a:t>
            </a:r>
            <a:endParaRPr b="1" i="1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Influir en los demás</a:t>
            </a:r>
            <a:endParaRPr/>
          </a:p>
        </p:txBody>
      </p:sp>
      <p:pic>
        <p:nvPicPr>
          <p:cNvPr descr="Logotipo, nombre de la empresa&#10;&#10;Descripción generada automáticamente" id="136" name="Google Shape;1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90399" y="8969125"/>
            <a:ext cx="3986375" cy="1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/>
          <p:nvPr/>
        </p:nvSpPr>
        <p:spPr>
          <a:xfrm>
            <a:off x="16694150" y="292969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1028698" y="343704"/>
            <a:ext cx="14558511" cy="99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3. Tipos de emprendedores</a:t>
            </a:r>
            <a:endParaRPr b="0" i="0" sz="4600" u="none" cap="none" strike="noStrike">
              <a:solidFill>
                <a:srgbClr val="1B3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41432" y="1489840"/>
            <a:ext cx="4288221" cy="2506717"/>
          </a:xfrm>
          <a:prstGeom prst="striped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EMPRESARIO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441429" y="4382815"/>
            <a:ext cx="5328750" cy="2632840"/>
          </a:xfrm>
          <a:prstGeom prst="striped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INTRAEMPRENDEDOR O EMPRENDEDOR CORPORATIVO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803224" y="7508273"/>
            <a:ext cx="4825200" cy="2060100"/>
          </a:xfrm>
          <a:prstGeom prst="striped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EMPRENDEDOR SOCIAL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4934608" y="1621186"/>
            <a:ext cx="13038082" cy="2244027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 capaz de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identificar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una necesidad,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reunir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 recursos necesarios y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emprender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una acción para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satisfacer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necesidad identificada. Asumiendo el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RIESGO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conlleva </a:t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6156200" y="3988675"/>
            <a:ext cx="11816400" cy="3348600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Trabajador por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cuenta ajena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desarrolla y lleva a cabo proyectos con espíritu de innovación, creatividad y Autonomía. Son muy valiosos para las organizaciones, pero para </a:t>
            </a:r>
            <a:r>
              <a:rPr lang="en-US" sz="2800">
                <a:solidFill>
                  <a:schemeClr val="dk1"/>
                </a:solidFill>
              </a:rPr>
              <a:t>q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ue puedan aparecer es necesario tener implantada una cultura emprendedora en la empresa.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EJ: GOOGLE, APPLE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6156200" y="7460726"/>
            <a:ext cx="11816400" cy="1677900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Ponen en práctica proyectos que resuelven problemas presentes en la sociedad.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803225" y="9444725"/>
            <a:ext cx="163830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*I</a:t>
            </a:r>
            <a:r>
              <a:rPr b="1" lang="en-US" sz="1800"/>
              <a:t>MPORTANTE: LA PERSONA QUE ABRE UN NEGOCIO FORZADO POR LA SITUACIÓN DE ESTAR FUERA DEL MERCADO LABORAL O QUE LA OFERTA EXISTENTE NO CUBRE SUS NECESIDADES ECONÓMIVAS Y SE DENOMINA </a:t>
            </a:r>
            <a:r>
              <a:rPr b="1" lang="en-US" sz="1800">
                <a:solidFill>
                  <a:srgbClr val="FF0000"/>
                </a:solidFill>
              </a:rPr>
              <a:t>AUTOEMPLEO.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16397013" y="512762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3967560" y="696685"/>
            <a:ext cx="8997044" cy="722212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Ventajas y desventajas del empresario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409904" y="1718441"/>
            <a:ext cx="7236372" cy="8131567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1" lang="en-US" sz="3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6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 tu propio jefe.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Obtener beneficios. Libertad (horarios, decisiones...).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Prestigio social.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Reconocimiento profesional.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9160641" y="1544637"/>
            <a:ext cx="7236372" cy="8131567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1" lang="en-US" sz="3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INCONVENIENTES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6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Asumir riesgos.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Dedicación total del tiempo.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Aprendizaje continuo.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Afrontar problemas.</a:t>
            </a:r>
            <a:endParaRPr/>
          </a:p>
        </p:txBody>
      </p:sp>
      <p:pic>
        <p:nvPicPr>
          <p:cNvPr descr="Logotipo, nombre de la empresa&#10;&#10;Descripción generada automáticamente" id="158" name="Google Shape;1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90399" y="8969125"/>
            <a:ext cx="3986375" cy="1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1028698" y="343704"/>
            <a:ext cx="14558511" cy="99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3. La idea: creatividad e innovación</a:t>
            </a:r>
            <a:endParaRPr b="0" i="0" sz="4600" u="none" cap="none" strike="noStrike">
              <a:solidFill>
                <a:srgbClr val="1B3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1781503" y="2060575"/>
            <a:ext cx="14204731" cy="2117287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</a:t>
            </a:r>
            <a:r>
              <a:rPr b="1" i="1" lang="en-US" sz="3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 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el punto de partida de todo proyecto empresarial. </a:t>
            </a:r>
            <a:endParaRPr/>
          </a:p>
        </p:txBody>
      </p:sp>
      <p:sp>
        <p:nvSpPr>
          <p:cNvPr id="166" name="Google Shape;166;p21"/>
          <p:cNvSpPr/>
          <p:nvPr/>
        </p:nvSpPr>
        <p:spPr>
          <a:xfrm>
            <a:off x="1781503" y="4546271"/>
            <a:ext cx="14204731" cy="2117287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Creatividad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la generación de nuevas ideas. </a:t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1781503" y="6932121"/>
            <a:ext cx="14204731" cy="2117287"/>
          </a:xfrm>
          <a:prstGeom prst="homePlate">
            <a:avLst>
              <a:gd fmla="val 50000" name="adj"/>
            </a:avLst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Innovación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la implantación de nuevas ideas.</a:t>
            </a:r>
            <a:endParaRPr/>
          </a:p>
        </p:txBody>
      </p:sp>
      <p:pic>
        <p:nvPicPr>
          <p:cNvPr descr="Logotipo, nombre de la empresa&#10;&#10;Descripción generada automáticamente" id="168" name="Google Shape;1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90399" y="8969125"/>
            <a:ext cx="3986375" cy="1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/>
          <p:nvPr/>
        </p:nvSpPr>
        <p:spPr>
          <a:xfrm>
            <a:off x="16728090" y="29393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3967560" y="696685"/>
            <a:ext cx="8997044" cy="722212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Búsqueda de idea de negocio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409904" y="1544638"/>
            <a:ext cx="16849396" cy="7630894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Repetir experiencias ajenas.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Aprovechar la propia experiencia como trabajador por cuenta ajena, la formación o aficiones personales.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innovación en los productos, servicios o procesos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Percibir una necesidad no satisfecha en el mercado</a:t>
            </a:r>
            <a:endParaRPr/>
          </a:p>
        </p:txBody>
      </p:sp>
      <p:pic>
        <p:nvPicPr>
          <p:cNvPr descr="Logotipo, nombre de la empresa&#10;&#10;Descripción generada automáticamente" id="176" name="Google Shape;17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90399" y="8969125"/>
            <a:ext cx="3986375" cy="1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3967560" y="696685"/>
            <a:ext cx="8997044" cy="722212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innovación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341489" y="3760074"/>
            <a:ext cx="4288221" cy="2506717"/>
          </a:xfrm>
          <a:prstGeom prst="striped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INNOVACIÓN DE PRODUCTO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4720362" y="1873435"/>
            <a:ext cx="13038082" cy="7309532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INNOVACIÓN TOTAL.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crea un producto que no existe en el mercado. Ej: Cuando se creó la TV.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lang="en-US" sz="2800" u="sng">
                <a:solidFill>
                  <a:schemeClr val="dk1"/>
                </a:solidFill>
              </a:rPr>
              <a:t>INNOVACIONES</a:t>
            </a:r>
            <a:r>
              <a:rPr b="1" i="0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APORTAN ALGO NUEVO AL PRODUCTO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mejora un producto ya existente. Ej: cuando se creó la Tv en color, los </a:t>
            </a:r>
            <a:r>
              <a:rPr lang="en-US" sz="2800">
                <a:solidFill>
                  <a:schemeClr val="dk1"/>
                </a:solidFill>
              </a:rPr>
              <a:t>chupa chups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INNOVACIONES QUE NO APORTAN NADA NUEVO.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empresa fabrica un producto que ya existe en el mercado pero que la empresa no había fabricado antes. Ej: una panadería que comienza a fabricar galletitas de mantequilla.</a:t>
            </a:r>
            <a:endParaRPr/>
          </a:p>
        </p:txBody>
      </p:sp>
      <p:pic>
        <p:nvPicPr>
          <p:cNvPr descr="Logotipo, nombre de la empresa&#10;&#10;Descripción generada automáticamente" id="185" name="Google Shape;18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90399" y="8969125"/>
            <a:ext cx="3986375" cy="1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341489" y="3760074"/>
            <a:ext cx="4288221" cy="2506717"/>
          </a:xfrm>
          <a:prstGeom prst="striped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INNOVACIÓN DE PROCESO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4720362" y="1245476"/>
            <a:ext cx="13038082" cy="7937491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manera diferente de realizar las cosas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Cuando </a:t>
            </a:r>
            <a:r>
              <a:rPr lang="en-US" sz="2800">
                <a:solidFill>
                  <a:schemeClr val="dk1"/>
                </a:solidFill>
              </a:rPr>
              <a:t>McDonald's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aplicó el concepto de línea de producción, pudo utilizar trabajadores con poca experiencia para fabricar grandes cantidades de alimento, inventando la industria del fast food (comida rápida).</a:t>
            </a:r>
            <a:endParaRPr/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03179" y="5981699"/>
            <a:ext cx="4648911" cy="259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, nombre de la empresa&#10;&#10;Descripción generada automáticamente" id="194" name="Google Shape;19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90399" y="8969125"/>
            <a:ext cx="3986375" cy="1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341489" y="3760074"/>
            <a:ext cx="4288221" cy="2506717"/>
          </a:xfrm>
          <a:prstGeom prst="striped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INNOVACIÓN TECNOLÓGICA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4720362" y="1873435"/>
            <a:ext cx="13038082" cy="7309532"/>
          </a:xfrm>
          <a:prstGeom prst="ellipse">
            <a:avLst/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200000" scaled="0"/>
          </a:gradFill>
          <a:ln cap="flat" cmpd="sng" w="9525">
            <a:solidFill>
              <a:srgbClr val="7C5F9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Aplicación del conocimiento científico, de la investigación y de la experimentación a la actividad de la empresa.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Ej: Reserva de plazas hoteleras por internet...</a:t>
            </a:r>
            <a:endParaRPr/>
          </a:p>
        </p:txBody>
      </p:sp>
      <p:pic>
        <p:nvPicPr>
          <p:cNvPr descr="Logotipo, nombre de la empresa&#10;&#10;Descripción generada automáticamente" id="202" name="Google Shape;20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90399" y="8969125"/>
            <a:ext cx="3986375" cy="13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5"/>
          <p:cNvSpPr txBox="1"/>
          <p:nvPr/>
        </p:nvSpPr>
        <p:spPr>
          <a:xfrm>
            <a:off x="1068300" y="6110950"/>
            <a:ext cx="15501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/>
              <a:t>I+D+i</a:t>
            </a:r>
            <a:endParaRPr b="1" sz="3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3967560" y="696685"/>
            <a:ext cx="8997044" cy="722212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conseguir la innovación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409904" y="1544638"/>
            <a:ext cx="16849396" cy="7630894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Creando cosas nuevas</a:t>
            </a:r>
            <a:b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Inventando usos nuevos para cosas viejas y conocidas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Concibiendo nuevas formas de hacer las cosas</a:t>
            </a:r>
            <a:endParaRPr/>
          </a:p>
        </p:txBody>
      </p:sp>
      <p:pic>
        <p:nvPicPr>
          <p:cNvPr descr="Logotipo, nombre de la empresa&#10;&#10;Descripción generada automáticamente" id="211" name="Google Shape;21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90399" y="8969125"/>
            <a:ext cx="3986375" cy="1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/>
          <p:nvPr/>
        </p:nvSpPr>
        <p:spPr>
          <a:xfrm>
            <a:off x="16475075" y="387022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3967560" y="696685"/>
            <a:ext cx="8997044" cy="722212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Estudio y valoración de la idea inicial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409904" y="1686910"/>
            <a:ext cx="16849396" cy="7988794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idea es fundamental, sin una buena idea de negocio, la empresa no funcionará.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Debemos hacer una valoración inicial de la idea, teniendo en cuenta que ésta debe satisfacer alguna necesidad y/o añadir algún factor diferenciador a los productos o servicios existentes en el mercado.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Preguntas que debemos responder: 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¿Por qué vas a vender?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¿Qué les ofreces a los clientes para que compren?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¿Qué tiene el producto para que sea distinto de la competencia?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¿Qué beneficios aporta a los clientes?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¿Es de mayor calidad, mejor precio, hace algo diferente?</a:t>
            </a:r>
            <a:endParaRPr/>
          </a:p>
        </p:txBody>
      </p:sp>
      <p:pic>
        <p:nvPicPr>
          <p:cNvPr descr="Logotipo, nombre de la empresa&#10;&#10;Descripción generada automáticamente" id="219" name="Google Shape;2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90399" y="8969125"/>
            <a:ext cx="3986375" cy="1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/>
          <p:nvPr/>
        </p:nvSpPr>
        <p:spPr>
          <a:xfrm>
            <a:off x="16129000" y="1028700"/>
            <a:ext cx="1130300" cy="1031875"/>
          </a:xfrm>
          <a:custGeom>
            <a:rect b="b" l="l" r="r" t="t"/>
            <a:pathLst>
              <a:path extrusionOk="0" h="1032248" w="1130949">
                <a:moveTo>
                  <a:pt x="0" y="0"/>
                </a:moveTo>
                <a:lnTo>
                  <a:pt x="1130949" y="0"/>
                </a:lnTo>
                <a:lnTo>
                  <a:pt x="1130949" y="1032248"/>
                </a:lnTo>
                <a:lnTo>
                  <a:pt x="0" y="10322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1153070" y="1028700"/>
            <a:ext cx="8526957" cy="99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00" u="none" cap="none" strike="noStrike">
                <a:solidFill>
                  <a:srgbClr val="1B3440"/>
                </a:solidFill>
                <a:latin typeface="Poppins"/>
                <a:ea typeface="Poppins"/>
                <a:cs typeface="Poppins"/>
                <a:sym typeface="Poppins"/>
              </a:rPr>
              <a:t>5. El emprendedor</a:t>
            </a:r>
            <a:endParaRPr b="0" i="0" sz="4600" u="none" cap="none" strike="noStrike">
              <a:solidFill>
                <a:srgbClr val="1B3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3815255" y="2585544"/>
            <a:ext cx="10878206" cy="6033870"/>
          </a:xfrm>
          <a:prstGeom prst="horizontalScroll">
            <a:avLst>
              <a:gd fmla="val 12500" name="adj"/>
            </a:avLst>
          </a:prstGeom>
          <a:gradFill>
            <a:gsLst>
              <a:gs pos="0">
                <a:srgbClr val="FFBB82"/>
              </a:gs>
              <a:gs pos="35000">
                <a:srgbClr val="FFCFA8"/>
              </a:gs>
              <a:gs pos="100000">
                <a:srgbClr val="FFEBD9"/>
              </a:gs>
            </a:gsLst>
            <a:lin ang="16200000" scaled="0"/>
          </a:gradFill>
          <a:ln cap="flat" cmpd="sng" w="9525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5109081" y="4171318"/>
            <a:ext cx="8635697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 lo que todos han visto 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PIENSA lo que nadie más ha pensado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HACE lo que nadie más ha hecho</a:t>
            </a:r>
            <a:endParaRPr/>
          </a:p>
        </p:txBody>
      </p:sp>
      <p:pic>
        <p:nvPicPr>
          <p:cNvPr descr="Logotipo, nombre de la empresa&#10;&#10;Descripción generada automáticamente" id="228" name="Google Shape;22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90399" y="8969125"/>
            <a:ext cx="3986375" cy="1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7B49E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/>
          <p:cNvSpPr/>
          <p:nvPr/>
        </p:nvSpPr>
        <p:spPr>
          <a:xfrm>
            <a:off x="15147925" y="1028700"/>
            <a:ext cx="2111375" cy="1931987"/>
          </a:xfrm>
          <a:custGeom>
            <a:rect b="b" l="l" r="r" t="t"/>
            <a:pathLst>
              <a:path extrusionOk="0" h="1932533" w="2111795">
                <a:moveTo>
                  <a:pt x="0" y="0"/>
                </a:moveTo>
                <a:lnTo>
                  <a:pt x="2111795" y="0"/>
                </a:lnTo>
                <a:lnTo>
                  <a:pt x="2111795" y="1932533"/>
                </a:lnTo>
                <a:lnTo>
                  <a:pt x="0" y="1932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3767137" y="4246562"/>
            <a:ext cx="10753725" cy="154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FBFD"/>
              </a:buClr>
              <a:buSzPts val="8500"/>
              <a:buFont typeface="Poppins"/>
              <a:buNone/>
            </a:pPr>
            <a:r>
              <a:rPr b="0" i="0" lang="en-US" sz="8500" u="none" cap="none" strike="noStrike">
                <a:solidFill>
                  <a:srgbClr val="F8FBFD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&#10;&#10;Descripción generada automáticamente" id="235" name="Google Shape;2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7979" y="8136904"/>
            <a:ext cx="6231323" cy="148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Álvaro Estevez Villalba</dc:creator>
</cp:coreProperties>
</file>