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10287000" cx="18288000"/>
  <p:notesSz cx="6858000" cy="9144000"/>
  <p:embeddedFontLst>
    <p:embeddedFont>
      <p:font typeface="Poppins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7" roundtripDataSignature="AMtx7mhWxgBGE4P3kZ3TdHKqa1u3FUesq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Poppins-bold.fntdata"/><Relationship Id="rId23" Type="http://schemas.openxmlformats.org/officeDocument/2006/relationships/font" Target="fonts/Poppins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Poppins-boldItalic.fntdata"/><Relationship Id="rId25" Type="http://schemas.openxmlformats.org/officeDocument/2006/relationships/font" Target="fonts/Poppins-italic.fntdata"/><Relationship Id="rId27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2" name="Google Shape;102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28304c1d384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" name="Google Shape;110;g28304c1d38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1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2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2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2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2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2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2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2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2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2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0" name="Google Shape;200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7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" name="Google Shape;18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8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9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9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30" name="Google Shape;30;p9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31" name="Google Shape;31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0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0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37" name="Google Shape;37;p10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38" name="Google Shape;38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2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12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0" name="Google Shape;50;p12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1" name="Google Shape;51;p12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2" name="Google Shape;52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3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58" name="Google Shape;58;p13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59" name="Google Shape;59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4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5" name="Google Shape;65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6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7" name="Google Shape;77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5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5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6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7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Relationship Id="rId4" Type="http://schemas.openxmlformats.org/officeDocument/2006/relationships/image" Target="../media/image5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67B49E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15147925" y="1028700"/>
            <a:ext cx="2111375" cy="1931987"/>
          </a:xfrm>
          <a:custGeom>
            <a:rect b="b" l="l" r="r" t="t"/>
            <a:pathLst>
              <a:path extrusionOk="0" h="1932533" w="2111795">
                <a:moveTo>
                  <a:pt x="0" y="0"/>
                </a:moveTo>
                <a:lnTo>
                  <a:pt x="2111795" y="0"/>
                </a:lnTo>
                <a:lnTo>
                  <a:pt x="2111795" y="1932533"/>
                </a:lnTo>
                <a:lnTo>
                  <a:pt x="0" y="19325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"/>
          <p:cNvSpPr txBox="1"/>
          <p:nvPr/>
        </p:nvSpPr>
        <p:spPr>
          <a:xfrm>
            <a:off x="2870822" y="1994693"/>
            <a:ext cx="10753725" cy="54938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8FBFD"/>
              </a:buClr>
              <a:buSzPts val="8500"/>
              <a:buFont typeface="Poppins"/>
              <a:buNone/>
            </a:pPr>
            <a:r>
              <a:rPr b="0" i="0" lang="en-US" sz="8500" u="none" cap="none" strike="noStrike">
                <a:solidFill>
                  <a:srgbClr val="F8FBFD"/>
                </a:solidFill>
                <a:latin typeface="Poppins"/>
                <a:ea typeface="Poppins"/>
                <a:cs typeface="Poppins"/>
                <a:sym typeface="Poppins"/>
              </a:rPr>
              <a:t>TEMA 2. </a:t>
            </a:r>
            <a:endParaRPr/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8FBFD"/>
              </a:buClr>
              <a:buSzPts val="8500"/>
              <a:buFont typeface="Poppins"/>
              <a:buNone/>
            </a:pPr>
            <a:r>
              <a:rPr b="0" i="0" lang="en-US" sz="8500" u="none" cap="none" strike="noStrike">
                <a:solidFill>
                  <a:srgbClr val="F8FBFD"/>
                </a:solidFill>
                <a:latin typeface="Poppins"/>
                <a:ea typeface="Poppins"/>
                <a:cs typeface="Poppins"/>
                <a:sym typeface="Poppins"/>
              </a:rPr>
              <a:t>LA EMPRESA Y SU ENTORNO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/>
          <p:nvPr/>
        </p:nvSpPr>
        <p:spPr>
          <a:xfrm>
            <a:off x="16129000" y="1028700"/>
            <a:ext cx="1130300" cy="1031875"/>
          </a:xfrm>
          <a:custGeom>
            <a:rect b="b" l="l" r="r" t="t"/>
            <a:pathLst>
              <a:path extrusionOk="0" h="1032248" w="1130949">
                <a:moveTo>
                  <a:pt x="0" y="0"/>
                </a:moveTo>
                <a:lnTo>
                  <a:pt x="1130949" y="0"/>
                </a:lnTo>
                <a:lnTo>
                  <a:pt x="1130949" y="1032248"/>
                </a:lnTo>
                <a:lnTo>
                  <a:pt x="0" y="103224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2"/>
          <p:cNvSpPr txBox="1"/>
          <p:nvPr/>
        </p:nvSpPr>
        <p:spPr>
          <a:xfrm>
            <a:off x="2557008" y="844776"/>
            <a:ext cx="10752137" cy="708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B3440"/>
              </a:buClr>
              <a:buSzPts val="4600"/>
              <a:buFont typeface="Poppins"/>
              <a:buNone/>
            </a:pPr>
            <a:r>
              <a:rPr b="0" i="0" lang="en-US" sz="4600" u="none" cap="none" strike="noStrike">
                <a:solidFill>
                  <a:srgbClr val="1B3440"/>
                </a:solidFill>
                <a:latin typeface="Poppins"/>
                <a:ea typeface="Poppins"/>
                <a:cs typeface="Poppins"/>
                <a:sym typeface="Poppins"/>
              </a:rPr>
              <a:t>Índice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2"/>
          <p:cNvSpPr txBox="1"/>
          <p:nvPr/>
        </p:nvSpPr>
        <p:spPr>
          <a:xfrm>
            <a:off x="1729208" y="1839995"/>
            <a:ext cx="12407736" cy="51706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57200" lvl="0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7B49E"/>
              </a:buClr>
              <a:buSzPts val="3800"/>
              <a:buFont typeface="Arial"/>
              <a:buAutoNum type="arabicPeriod"/>
            </a:pPr>
            <a:r>
              <a:rPr b="0" i="0" lang="en-US" sz="2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INTRODUCCIÓN</a:t>
            </a:r>
            <a:endParaRPr/>
          </a:p>
          <a:p>
            <a:pPr indent="-457200" lvl="0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7B49E"/>
              </a:buClr>
              <a:buSzPts val="3800"/>
              <a:buFont typeface="Arial"/>
              <a:buAutoNum type="arabicPeriod"/>
            </a:pPr>
            <a:r>
              <a:rPr b="0" i="0" lang="en-US" sz="2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EL ENTORNO DE LA EMPRESA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	- EL ENTORNO GENERAL O MACROENTORNO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	- EL ENTORNO ESPECÍFICO O MICROENTORNO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	- EL ENTORNO Y LOS CAMBIOS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3. LOCALIZACIÓN DE LA EMPRESA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4. CULTURA EMPRESARIAL E IMAGEN CORPORATIVA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	- VOCABULARIO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	- LOGO E IMAGEN CORPPORATIVA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5. RESPONSABILIDAD SOCIAL DE LA EMPRESA. EL BALANCE SOCIAL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7"/>
          <p:cNvSpPr txBox="1"/>
          <p:nvPr/>
        </p:nvSpPr>
        <p:spPr>
          <a:xfrm>
            <a:off x="2557008" y="844776"/>
            <a:ext cx="10752137" cy="9910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B3440"/>
              </a:buClr>
              <a:buSzPts val="4600"/>
              <a:buFont typeface="Poppins"/>
              <a:buNone/>
            </a:pPr>
            <a:r>
              <a:rPr b="0" i="0" lang="en-US" sz="4600" u="none" cap="none" strike="noStrike">
                <a:solidFill>
                  <a:srgbClr val="1B3440"/>
                </a:solidFill>
                <a:latin typeface="Poppins"/>
                <a:ea typeface="Poppins"/>
                <a:cs typeface="Poppins"/>
                <a:sym typeface="Poppins"/>
              </a:rPr>
              <a:t>Objetivo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17"/>
          <p:cNvSpPr/>
          <p:nvPr/>
        </p:nvSpPr>
        <p:spPr>
          <a:xfrm>
            <a:off x="16129000" y="1028700"/>
            <a:ext cx="1130300" cy="1031875"/>
          </a:xfrm>
          <a:custGeom>
            <a:rect b="b" l="l" r="r" t="t"/>
            <a:pathLst>
              <a:path extrusionOk="0" h="1032248" w="1130949">
                <a:moveTo>
                  <a:pt x="0" y="0"/>
                </a:moveTo>
                <a:lnTo>
                  <a:pt x="1130949" y="0"/>
                </a:lnTo>
                <a:lnTo>
                  <a:pt x="1130949" y="1032248"/>
                </a:lnTo>
                <a:lnTo>
                  <a:pt x="0" y="103224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17"/>
          <p:cNvSpPr txBox="1"/>
          <p:nvPr/>
        </p:nvSpPr>
        <p:spPr>
          <a:xfrm>
            <a:off x="2932112" y="2917825"/>
            <a:ext cx="12864936" cy="39395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 finalizar el estudio  </a:t>
            </a:r>
            <a:r>
              <a:rPr b="0" i="0" lang="en-US" sz="32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el participante será capaz de</a:t>
            </a:r>
            <a:r>
              <a:rPr b="0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b="1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Analizar la influencia de nuestro entorno en nuestro proyecto emprendedor y establecer las estrategias adecuadas para dar respuesta al mismo.</a:t>
            </a:r>
            <a:endParaRPr/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b="1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Comprender qué es la responsabilidad Social y la importancia de incorporar valores éticos a las decisiones empresariales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"/>
          <p:cNvSpPr/>
          <p:nvPr/>
        </p:nvSpPr>
        <p:spPr>
          <a:xfrm>
            <a:off x="16129000" y="1028700"/>
            <a:ext cx="1130300" cy="1031875"/>
          </a:xfrm>
          <a:custGeom>
            <a:rect b="b" l="l" r="r" t="t"/>
            <a:pathLst>
              <a:path extrusionOk="0" h="1032248" w="1130949">
                <a:moveTo>
                  <a:pt x="0" y="0"/>
                </a:moveTo>
                <a:lnTo>
                  <a:pt x="1130949" y="0"/>
                </a:lnTo>
                <a:lnTo>
                  <a:pt x="1130949" y="1032248"/>
                </a:lnTo>
                <a:lnTo>
                  <a:pt x="0" y="103224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3"/>
          <p:cNvSpPr txBox="1"/>
          <p:nvPr/>
        </p:nvSpPr>
        <p:spPr>
          <a:xfrm>
            <a:off x="1028698" y="419804"/>
            <a:ext cx="14558511" cy="9910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914400" lvl="0" marL="9144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B3440"/>
              </a:buClr>
              <a:buSzPts val="4600"/>
              <a:buFont typeface="Poppins"/>
              <a:buAutoNum type="arabicPeriod"/>
            </a:pPr>
            <a:r>
              <a:rPr b="0" i="0" lang="en-US" sz="4600" u="none" cap="none" strike="noStrike">
                <a:solidFill>
                  <a:srgbClr val="1B3440"/>
                </a:solidFill>
                <a:latin typeface="Poppins"/>
                <a:ea typeface="Poppins"/>
                <a:cs typeface="Poppins"/>
                <a:sym typeface="Poppins"/>
              </a:rPr>
              <a:t>Introducción</a:t>
            </a:r>
            <a:endParaRPr b="0" i="0" sz="4600" u="none" cap="none" strike="noStrike">
              <a:solidFill>
                <a:srgbClr val="1B344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6" name="Google Shape;106;p3"/>
          <p:cNvSpPr/>
          <p:nvPr/>
        </p:nvSpPr>
        <p:spPr>
          <a:xfrm>
            <a:off x="1781502" y="2502009"/>
            <a:ext cx="14204731" cy="2117287"/>
          </a:xfrm>
          <a:prstGeom prst="homePlate">
            <a:avLst>
              <a:gd fmla="val 50000" name="adj"/>
            </a:avLst>
          </a:prstGeom>
          <a:gradFill>
            <a:gsLst>
              <a:gs pos="0">
                <a:srgbClr val="9BE9FF"/>
              </a:gs>
              <a:gs pos="35000">
                <a:srgbClr val="B8F1FF"/>
              </a:gs>
              <a:gs pos="100000">
                <a:srgbClr val="E2FBFF"/>
              </a:gs>
            </a:gsLst>
            <a:lin ang="16200000" scaled="0"/>
          </a:gradFill>
          <a:ln cap="flat" cmpd="sng" w="9525">
            <a:solidFill>
              <a:srgbClr val="45A9C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Macroentorno:</a:t>
            </a:r>
            <a:r>
              <a:rPr b="0" i="0" lang="en-US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la empresa no tiene control sobre ellos. </a:t>
            </a:r>
            <a:endParaRPr b="0" i="0" sz="3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Ej: pérdida de valor del dinero.</a:t>
            </a:r>
            <a:endParaRPr/>
          </a:p>
        </p:txBody>
      </p:sp>
      <p:sp>
        <p:nvSpPr>
          <p:cNvPr id="107" name="Google Shape;107;p3"/>
          <p:cNvSpPr/>
          <p:nvPr/>
        </p:nvSpPr>
        <p:spPr>
          <a:xfrm>
            <a:off x="1781502" y="6170120"/>
            <a:ext cx="14204731" cy="2117287"/>
          </a:xfrm>
          <a:prstGeom prst="homePlate">
            <a:avLst>
              <a:gd fmla="val 50000" name="adj"/>
            </a:avLst>
          </a:prstGeom>
          <a:gradFill>
            <a:gsLst>
              <a:gs pos="0">
                <a:srgbClr val="9BE9FF"/>
              </a:gs>
              <a:gs pos="35000">
                <a:srgbClr val="B8F1FF"/>
              </a:gs>
              <a:gs pos="100000">
                <a:srgbClr val="E2FBFF"/>
              </a:gs>
            </a:gsLst>
            <a:lin ang="16200000" scaled="0"/>
          </a:gradFill>
          <a:ln cap="flat" cmpd="sng" w="9525">
            <a:solidFill>
              <a:srgbClr val="45A9C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Microentorno: </a:t>
            </a:r>
            <a:r>
              <a:rPr b="0" i="0" lang="en-US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factores sobre los que la empresa puede decidir. Ej: a quién dirigir sus productos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28304c1d384_0_0"/>
          <p:cNvSpPr/>
          <p:nvPr/>
        </p:nvSpPr>
        <p:spPr>
          <a:xfrm>
            <a:off x="16129000" y="1028700"/>
            <a:ext cx="1130300" cy="1031875"/>
          </a:xfrm>
          <a:custGeom>
            <a:rect b="b" l="l" r="r" t="t"/>
            <a:pathLst>
              <a:path extrusionOk="0" h="1032248" w="1130949">
                <a:moveTo>
                  <a:pt x="0" y="0"/>
                </a:moveTo>
                <a:lnTo>
                  <a:pt x="1130949" y="0"/>
                </a:lnTo>
                <a:lnTo>
                  <a:pt x="1130949" y="1032248"/>
                </a:lnTo>
                <a:lnTo>
                  <a:pt x="0" y="103224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g28304c1d384_0_0"/>
          <p:cNvSpPr txBox="1"/>
          <p:nvPr/>
        </p:nvSpPr>
        <p:spPr>
          <a:xfrm>
            <a:off x="1028698" y="419804"/>
            <a:ext cx="14558511" cy="9910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600" u="none" cap="none" strike="noStrike">
                <a:solidFill>
                  <a:srgbClr val="1B3440"/>
                </a:solidFill>
                <a:latin typeface="Poppins"/>
                <a:ea typeface="Poppins"/>
                <a:cs typeface="Poppins"/>
                <a:sym typeface="Poppins"/>
              </a:rPr>
              <a:t>2. El entorno de la empresa</a:t>
            </a:r>
            <a:endParaRPr b="0" i="0" sz="4600" u="none" cap="none" strike="noStrike">
              <a:solidFill>
                <a:srgbClr val="1B344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4" name="Google Shape;114;g28304c1d384_0_0"/>
          <p:cNvSpPr/>
          <p:nvPr/>
        </p:nvSpPr>
        <p:spPr>
          <a:xfrm>
            <a:off x="788277" y="1734208"/>
            <a:ext cx="15905874" cy="7993116"/>
          </a:xfrm>
          <a:prstGeom prst="ellipse">
            <a:avLst/>
          </a:prstGeom>
          <a:gradFill>
            <a:gsLst>
              <a:gs pos="0">
                <a:srgbClr val="C8B2E9"/>
              </a:gs>
              <a:gs pos="35000">
                <a:srgbClr val="D6CAED"/>
              </a:gs>
              <a:gs pos="100000">
                <a:srgbClr val="EFE8FA"/>
              </a:gs>
            </a:gsLst>
            <a:lin ang="16200000" scaled="0"/>
          </a:gradFill>
          <a:ln cap="flat" cmpd="sng" w="9525">
            <a:solidFill>
              <a:srgbClr val="7C5F9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ENTORNO GENERAL O MACROENTORNO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Factores que influyen en todas las empresas, independientemente del sector.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g28304c1d384_0_0"/>
          <p:cNvSpPr/>
          <p:nvPr/>
        </p:nvSpPr>
        <p:spPr>
          <a:xfrm>
            <a:off x="3491296" y="4162097"/>
            <a:ext cx="10499835" cy="5186856"/>
          </a:xfrm>
          <a:prstGeom prst="ellipse">
            <a:avLst/>
          </a:prstGeom>
          <a:gradFill>
            <a:gsLst>
              <a:gs pos="0">
                <a:srgbClr val="FFA09D"/>
              </a:gs>
              <a:gs pos="35000">
                <a:srgbClr val="FFBCBC"/>
              </a:gs>
              <a:gs pos="100000">
                <a:srgbClr val="FFE2E2"/>
              </a:gs>
            </a:gsLst>
            <a:lin ang="16200000" scaled="0"/>
          </a:gradFill>
          <a:ln cap="flat" cmpd="sng" w="9525">
            <a:solidFill>
              <a:srgbClr val="BD4B4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ENTORNO ESPECÍFICO O MICROENTORNO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Conjunto de variables que afectan solamente a las empresas de un sector</a:t>
            </a:r>
            <a:endParaRPr b="1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8"/>
          <p:cNvSpPr/>
          <p:nvPr/>
        </p:nvSpPr>
        <p:spPr>
          <a:xfrm>
            <a:off x="16694150" y="571884"/>
            <a:ext cx="1130300" cy="1031875"/>
          </a:xfrm>
          <a:custGeom>
            <a:rect b="b" l="l" r="r" t="t"/>
            <a:pathLst>
              <a:path extrusionOk="0" h="1032248" w="1130949">
                <a:moveTo>
                  <a:pt x="0" y="0"/>
                </a:moveTo>
                <a:lnTo>
                  <a:pt x="1130949" y="0"/>
                </a:lnTo>
                <a:lnTo>
                  <a:pt x="1130949" y="1032248"/>
                </a:lnTo>
                <a:lnTo>
                  <a:pt x="0" y="103224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18"/>
          <p:cNvSpPr/>
          <p:nvPr/>
        </p:nvSpPr>
        <p:spPr>
          <a:xfrm>
            <a:off x="788277" y="1734208"/>
            <a:ext cx="15905874" cy="7993116"/>
          </a:xfrm>
          <a:prstGeom prst="ellipse">
            <a:avLst/>
          </a:prstGeom>
          <a:gradFill>
            <a:gsLst>
              <a:gs pos="0">
                <a:srgbClr val="C8B2E9"/>
              </a:gs>
              <a:gs pos="35000">
                <a:srgbClr val="D6CAED"/>
              </a:gs>
              <a:gs pos="100000">
                <a:srgbClr val="EFE8FA"/>
              </a:gs>
            </a:gsLst>
            <a:lin ang="16200000" scaled="0"/>
          </a:gradFill>
          <a:ln cap="flat" cmpd="sng" w="9525">
            <a:solidFill>
              <a:srgbClr val="7C5F9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ENTORNO GENERAL 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Económicos 			Medioambientales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18"/>
          <p:cNvSpPr/>
          <p:nvPr/>
        </p:nvSpPr>
        <p:spPr>
          <a:xfrm>
            <a:off x="3491296" y="4162097"/>
            <a:ext cx="10499835" cy="5186856"/>
          </a:xfrm>
          <a:prstGeom prst="ellipse">
            <a:avLst/>
          </a:prstGeom>
          <a:gradFill>
            <a:gsLst>
              <a:gs pos="0">
                <a:srgbClr val="FFA09D"/>
              </a:gs>
              <a:gs pos="35000">
                <a:srgbClr val="FFBCBC"/>
              </a:gs>
              <a:gs pos="100000">
                <a:srgbClr val="FFE2E2"/>
              </a:gs>
            </a:gsLst>
            <a:lin ang="16200000" scaled="0"/>
          </a:gradFill>
          <a:ln cap="flat" cmpd="sng" w="9525">
            <a:solidFill>
              <a:srgbClr val="BD4B4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ENTORNO ESPECÍFICO 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Proveedores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Clientes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Competencia 			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Productos Sustitutivos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9"/>
          <p:cNvSpPr/>
          <p:nvPr/>
        </p:nvSpPr>
        <p:spPr>
          <a:xfrm>
            <a:off x="16694150" y="292969"/>
            <a:ext cx="1130300" cy="1031875"/>
          </a:xfrm>
          <a:custGeom>
            <a:rect b="b" l="l" r="r" t="t"/>
            <a:pathLst>
              <a:path extrusionOk="0" h="1032248" w="1130949">
                <a:moveTo>
                  <a:pt x="0" y="0"/>
                </a:moveTo>
                <a:lnTo>
                  <a:pt x="1130949" y="0"/>
                </a:lnTo>
                <a:lnTo>
                  <a:pt x="1130949" y="1032248"/>
                </a:lnTo>
                <a:lnTo>
                  <a:pt x="0" y="103224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19"/>
          <p:cNvSpPr/>
          <p:nvPr/>
        </p:nvSpPr>
        <p:spPr>
          <a:xfrm>
            <a:off x="3967560" y="696685"/>
            <a:ext cx="8997044" cy="722212"/>
          </a:xfrm>
          <a:prstGeom prst="rect">
            <a:avLst/>
          </a:prstGeom>
          <a:gradFill>
            <a:gsLst>
              <a:gs pos="0">
                <a:srgbClr val="FFA09D"/>
              </a:gs>
              <a:gs pos="35000">
                <a:srgbClr val="FFBCBC"/>
              </a:gs>
              <a:gs pos="100000">
                <a:srgbClr val="FFE2E2"/>
              </a:gs>
            </a:gsLst>
            <a:lin ang="16200000" scaled="0"/>
          </a:gradFill>
          <a:ln cap="flat" cmpd="sng" w="9525">
            <a:solidFill>
              <a:srgbClr val="BD4B4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 entorno general  o macroentorno</a:t>
            </a:r>
            <a:endParaRPr b="1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19"/>
          <p:cNvSpPr/>
          <p:nvPr/>
        </p:nvSpPr>
        <p:spPr>
          <a:xfrm>
            <a:off x="595915" y="1666438"/>
            <a:ext cx="17209594" cy="1058643"/>
          </a:xfrm>
          <a:prstGeom prst="homePlate">
            <a:avLst>
              <a:gd fmla="val 50000" name="adj"/>
            </a:avLst>
          </a:prstGeom>
          <a:gradFill>
            <a:gsLst>
              <a:gs pos="0">
                <a:srgbClr val="9BE9FF"/>
              </a:gs>
              <a:gs pos="35000">
                <a:srgbClr val="B8F1FF"/>
              </a:gs>
              <a:gs pos="100000">
                <a:srgbClr val="E2FBFF"/>
              </a:gs>
            </a:gsLst>
            <a:lin ang="16200000" scaled="0"/>
          </a:gradFill>
          <a:ln cap="flat" cmpd="sng" w="9525">
            <a:solidFill>
              <a:srgbClr val="45A9C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Factores que influyen en todas la empresas, independientemente del sector:</a:t>
            </a:r>
            <a:endParaRPr/>
          </a:p>
        </p:txBody>
      </p:sp>
      <p:sp>
        <p:nvSpPr>
          <p:cNvPr id="130" name="Google Shape;130;p19"/>
          <p:cNvSpPr/>
          <p:nvPr/>
        </p:nvSpPr>
        <p:spPr>
          <a:xfrm>
            <a:off x="1077529" y="2916621"/>
            <a:ext cx="16284246" cy="7370379"/>
          </a:xfrm>
          <a:prstGeom prst="horizontalScroll">
            <a:avLst>
              <a:gd fmla="val 12500" name="adj"/>
            </a:avLst>
          </a:prstGeom>
          <a:gradFill>
            <a:gsLst>
              <a:gs pos="0">
                <a:srgbClr val="FFBB82"/>
              </a:gs>
              <a:gs pos="35000">
                <a:srgbClr val="FFCFA8"/>
              </a:gs>
              <a:gs pos="100000">
                <a:srgbClr val="FFEBD9"/>
              </a:gs>
            </a:gsLst>
            <a:lin ang="16200000" scaled="0"/>
          </a:gradFill>
          <a:ln cap="flat" cmpd="sng" w="9525">
            <a:solidFill>
              <a:srgbClr val="F5913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571500" lvl="0" marL="5715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•"/>
            </a:pPr>
            <a:r>
              <a:rPr b="1" i="0" lang="en-US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FACTORES ECONÓMICOS</a:t>
            </a:r>
            <a:r>
              <a:rPr b="0" i="0" lang="en-US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(Déficit público, inflación, tipo de interés, desempleo,...)</a:t>
            </a:r>
            <a:endParaRPr/>
          </a:p>
          <a:p>
            <a:pPr indent="-571500" lvl="0" marL="5715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•"/>
            </a:pPr>
            <a:r>
              <a:rPr b="1" i="0" lang="en-US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FACTORES SOCIOCULTURALES</a:t>
            </a:r>
            <a:r>
              <a:rPr b="0" i="0" lang="en-US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Características de la sociedad (nivel educativo, valores culturales, envejecimiento de la población, incorporación de la mujer al trabajo, factores demográficos...)</a:t>
            </a:r>
            <a:endParaRPr/>
          </a:p>
          <a:p>
            <a:pPr indent="-571500" lvl="0" marL="5715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•"/>
            </a:pPr>
            <a:r>
              <a:rPr b="1" i="0" lang="en-US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FACTORES POLÍTICOS Y LEGALES</a:t>
            </a:r>
            <a:r>
              <a:rPr b="0" i="0" lang="en-US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Legislación mercantil, fiscal, laboral, de patentes y marcas...</a:t>
            </a:r>
            <a:endParaRPr/>
          </a:p>
          <a:p>
            <a:pPr indent="-571500" lvl="0" marL="5715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•"/>
            </a:pPr>
            <a:r>
              <a:rPr b="1" i="0" lang="en-US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FACTORES TECNOLÓGICOS. </a:t>
            </a:r>
            <a:endParaRPr b="1" i="0" sz="3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71500" lvl="0" marL="5715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•"/>
            </a:pPr>
            <a:r>
              <a:rPr b="1" i="0" lang="en-US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FACTORES MEDIOAMBIENTALES.</a:t>
            </a:r>
            <a:endParaRPr/>
          </a:p>
          <a:p>
            <a:pPr indent="-571500" lvl="0" marL="5715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•"/>
            </a:pPr>
            <a:r>
              <a:rPr b="1" i="0" lang="en-US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FACTORES INTERNACIONALES</a:t>
            </a:r>
            <a:r>
              <a:rPr b="0" i="0" lang="en-US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0"/>
          <p:cNvSpPr/>
          <p:nvPr/>
        </p:nvSpPr>
        <p:spPr>
          <a:xfrm>
            <a:off x="16397013" y="512762"/>
            <a:ext cx="1130300" cy="1031875"/>
          </a:xfrm>
          <a:custGeom>
            <a:rect b="b" l="l" r="r" t="t"/>
            <a:pathLst>
              <a:path extrusionOk="0" h="1032248" w="1130949">
                <a:moveTo>
                  <a:pt x="0" y="0"/>
                </a:moveTo>
                <a:lnTo>
                  <a:pt x="1130949" y="0"/>
                </a:lnTo>
                <a:lnTo>
                  <a:pt x="1130949" y="1032248"/>
                </a:lnTo>
                <a:lnTo>
                  <a:pt x="0" y="103224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20"/>
          <p:cNvSpPr/>
          <p:nvPr/>
        </p:nvSpPr>
        <p:spPr>
          <a:xfrm>
            <a:off x="3967560" y="696685"/>
            <a:ext cx="8997044" cy="722212"/>
          </a:xfrm>
          <a:prstGeom prst="rect">
            <a:avLst/>
          </a:prstGeom>
          <a:gradFill>
            <a:gsLst>
              <a:gs pos="0">
                <a:srgbClr val="FFA09D"/>
              </a:gs>
              <a:gs pos="35000">
                <a:srgbClr val="FFBCBC"/>
              </a:gs>
              <a:gs pos="100000">
                <a:srgbClr val="FFE2E2"/>
              </a:gs>
            </a:gsLst>
            <a:lin ang="16200000" scaled="0"/>
          </a:gradFill>
          <a:ln cap="flat" cmpd="sng" w="9525">
            <a:solidFill>
              <a:srgbClr val="BD4B4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 entorno específico o microentorno</a:t>
            </a:r>
            <a:endParaRPr b="1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20"/>
          <p:cNvSpPr/>
          <p:nvPr/>
        </p:nvSpPr>
        <p:spPr>
          <a:xfrm>
            <a:off x="595915" y="1666438"/>
            <a:ext cx="17209594" cy="1058643"/>
          </a:xfrm>
          <a:prstGeom prst="homePlate">
            <a:avLst>
              <a:gd fmla="val 50000" name="adj"/>
            </a:avLst>
          </a:prstGeom>
          <a:gradFill>
            <a:gsLst>
              <a:gs pos="0">
                <a:srgbClr val="9BE9FF"/>
              </a:gs>
              <a:gs pos="35000">
                <a:srgbClr val="B8F1FF"/>
              </a:gs>
              <a:gs pos="100000">
                <a:srgbClr val="E2FBFF"/>
              </a:gs>
            </a:gsLst>
            <a:lin ang="16200000" scaled="0"/>
          </a:gradFill>
          <a:ln cap="flat" cmpd="sng" w="9525">
            <a:solidFill>
              <a:srgbClr val="45A9C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Factores que influyen en las empresas de un mismo sector:</a:t>
            </a:r>
            <a:endParaRPr b="0" i="0" sz="3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20"/>
          <p:cNvSpPr/>
          <p:nvPr/>
        </p:nvSpPr>
        <p:spPr>
          <a:xfrm>
            <a:off x="1077529" y="2916621"/>
            <a:ext cx="16284246" cy="7370379"/>
          </a:xfrm>
          <a:prstGeom prst="horizontalScroll">
            <a:avLst>
              <a:gd fmla="val 12500" name="adj"/>
            </a:avLst>
          </a:prstGeom>
          <a:gradFill>
            <a:gsLst>
              <a:gs pos="0">
                <a:srgbClr val="FFBB82"/>
              </a:gs>
              <a:gs pos="35000">
                <a:srgbClr val="FFCFA8"/>
              </a:gs>
              <a:gs pos="100000">
                <a:srgbClr val="FFEBD9"/>
              </a:gs>
            </a:gsLst>
            <a:lin ang="16200000" scaled="0"/>
          </a:gradFill>
          <a:ln cap="flat" cmpd="sng" w="9525">
            <a:solidFill>
              <a:srgbClr val="F5913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571500" lvl="0" marL="5715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b="1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COMPETENCIA: </a:t>
            </a: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factores que aumentan la rivalidad: 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- Nº elevado de competidores. 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- Crecimiento del sector. La rivalidad es inversamente proporcional al crecimiento. 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- Estructura de costes. Los costes fijos elevados aumentan la rivalidad. 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- Diferenciación del producto. A menor diferenciación, mayor competitividad. 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- Capacidad productiva. Si la oferta supera a la demanda... 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- Fuertes barreras de salida. La competencia es mayor en los sectores donde hay dificultad para abandonar (maquinaria muy especializada...) 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- Amenaza de entrada de nuevos competidores.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1"/>
          <p:cNvSpPr/>
          <p:nvPr/>
        </p:nvSpPr>
        <p:spPr>
          <a:xfrm>
            <a:off x="17058290" y="292969"/>
            <a:ext cx="766160" cy="1031875"/>
          </a:xfrm>
          <a:custGeom>
            <a:rect b="b" l="l" r="r" t="t"/>
            <a:pathLst>
              <a:path extrusionOk="0" h="1032248" w="1130949">
                <a:moveTo>
                  <a:pt x="0" y="0"/>
                </a:moveTo>
                <a:lnTo>
                  <a:pt x="1130949" y="0"/>
                </a:lnTo>
                <a:lnTo>
                  <a:pt x="1130949" y="1032248"/>
                </a:lnTo>
                <a:lnTo>
                  <a:pt x="0" y="103224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21"/>
          <p:cNvSpPr/>
          <p:nvPr/>
        </p:nvSpPr>
        <p:spPr>
          <a:xfrm>
            <a:off x="557267" y="292969"/>
            <a:ext cx="16284246" cy="3955119"/>
          </a:xfrm>
          <a:prstGeom prst="horizontalScroll">
            <a:avLst>
              <a:gd fmla="val 12500" name="adj"/>
            </a:avLst>
          </a:prstGeom>
          <a:gradFill>
            <a:gsLst>
              <a:gs pos="0">
                <a:srgbClr val="FFBB82"/>
              </a:gs>
              <a:gs pos="35000">
                <a:srgbClr val="FFCFA8"/>
              </a:gs>
              <a:gs pos="100000">
                <a:srgbClr val="FFEBD9"/>
              </a:gs>
            </a:gsLst>
            <a:lin ang="16200000" scaled="0"/>
          </a:gradFill>
          <a:ln cap="flat" cmpd="sng" w="9525">
            <a:solidFill>
              <a:srgbClr val="F5913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b="1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PRODUCTOS SUSTITUTIVOS</a:t>
            </a: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Los productos sustitutivos son aquellos que satisfacen la misma necesidad. 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Ejemplos: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- Mantequilla y margarina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- Coche, moto, transporte público</a:t>
            </a:r>
            <a:endParaRPr/>
          </a:p>
        </p:txBody>
      </p:sp>
      <p:sp>
        <p:nvSpPr>
          <p:cNvPr id="145" name="Google Shape;145;p21"/>
          <p:cNvSpPr/>
          <p:nvPr/>
        </p:nvSpPr>
        <p:spPr>
          <a:xfrm>
            <a:off x="709667" y="4020208"/>
            <a:ext cx="16284246" cy="6006908"/>
          </a:xfrm>
          <a:prstGeom prst="horizontalScroll">
            <a:avLst>
              <a:gd fmla="val 12500" name="adj"/>
            </a:avLst>
          </a:prstGeom>
          <a:gradFill>
            <a:gsLst>
              <a:gs pos="0">
                <a:srgbClr val="FFBB82"/>
              </a:gs>
              <a:gs pos="35000">
                <a:srgbClr val="FFCFA8"/>
              </a:gs>
              <a:gs pos="100000">
                <a:srgbClr val="FFEBD9"/>
              </a:gs>
            </a:gsLst>
            <a:lin ang="16200000" scaled="0"/>
          </a:gradFill>
          <a:ln cap="flat" cmpd="sng" w="9525">
            <a:solidFill>
              <a:srgbClr val="F5913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b="1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PROVEEDORES Y CLIENTES</a:t>
            </a: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si aumenta el poder de negociación de proveedores y/o clientes, disminuye la rentabilidad y aumenta la rivalidad. 		- GRADO DE CONCENTRACIÓN. PRODUCTOS SUSTITUTIVOS.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- DIFERENCIACIÓN DEL PRODUCTO. 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- TAMAÑO DE LA EMPRESA. Si el volumen de compras a proveedores no es importante, disminuye el poder de la empresa. Si el volumen de compras de un cliente es importante, aumenta el poder del cliente.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2"/>
          <p:cNvSpPr/>
          <p:nvPr/>
        </p:nvSpPr>
        <p:spPr>
          <a:xfrm>
            <a:off x="3967560" y="696685"/>
            <a:ext cx="8997044" cy="722212"/>
          </a:xfrm>
          <a:prstGeom prst="rect">
            <a:avLst/>
          </a:prstGeom>
          <a:gradFill>
            <a:gsLst>
              <a:gs pos="0">
                <a:srgbClr val="FFA09D"/>
              </a:gs>
              <a:gs pos="35000">
                <a:srgbClr val="FFBCBC"/>
              </a:gs>
              <a:gs pos="100000">
                <a:srgbClr val="FFE2E2"/>
              </a:gs>
            </a:gsLst>
            <a:lin ang="16200000" scaled="0"/>
          </a:gradFill>
          <a:ln cap="flat" cmpd="sng" w="9525">
            <a:solidFill>
              <a:srgbClr val="BD4B4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 entorno y los cambios</a:t>
            </a:r>
            <a:endParaRPr b="1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22"/>
          <p:cNvSpPr/>
          <p:nvPr/>
        </p:nvSpPr>
        <p:spPr>
          <a:xfrm>
            <a:off x="683391" y="1979880"/>
            <a:ext cx="16284246" cy="7637086"/>
          </a:xfrm>
          <a:prstGeom prst="horizontalScroll">
            <a:avLst>
              <a:gd fmla="val 12500" name="adj"/>
            </a:avLst>
          </a:prstGeom>
          <a:gradFill>
            <a:gsLst>
              <a:gs pos="0">
                <a:srgbClr val="FFBB82"/>
              </a:gs>
              <a:gs pos="35000">
                <a:srgbClr val="FFCFA8"/>
              </a:gs>
              <a:gs pos="100000">
                <a:srgbClr val="FFEBD9"/>
              </a:gs>
            </a:gsLst>
            <a:lin ang="16200000" scaled="0"/>
          </a:gradFill>
          <a:ln cap="flat" cmpd="sng" w="9525">
            <a:solidFill>
              <a:srgbClr val="F5913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ENTORNOS ESTABLES O DINÁMICOS. 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Ej: Un taller=estable /; empresa de videojuegos=dinámico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ENTORNOS SIMPLES O COMPLEJOS. 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Ej: tienda de alimentos/refinería de petroleo 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ENTORNOS FAVORABLES U HOSTILES.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Ej: Discoteca en una zona de pub´s / Inmobiliaria en la actualidad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3"/>
          <p:cNvSpPr/>
          <p:nvPr/>
        </p:nvSpPr>
        <p:spPr>
          <a:xfrm>
            <a:off x="16788742" y="343704"/>
            <a:ext cx="1130300" cy="1031875"/>
          </a:xfrm>
          <a:custGeom>
            <a:rect b="b" l="l" r="r" t="t"/>
            <a:pathLst>
              <a:path extrusionOk="0" h="1032248" w="1130949">
                <a:moveTo>
                  <a:pt x="0" y="0"/>
                </a:moveTo>
                <a:lnTo>
                  <a:pt x="1130949" y="0"/>
                </a:lnTo>
                <a:lnTo>
                  <a:pt x="1130949" y="1032248"/>
                </a:lnTo>
                <a:lnTo>
                  <a:pt x="0" y="103224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23"/>
          <p:cNvSpPr txBox="1"/>
          <p:nvPr/>
        </p:nvSpPr>
        <p:spPr>
          <a:xfrm>
            <a:off x="1028698" y="343704"/>
            <a:ext cx="14558511" cy="9910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600" u="none" cap="none" strike="noStrike">
                <a:solidFill>
                  <a:srgbClr val="1B3440"/>
                </a:solidFill>
                <a:latin typeface="Poppins"/>
                <a:ea typeface="Poppins"/>
                <a:cs typeface="Poppins"/>
                <a:sym typeface="Poppins"/>
              </a:rPr>
              <a:t>3. Localización de la empresa</a:t>
            </a:r>
            <a:endParaRPr b="0" i="0" sz="4600" u="none" cap="none" strike="noStrike">
              <a:solidFill>
                <a:srgbClr val="1B344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8" name="Google Shape;158;p23"/>
          <p:cNvSpPr/>
          <p:nvPr/>
        </p:nvSpPr>
        <p:spPr>
          <a:xfrm>
            <a:off x="409904" y="1544638"/>
            <a:ext cx="16849396" cy="7630894"/>
          </a:xfrm>
          <a:prstGeom prst="horizontalScroll">
            <a:avLst>
              <a:gd fmla="val 12500" name="adj"/>
            </a:avLst>
          </a:prstGeom>
          <a:gradFill>
            <a:gsLst>
              <a:gs pos="0">
                <a:srgbClr val="FFBB82"/>
              </a:gs>
              <a:gs pos="35000">
                <a:srgbClr val="FFCFA8"/>
              </a:gs>
              <a:gs pos="100000">
                <a:srgbClr val="FFEBD9"/>
              </a:gs>
            </a:gsLst>
            <a:lin ang="16200000" scaled="0"/>
          </a:gradFill>
          <a:ln cap="flat" cmpd="sng" w="9525">
            <a:solidFill>
              <a:srgbClr val="F5913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FACTORES: </a:t>
            </a:r>
            <a:endParaRPr/>
          </a:p>
          <a:p>
            <a:pPr indent="-571500" lvl="0" marL="5715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•"/>
            </a:pPr>
            <a:r>
              <a:rPr b="0" i="0" lang="en-US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Cercanía de los mercados.</a:t>
            </a:r>
            <a:endParaRPr/>
          </a:p>
          <a:p>
            <a:pPr indent="-571500" lvl="0" marL="5715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•"/>
            </a:pPr>
            <a:r>
              <a:rPr b="0" i="0" lang="en-US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Cercanía a los suministros </a:t>
            </a:r>
            <a:endParaRPr/>
          </a:p>
          <a:p>
            <a:pPr indent="-571500" lvl="0" marL="5715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•"/>
            </a:pPr>
            <a:r>
              <a:rPr b="0" i="0" lang="en-US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Infraestructuras</a:t>
            </a:r>
            <a:endParaRPr/>
          </a:p>
          <a:p>
            <a:pPr indent="-571500" lvl="0" marL="5715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•"/>
            </a:pPr>
            <a:r>
              <a:rPr b="0" i="0" lang="en-US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Existencia de mano de obra cualificada</a:t>
            </a:r>
            <a:endParaRPr/>
          </a:p>
          <a:p>
            <a:pPr indent="-571500" lvl="0" marL="5715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•"/>
            </a:pPr>
            <a:r>
              <a:rPr b="0" i="0" lang="en-US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Eliminación de residuos.</a:t>
            </a:r>
            <a:endParaRPr/>
          </a:p>
          <a:p>
            <a:pPr indent="-571500" lvl="0" marL="5715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•"/>
            </a:pPr>
            <a:r>
              <a:rPr b="0" i="0" lang="en-US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Costes bajos</a:t>
            </a:r>
            <a:endParaRPr/>
          </a:p>
          <a:p>
            <a:pPr indent="-571500" lvl="0" marL="5715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•"/>
            </a:pPr>
            <a:r>
              <a:rPr b="0" i="0" lang="en-US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Otros factores. Ej: una empresa hotelera puede buscar un lugar con encanto</a:t>
            </a:r>
            <a:endParaRPr/>
          </a:p>
        </p:txBody>
      </p:sp>
      <p:pic>
        <p:nvPicPr>
          <p:cNvPr id="159" name="Google Shape;159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711260" y="2820276"/>
            <a:ext cx="5252435" cy="33886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4"/>
          <p:cNvSpPr/>
          <p:nvPr/>
        </p:nvSpPr>
        <p:spPr>
          <a:xfrm>
            <a:off x="16788742" y="343704"/>
            <a:ext cx="1130300" cy="1031875"/>
          </a:xfrm>
          <a:custGeom>
            <a:rect b="b" l="l" r="r" t="t"/>
            <a:pathLst>
              <a:path extrusionOk="0" h="1032248" w="1130949">
                <a:moveTo>
                  <a:pt x="0" y="0"/>
                </a:moveTo>
                <a:lnTo>
                  <a:pt x="1130949" y="0"/>
                </a:lnTo>
                <a:lnTo>
                  <a:pt x="1130949" y="1032248"/>
                </a:lnTo>
                <a:lnTo>
                  <a:pt x="0" y="103224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24"/>
          <p:cNvSpPr txBox="1"/>
          <p:nvPr/>
        </p:nvSpPr>
        <p:spPr>
          <a:xfrm>
            <a:off x="1028698" y="343704"/>
            <a:ext cx="14558511" cy="9910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600" u="none" cap="none" strike="noStrike">
                <a:solidFill>
                  <a:srgbClr val="1B3440"/>
                </a:solidFill>
                <a:latin typeface="Poppins"/>
                <a:ea typeface="Poppins"/>
                <a:cs typeface="Poppins"/>
                <a:sym typeface="Poppins"/>
              </a:rPr>
              <a:t>4. Cultura empresarial e imagen corporativa</a:t>
            </a:r>
            <a:endParaRPr b="0" i="0" sz="4600" u="none" cap="none" strike="noStrike">
              <a:solidFill>
                <a:srgbClr val="1B344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6" name="Google Shape;166;p24"/>
          <p:cNvSpPr/>
          <p:nvPr/>
        </p:nvSpPr>
        <p:spPr>
          <a:xfrm>
            <a:off x="1781502" y="2502009"/>
            <a:ext cx="14204731" cy="2117287"/>
          </a:xfrm>
          <a:prstGeom prst="homePlate">
            <a:avLst>
              <a:gd fmla="val 50000" name="adj"/>
            </a:avLst>
          </a:prstGeom>
          <a:gradFill>
            <a:gsLst>
              <a:gs pos="0">
                <a:srgbClr val="9BE9FF"/>
              </a:gs>
              <a:gs pos="35000">
                <a:srgbClr val="B8F1FF"/>
              </a:gs>
              <a:gs pos="100000">
                <a:srgbClr val="E2FBFF"/>
              </a:gs>
            </a:gsLst>
            <a:lin ang="16200000" scaled="0"/>
          </a:gradFill>
          <a:ln cap="flat" cmpd="sng" w="9525">
            <a:solidFill>
              <a:srgbClr val="45A9C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Cultura empresarial: </a:t>
            </a:r>
            <a:endParaRPr/>
          </a:p>
          <a:p>
            <a:pPr indent="-571500" lvl="0" marL="5715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•"/>
            </a:pPr>
            <a:r>
              <a:rPr b="0" i="0" lang="en-US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 lo que identifica la forma de ser de una empresa. </a:t>
            </a:r>
            <a:endParaRPr b="0" i="0" sz="3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71500" lvl="0" marL="5715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•"/>
            </a:pPr>
            <a:r>
              <a:rPr b="0" i="0" lang="en-US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 un estilo de pensar, de vivir y de actuar.</a:t>
            </a:r>
            <a:endParaRPr/>
          </a:p>
        </p:txBody>
      </p:sp>
      <p:sp>
        <p:nvSpPr>
          <p:cNvPr id="167" name="Google Shape;167;p24"/>
          <p:cNvSpPr/>
          <p:nvPr/>
        </p:nvSpPr>
        <p:spPr>
          <a:xfrm>
            <a:off x="1781502" y="6170120"/>
            <a:ext cx="14204731" cy="2117287"/>
          </a:xfrm>
          <a:prstGeom prst="homePlate">
            <a:avLst>
              <a:gd fmla="val 50000" name="adj"/>
            </a:avLst>
          </a:prstGeom>
          <a:gradFill>
            <a:gsLst>
              <a:gs pos="0">
                <a:srgbClr val="9BE9FF"/>
              </a:gs>
              <a:gs pos="35000">
                <a:srgbClr val="B8F1FF"/>
              </a:gs>
              <a:gs pos="100000">
                <a:srgbClr val="E2FBFF"/>
              </a:gs>
            </a:gsLst>
            <a:lin ang="16200000" scaled="0"/>
          </a:gradFill>
          <a:ln cap="flat" cmpd="sng" w="9525">
            <a:solidFill>
              <a:srgbClr val="45A9C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Imagen corporativa: </a:t>
            </a:r>
            <a:r>
              <a:rPr b="0" i="0" lang="en-US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 imagen corporativa tiene que ver con lo que se percibe de una empresa.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5"/>
          <p:cNvSpPr/>
          <p:nvPr/>
        </p:nvSpPr>
        <p:spPr>
          <a:xfrm>
            <a:off x="16728090" y="293930"/>
            <a:ext cx="1130300" cy="1031875"/>
          </a:xfrm>
          <a:custGeom>
            <a:rect b="b" l="l" r="r" t="t"/>
            <a:pathLst>
              <a:path extrusionOk="0" h="1032248" w="1130949">
                <a:moveTo>
                  <a:pt x="0" y="0"/>
                </a:moveTo>
                <a:lnTo>
                  <a:pt x="1130949" y="0"/>
                </a:lnTo>
                <a:lnTo>
                  <a:pt x="1130949" y="1032248"/>
                </a:lnTo>
                <a:lnTo>
                  <a:pt x="0" y="103224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25"/>
          <p:cNvSpPr/>
          <p:nvPr/>
        </p:nvSpPr>
        <p:spPr>
          <a:xfrm>
            <a:off x="3967560" y="696685"/>
            <a:ext cx="8997044" cy="722212"/>
          </a:xfrm>
          <a:prstGeom prst="rect">
            <a:avLst/>
          </a:prstGeom>
          <a:gradFill>
            <a:gsLst>
              <a:gs pos="0">
                <a:srgbClr val="FFA09D"/>
              </a:gs>
              <a:gs pos="35000">
                <a:srgbClr val="FFBCBC"/>
              </a:gs>
              <a:gs pos="100000">
                <a:srgbClr val="FFE2E2"/>
              </a:gs>
            </a:gsLst>
            <a:lin ang="16200000" scaled="0"/>
          </a:gradFill>
          <a:ln cap="flat" cmpd="sng" w="9525">
            <a:solidFill>
              <a:srgbClr val="BD4B4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Vocabulario</a:t>
            </a:r>
            <a:endParaRPr b="1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25"/>
          <p:cNvSpPr/>
          <p:nvPr/>
        </p:nvSpPr>
        <p:spPr>
          <a:xfrm>
            <a:off x="409904" y="1544638"/>
            <a:ext cx="9648496" cy="7928211"/>
          </a:xfrm>
          <a:prstGeom prst="horizontalScroll">
            <a:avLst>
              <a:gd fmla="val 12500" name="adj"/>
            </a:avLst>
          </a:prstGeom>
          <a:gradFill>
            <a:gsLst>
              <a:gs pos="0">
                <a:srgbClr val="FFBB82"/>
              </a:gs>
              <a:gs pos="35000">
                <a:srgbClr val="FFCFA8"/>
              </a:gs>
              <a:gs pos="100000">
                <a:srgbClr val="FFEBD9"/>
              </a:gs>
            </a:gsLst>
            <a:lin ang="16200000" scaled="0"/>
          </a:gradFill>
          <a:ln cap="flat" cmpd="sng" w="9525">
            <a:solidFill>
              <a:srgbClr val="F5913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571500" lvl="0" marL="5715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•"/>
            </a:pPr>
            <a:r>
              <a:rPr b="1" i="0" lang="en-US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LOGOTIPO: </a:t>
            </a:r>
            <a:r>
              <a:rPr b="0" i="0" lang="en-US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 un grupo de letras, símbolos... que identifican a la empresa. Se puede aplicar a toda clase de material impreso o visual. </a:t>
            </a:r>
            <a:endParaRPr b="0" i="0" sz="3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5715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0" i="0" sz="3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5715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0" i="0" sz="3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5" name="Google Shape;175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09531" y="6314518"/>
            <a:ext cx="7416800" cy="130810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25"/>
          <p:cNvSpPr/>
          <p:nvPr/>
        </p:nvSpPr>
        <p:spPr>
          <a:xfrm>
            <a:off x="10058400" y="1418897"/>
            <a:ext cx="8056179" cy="7031803"/>
          </a:xfrm>
          <a:prstGeom prst="horizontalScroll">
            <a:avLst>
              <a:gd fmla="val 12500" name="adj"/>
            </a:avLst>
          </a:prstGeom>
          <a:gradFill>
            <a:gsLst>
              <a:gs pos="0">
                <a:srgbClr val="FFBB82"/>
              </a:gs>
              <a:gs pos="35000">
                <a:srgbClr val="FFCFA8"/>
              </a:gs>
              <a:gs pos="100000">
                <a:srgbClr val="FFEBD9"/>
              </a:gs>
            </a:gsLst>
            <a:lin ang="16200000" scaled="0"/>
          </a:gradFill>
          <a:ln cap="flat" cmpd="sng" w="9525">
            <a:solidFill>
              <a:srgbClr val="F5913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571500" lvl="0" marL="5715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•"/>
            </a:pPr>
            <a:r>
              <a:rPr b="1" i="0" lang="en-US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MARKETING: </a:t>
            </a:r>
            <a:r>
              <a:rPr b="0" i="0" lang="en-US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conjunto de técnicas destinadas a conseguir el mayor número posible de ventas.</a:t>
            </a:r>
            <a:endParaRPr/>
          </a:p>
          <a:p>
            <a:pPr indent="-342900" lvl="0" marL="5715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0" i="0" sz="3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6"/>
          <p:cNvSpPr/>
          <p:nvPr/>
        </p:nvSpPr>
        <p:spPr>
          <a:xfrm>
            <a:off x="16129000" y="1028700"/>
            <a:ext cx="1130300" cy="1031875"/>
          </a:xfrm>
          <a:custGeom>
            <a:rect b="b" l="l" r="r" t="t"/>
            <a:pathLst>
              <a:path extrusionOk="0" h="1032248" w="1130949">
                <a:moveTo>
                  <a:pt x="0" y="0"/>
                </a:moveTo>
                <a:lnTo>
                  <a:pt x="1130949" y="0"/>
                </a:lnTo>
                <a:lnTo>
                  <a:pt x="1130949" y="1032248"/>
                </a:lnTo>
                <a:lnTo>
                  <a:pt x="0" y="103224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26"/>
          <p:cNvSpPr/>
          <p:nvPr/>
        </p:nvSpPr>
        <p:spPr>
          <a:xfrm>
            <a:off x="3967560" y="696685"/>
            <a:ext cx="8997044" cy="722212"/>
          </a:xfrm>
          <a:prstGeom prst="rect">
            <a:avLst/>
          </a:prstGeom>
          <a:gradFill>
            <a:gsLst>
              <a:gs pos="0">
                <a:srgbClr val="FFA09D"/>
              </a:gs>
              <a:gs pos="35000">
                <a:srgbClr val="FFBCBC"/>
              </a:gs>
              <a:gs pos="100000">
                <a:srgbClr val="FFE2E2"/>
              </a:gs>
            </a:gsLst>
            <a:lin ang="16200000" scaled="0"/>
          </a:gradFill>
          <a:ln cap="flat" cmpd="sng" w="9525">
            <a:solidFill>
              <a:srgbClr val="BD4B4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Logo e imagen corporativa</a:t>
            </a:r>
            <a:endParaRPr b="1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3" name="Google Shape;183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56399" y="2263091"/>
            <a:ext cx="5951518" cy="69131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7"/>
          <p:cNvSpPr/>
          <p:nvPr/>
        </p:nvSpPr>
        <p:spPr>
          <a:xfrm>
            <a:off x="16871512" y="382314"/>
            <a:ext cx="1130300" cy="1031875"/>
          </a:xfrm>
          <a:custGeom>
            <a:rect b="b" l="l" r="r" t="t"/>
            <a:pathLst>
              <a:path extrusionOk="0" h="1032248" w="1130949">
                <a:moveTo>
                  <a:pt x="0" y="0"/>
                </a:moveTo>
                <a:lnTo>
                  <a:pt x="1130949" y="0"/>
                </a:lnTo>
                <a:lnTo>
                  <a:pt x="1130949" y="1032248"/>
                </a:lnTo>
                <a:lnTo>
                  <a:pt x="0" y="103224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27"/>
          <p:cNvSpPr txBox="1"/>
          <p:nvPr/>
        </p:nvSpPr>
        <p:spPr>
          <a:xfrm>
            <a:off x="1153068" y="374863"/>
            <a:ext cx="14628213" cy="19820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600" u="none" cap="none" strike="noStrike">
                <a:solidFill>
                  <a:srgbClr val="1B3440"/>
                </a:solidFill>
                <a:latin typeface="Poppins"/>
                <a:ea typeface="Poppins"/>
                <a:cs typeface="Poppins"/>
                <a:sym typeface="Poppins"/>
              </a:rPr>
              <a:t>5. Responsabilidad social de la empresa. El balance social</a:t>
            </a:r>
            <a:endParaRPr b="0" i="0" sz="4600" u="none" cap="none" strike="noStrike">
              <a:solidFill>
                <a:srgbClr val="1B344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90" name="Google Shape;190;p27"/>
          <p:cNvSpPr/>
          <p:nvPr/>
        </p:nvSpPr>
        <p:spPr>
          <a:xfrm>
            <a:off x="595914" y="2356944"/>
            <a:ext cx="16840747" cy="1544198"/>
          </a:xfrm>
          <a:prstGeom prst="homePlate">
            <a:avLst>
              <a:gd fmla="val 50000" name="adj"/>
            </a:avLst>
          </a:prstGeom>
          <a:gradFill>
            <a:gsLst>
              <a:gs pos="0">
                <a:srgbClr val="9BE9FF"/>
              </a:gs>
              <a:gs pos="35000">
                <a:srgbClr val="B8F1FF"/>
              </a:gs>
              <a:gs pos="100000">
                <a:srgbClr val="E2FBFF"/>
              </a:gs>
            </a:gsLst>
            <a:lin ang="16200000" scaled="0"/>
          </a:gradFill>
          <a:ln cap="flat" cmpd="sng" w="9525">
            <a:solidFill>
              <a:srgbClr val="45A9C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Compromiso de las empresas que hace que se preocupen no sólo por sus intereses económicos, sino también por la repercusión de sus actividades en el conjunto de la sociedad.</a:t>
            </a:r>
            <a:endParaRPr b="0" i="0" sz="3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27"/>
          <p:cNvSpPr/>
          <p:nvPr/>
        </p:nvSpPr>
        <p:spPr>
          <a:xfrm>
            <a:off x="1058040" y="4123506"/>
            <a:ext cx="15365905" cy="5746531"/>
          </a:xfrm>
          <a:prstGeom prst="horizontalScroll">
            <a:avLst>
              <a:gd fmla="val 12500" name="adj"/>
            </a:avLst>
          </a:prstGeom>
          <a:gradFill>
            <a:gsLst>
              <a:gs pos="0">
                <a:srgbClr val="FFBB82"/>
              </a:gs>
              <a:gs pos="35000">
                <a:srgbClr val="FFCFA8"/>
              </a:gs>
              <a:gs pos="100000">
                <a:srgbClr val="FFEBD9"/>
              </a:gs>
            </a:gsLst>
            <a:lin ang="16200000" scaled="0"/>
          </a:gradFill>
          <a:ln cap="flat" cmpd="sng" w="9525">
            <a:solidFill>
              <a:srgbClr val="F5913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Ámbitos de actuación: </a:t>
            </a:r>
            <a:endParaRPr b="1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14350" lvl="0" marL="5143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AutoNum type="arabicParenR"/>
            </a:pPr>
            <a:r>
              <a:rPr b="0" i="1" lang="en-US" sz="32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Económico y social: </a:t>
            </a: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Potenciar el desarrollo económico y social, donaciones... Ej: la escuela de negocios Banespyme. 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14350" lvl="0" marL="5143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AutoNum type="arabicParenR"/>
            </a:pPr>
            <a:r>
              <a:rPr b="0" i="1" lang="en-US" sz="32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Recursos humanos: </a:t>
            </a: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Contratación adecuada, no discriminación, salud y seguridad, cumplimiento de la legislación, relación empresa/trabajadores, motivación, conciliación de la vida familiar y laboral... Ej: La consultora estadounidense Great Place to Work Institute, elabora todos los años una lista de la mejores empresas para trabajar en España.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8"/>
          <p:cNvSpPr/>
          <p:nvPr/>
        </p:nvSpPr>
        <p:spPr>
          <a:xfrm>
            <a:off x="16619702" y="301258"/>
            <a:ext cx="1130300" cy="1031875"/>
          </a:xfrm>
          <a:custGeom>
            <a:rect b="b" l="l" r="r" t="t"/>
            <a:pathLst>
              <a:path extrusionOk="0" h="1032248" w="1130949">
                <a:moveTo>
                  <a:pt x="0" y="0"/>
                </a:moveTo>
                <a:lnTo>
                  <a:pt x="1130949" y="0"/>
                </a:lnTo>
                <a:lnTo>
                  <a:pt x="1130949" y="1032248"/>
                </a:lnTo>
                <a:lnTo>
                  <a:pt x="0" y="103224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28"/>
          <p:cNvSpPr/>
          <p:nvPr/>
        </p:nvSpPr>
        <p:spPr>
          <a:xfrm>
            <a:off x="1058040" y="1056290"/>
            <a:ext cx="15365905" cy="8813747"/>
          </a:xfrm>
          <a:prstGeom prst="horizontalScroll">
            <a:avLst>
              <a:gd fmla="val 12500" name="adj"/>
            </a:avLst>
          </a:prstGeom>
          <a:gradFill>
            <a:gsLst>
              <a:gs pos="0">
                <a:srgbClr val="FFBB82"/>
              </a:gs>
              <a:gs pos="35000">
                <a:srgbClr val="FFCFA8"/>
              </a:gs>
              <a:gs pos="100000">
                <a:srgbClr val="FFEBD9"/>
              </a:gs>
            </a:gsLst>
            <a:lin ang="16200000" scaled="0"/>
          </a:gradFill>
          <a:ln cap="flat" cmpd="sng" w="9525">
            <a:solidFill>
              <a:srgbClr val="F5913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3) </a:t>
            </a:r>
            <a:r>
              <a:rPr b="0" i="1" lang="en-US" sz="32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Clientes y consumidores: </a:t>
            </a: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respeto a sus derechos, claridad y fiabilidad, servicio atención al cliente... 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4) </a:t>
            </a:r>
            <a:r>
              <a:rPr b="0" i="1" lang="en-US" sz="32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Medioambiental: </a:t>
            </a: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Limitación del consumo de no renovables y sustitución por renovables, reducción de consumo de renovables, restricción de emisiones, mantenimiento diversidad biológica, salud pública, calidad del aire, agua y del suelo... 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Ej: Los aserraderos europeos rechazan madera de Brasil que no hay asido certificada por las autoridades brasileñas, para asegurarse que no provienen de talas ilegales de la amazonía. 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Ej:Las etiquetas ecológicas: son sistemas voluntarios de calificación ambiental que identifican y certifican que nuestros productos o servicios son menos agresivos con el medio ambiente.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67B49E"/>
        </a:soli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4"/>
          <p:cNvSpPr/>
          <p:nvPr/>
        </p:nvSpPr>
        <p:spPr>
          <a:xfrm>
            <a:off x="15147925" y="1028700"/>
            <a:ext cx="2111375" cy="1931987"/>
          </a:xfrm>
          <a:custGeom>
            <a:rect b="b" l="l" r="r" t="t"/>
            <a:pathLst>
              <a:path extrusionOk="0" h="1932533" w="2111795">
                <a:moveTo>
                  <a:pt x="0" y="0"/>
                </a:moveTo>
                <a:lnTo>
                  <a:pt x="2111795" y="0"/>
                </a:lnTo>
                <a:lnTo>
                  <a:pt x="2111795" y="1932533"/>
                </a:lnTo>
                <a:lnTo>
                  <a:pt x="0" y="19325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4"/>
          <p:cNvSpPr txBox="1"/>
          <p:nvPr/>
        </p:nvSpPr>
        <p:spPr>
          <a:xfrm>
            <a:off x="3767137" y="4246562"/>
            <a:ext cx="10753725" cy="154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8FBFD"/>
              </a:buClr>
              <a:buSzPts val="8500"/>
              <a:buFont typeface="Poppins"/>
              <a:buNone/>
            </a:pPr>
            <a:r>
              <a:rPr b="0" i="0" lang="en-US" sz="8500" u="none" cap="none" strike="noStrike">
                <a:solidFill>
                  <a:srgbClr val="F8FBFD"/>
                </a:solidFill>
                <a:latin typeface="Poppins"/>
                <a:ea typeface="Poppins"/>
                <a:cs typeface="Poppins"/>
                <a:sym typeface="Poppins"/>
              </a:rPr>
              <a:t>Gracias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>Álvaro Estevez Villalba</dc:creator>
</cp:coreProperties>
</file>