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81" r:id="rId4"/>
    <p:sldId id="268" r:id="rId5"/>
    <p:sldId id="292" r:id="rId6"/>
    <p:sldId id="283" r:id="rId7"/>
    <p:sldId id="293" r:id="rId8"/>
    <p:sldId id="266" r:id="rId9"/>
    <p:sldId id="279" r:id="rId10"/>
    <p:sldId id="267" r:id="rId11"/>
    <p:sldId id="269" r:id="rId12"/>
    <p:sldId id="276" r:id="rId13"/>
    <p:sldId id="280" r:id="rId14"/>
    <p:sldId id="284" r:id="rId15"/>
    <p:sldId id="285" r:id="rId16"/>
    <p:sldId id="286" r:id="rId17"/>
    <p:sldId id="287" r:id="rId18"/>
    <p:sldId id="288" r:id="rId19"/>
    <p:sldId id="289" r:id="rId20"/>
    <p:sldId id="290" r:id="rId21"/>
    <p:sldId id="291" r:id="rId22"/>
    <p:sldId id="294" r:id="rId23"/>
    <p:sldId id="295" r:id="rId24"/>
    <p:sldId id="296" r:id="rId25"/>
    <p:sldId id="297" r:id="rId26"/>
    <p:sldId id="260" r:id="rId27"/>
  </p:sldIdLst>
  <p:sldSz cx="18288000" cy="10287000"/>
  <p:notesSz cx="6858000" cy="9144000"/>
  <p:embeddedFontLst>
    <p:embeddedFont>
      <p:font typeface="Poppins" panose="020B0604020202020204" charset="0"/>
      <p:regular r:id="rId29"/>
      <p:bold r:id="rId30"/>
      <p:italic r:id="rId31"/>
      <p:boldItalic r:id="rId32"/>
    </p:embeddedFont>
    <p:embeddedFont>
      <p:font typeface="Calibri" panose="020F050202020403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jTCP3zMS+7wh59/Mu2YfxkSog0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2" autoAdjust="0"/>
    <p:restoredTop sz="99665" autoAdjust="0"/>
  </p:normalViewPr>
  <p:slideViewPr>
    <p:cSldViewPr snapToGrid="0">
      <p:cViewPr>
        <p:scale>
          <a:sx n="40" d="100"/>
          <a:sy n="40" d="100"/>
        </p:scale>
        <p:origin x="-812" y="-22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extLst>
      <p:ext uri="{BB962C8B-B14F-4D97-AF65-F5344CB8AC3E}">
        <p14:creationId xmlns:p14="http://schemas.microsoft.com/office/powerpoint/2010/main" val="28005354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a:spLocks noGrp="1"/>
          </p:cNvSpPr>
          <p:nvPr>
            <p:ph type="pic" idx="2"/>
          </p:nvPr>
        </p:nvSpPr>
        <p:spPr>
          <a:xfrm>
            <a:off x="1792288" y="612775"/>
            <a:ext cx="5486400" cy="4114800"/>
          </a:xfrm>
          <a:prstGeom prst="rect">
            <a:avLst/>
          </a:prstGeom>
          <a:noFill/>
          <a:ln>
            <a:noFill/>
          </a:ln>
        </p:spPr>
      </p:sp>
      <p:sp>
        <p:nvSpPr>
          <p:cNvPr id="30" name="Google Shape;30;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1" name="Google Shape;31;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4"/>
        <p:cNvGrpSpPr/>
        <p:nvPr/>
      </p:nvGrpSpPr>
      <p:grpSpPr>
        <a:xfrm>
          <a:off x="0" y="0"/>
          <a:ext cx="0" cy="0"/>
          <a:chOff x="0" y="0"/>
          <a:chExt cx="0" cy="0"/>
        </a:xfrm>
      </p:grpSpPr>
      <p:sp>
        <p:nvSpPr>
          <p:cNvPr id="35" name="Google Shape;35;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37" name="Google Shape;37;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8" name="Google Shape;3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1" name="Google Shape;51;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2" name="Google Shape;5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8" name="Google Shape;58;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9" name="Google Shape;59;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65" name="Google Shape;65;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77" name="Google Shape;77;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 name="Google Shape;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 name="Google Shape;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hyperlink" Target="http://www.aeat.e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www.youtube.com/watch?v=od-Wh0EZVrw&amp;t=2s" TargetMode="External"/><Relationship Id="rId4" Type="http://schemas.openxmlformats.org/officeDocument/2006/relationships/hyperlink" Target="http://www.circe.e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7B49E"/>
        </a:solidFill>
        <a:effectLst/>
      </p:bgPr>
    </p:bg>
    <p:spTree>
      <p:nvGrpSpPr>
        <p:cNvPr id="1" name="Shape 83"/>
        <p:cNvGrpSpPr/>
        <p:nvPr/>
      </p:nvGrpSpPr>
      <p:grpSpPr>
        <a:xfrm>
          <a:off x="0" y="0"/>
          <a:ext cx="0" cy="0"/>
          <a:chOff x="0" y="0"/>
          <a:chExt cx="0" cy="0"/>
        </a:xfrm>
      </p:grpSpPr>
      <p:sp>
        <p:nvSpPr>
          <p:cNvPr id="84" name="Google Shape;84;p1"/>
          <p:cNvSpPr/>
          <p:nvPr/>
        </p:nvSpPr>
        <p:spPr>
          <a:xfrm>
            <a:off x="15147925" y="1028700"/>
            <a:ext cx="2111375" cy="1931987"/>
          </a:xfrm>
          <a:custGeom>
            <a:avLst/>
            <a:gdLst/>
            <a:ahLst/>
            <a:cxnLst/>
            <a:rect l="l" t="t" r="r" b="b"/>
            <a:pathLst>
              <a:path w="2111795" h="1932533" extrusionOk="0">
                <a:moveTo>
                  <a:pt x="0" y="0"/>
                </a:moveTo>
                <a:lnTo>
                  <a:pt x="2111795" y="0"/>
                </a:lnTo>
                <a:lnTo>
                  <a:pt x="2111795" y="1932533"/>
                </a:lnTo>
                <a:lnTo>
                  <a:pt x="0" y="193253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5" name="Google Shape;85;p1"/>
          <p:cNvSpPr/>
          <p:nvPr/>
        </p:nvSpPr>
        <p:spPr>
          <a:xfrm>
            <a:off x="12755562" y="8174037"/>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6" name="Google Shape;86;p1"/>
          <p:cNvSpPr txBox="1"/>
          <p:nvPr/>
        </p:nvSpPr>
        <p:spPr>
          <a:xfrm>
            <a:off x="2870822" y="1994693"/>
            <a:ext cx="10753725" cy="732508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F8FBFD"/>
              </a:buClr>
              <a:buSzPts val="8500"/>
              <a:buFont typeface="Poppins"/>
              <a:buNone/>
            </a:pPr>
            <a:r>
              <a:rPr lang="en-US" sz="8500" dirty="0" smtClean="0">
                <a:solidFill>
                  <a:srgbClr val="F8FBFD"/>
                </a:solidFill>
                <a:latin typeface="Poppins"/>
                <a:cs typeface="Poppins"/>
                <a:sym typeface="Poppins"/>
              </a:rPr>
              <a:t>TEMA 3.</a:t>
            </a:r>
          </a:p>
          <a:p>
            <a:pPr marL="0" marR="0" lvl="0" indent="0" algn="ctr" rtl="0">
              <a:lnSpc>
                <a:spcPct val="140000"/>
              </a:lnSpc>
              <a:spcBef>
                <a:spcPts val="0"/>
              </a:spcBef>
              <a:spcAft>
                <a:spcPts val="0"/>
              </a:spcAft>
              <a:buClr>
                <a:srgbClr val="F8FBFD"/>
              </a:buClr>
              <a:buSzPts val="8500"/>
              <a:buFont typeface="Poppins"/>
              <a:buNone/>
            </a:pPr>
            <a:r>
              <a:rPr lang="en-US" sz="8500" dirty="0" smtClean="0">
                <a:solidFill>
                  <a:srgbClr val="F8FBFD"/>
                </a:solidFill>
                <a:latin typeface="Poppins"/>
                <a:cs typeface="Poppins"/>
                <a:sym typeface="Poppins"/>
              </a:rPr>
              <a:t>CREACIÓN Y PUESTA EN MARCHA DE UNA EMPRESA</a:t>
            </a:r>
            <a:endParaRPr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p:nvPr/>
        </p:nvSpPr>
        <p:spPr>
          <a:xfrm>
            <a:off x="16129000" y="1028700"/>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2" name="Google Shape;92;p2"/>
          <p:cNvSpPr txBox="1"/>
          <p:nvPr/>
        </p:nvSpPr>
        <p:spPr>
          <a:xfrm>
            <a:off x="2557008" y="844776"/>
            <a:ext cx="10752137" cy="708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1B3440"/>
              </a:buClr>
              <a:buSzPts val="4600"/>
              <a:buFont typeface="Poppins"/>
              <a:buNone/>
            </a:pPr>
            <a:r>
              <a:rPr lang="en-US" sz="4600" b="0" i="0" u="none" dirty="0" err="1">
                <a:solidFill>
                  <a:srgbClr val="1B3440"/>
                </a:solidFill>
                <a:latin typeface="Poppins"/>
                <a:ea typeface="Poppins"/>
                <a:cs typeface="Poppins"/>
                <a:sym typeface="Poppins"/>
              </a:rPr>
              <a:t>Índice</a:t>
            </a:r>
            <a:endParaRPr dirty="0"/>
          </a:p>
        </p:txBody>
      </p:sp>
      <p:sp>
        <p:nvSpPr>
          <p:cNvPr id="93" name="Google Shape;93;p2"/>
          <p:cNvSpPr txBox="1"/>
          <p:nvPr/>
        </p:nvSpPr>
        <p:spPr>
          <a:xfrm>
            <a:off x="1729208" y="1839995"/>
            <a:ext cx="12407736" cy="7238905"/>
          </a:xfrm>
          <a:prstGeom prst="rect">
            <a:avLst/>
          </a:prstGeom>
          <a:noFill/>
          <a:ln>
            <a:noFill/>
          </a:ln>
        </p:spPr>
        <p:txBody>
          <a:bodyPr spcFirstLastPara="1" wrap="square" lIns="0" tIns="0" rIns="0" bIns="0" anchor="t" anchorCtr="0">
            <a:spAutoFit/>
          </a:bodyPr>
          <a:lstStyle/>
          <a:p>
            <a:pPr marL="457200" marR="0" lvl="0" indent="-457200" algn="l" rtl="0">
              <a:lnSpc>
                <a:spcPct val="140000"/>
              </a:lnSpc>
              <a:spcBef>
                <a:spcPts val="0"/>
              </a:spcBef>
              <a:spcAft>
                <a:spcPts val="0"/>
              </a:spcAft>
              <a:buClr>
                <a:srgbClr val="67B49E"/>
              </a:buClr>
              <a:buSzPts val="3800"/>
              <a:buAutoNum type="arabicPeriod"/>
            </a:pPr>
            <a:r>
              <a:rPr lang="es-ES" sz="2400" dirty="0" smtClean="0">
                <a:solidFill>
                  <a:schemeClr val="tx1"/>
                </a:solidFill>
                <a:latin typeface="Poppins" panose="020B0604020202020204" charset="0"/>
                <a:ea typeface="Poppins"/>
                <a:cs typeface="Poppins" panose="020B0604020202020204" charset="0"/>
                <a:sym typeface="Poppins"/>
              </a:rPr>
              <a:t>TIPOS DE EMPRESA Y ELECCIÓN FORMA JURÍDICA</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EMPRESARIO INDIVIDUAL</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TRABAJADOR AUTÓNOMO</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EL EMPRENDEDOR DE LA RESPONSABILIDAD LIMITADA (ERL)</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SOCIEDAD DE RESPONSABILDIAD LIMITADA (S.L)</a:t>
            </a:r>
          </a:p>
          <a:p>
            <a:pPr marR="0" lvl="0" algn="l" rtl="0">
              <a:lnSpc>
                <a:spcPct val="140000"/>
              </a:lnSpc>
              <a:spcBef>
                <a:spcPts val="0"/>
              </a:spcBef>
              <a:spcAft>
                <a:spcPts val="0"/>
              </a:spcAft>
              <a:buClr>
                <a:srgbClr val="67B49E"/>
              </a:buClr>
              <a:buSzPts val="3800"/>
            </a:pPr>
            <a:r>
              <a:rPr lang="es-ES" sz="2400" dirty="0" smtClean="0">
                <a:solidFill>
                  <a:schemeClr val="tx1"/>
                </a:solidFill>
                <a:latin typeface="Poppins" panose="020B0604020202020204" charset="0"/>
                <a:ea typeface="Poppins"/>
                <a:cs typeface="Poppins" panose="020B0604020202020204" charset="0"/>
                <a:sym typeface="Poppins"/>
              </a:rPr>
              <a:t>	- SOCIEDAD ANÓNIMA (S.A)</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SOCIEDAD LABORAL</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SOCIEDAD COOPERATIVA</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SOCIEDAD CIVIL</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COMUNIDAD DE BIENES</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SOCIEDAD COLECTIVA</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SOCIEDAD COMANDITARIA</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VENTAJAS E INCONVENIENTES DE LAS PRINCIPALES FORMAS JURÍDICAS</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FRANQUICIAS</a:t>
            </a:r>
          </a:p>
        </p:txBody>
      </p:sp>
      <p:sp>
        <p:nvSpPr>
          <p:cNvPr id="94" name="Google Shape;94;p2"/>
          <p:cNvSpPr/>
          <p:nvPr/>
        </p:nvSpPr>
        <p:spPr>
          <a:xfrm>
            <a:off x="13575369" y="8930782"/>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91;p2"/>
          <p:cNvSpPr/>
          <p:nvPr/>
        </p:nvSpPr>
        <p:spPr>
          <a:xfrm>
            <a:off x="16694150" y="512762"/>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 name="Google Shape;94;p2"/>
          <p:cNvSpPr/>
          <p:nvPr/>
        </p:nvSpPr>
        <p:spPr>
          <a:xfrm>
            <a:off x="14535807" y="9301654"/>
            <a:ext cx="3541712" cy="713389"/>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 name="Google Shape;92;p2"/>
          <p:cNvSpPr txBox="1"/>
          <p:nvPr/>
        </p:nvSpPr>
        <p:spPr>
          <a:xfrm>
            <a:off x="2557008" y="844776"/>
            <a:ext cx="10752137" cy="708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1B3440"/>
              </a:buClr>
              <a:buSzPts val="4600"/>
              <a:buFont typeface="Poppins"/>
              <a:buNone/>
            </a:pPr>
            <a:r>
              <a:rPr lang="en-US" sz="4600" b="0" i="0" u="none" dirty="0" err="1">
                <a:solidFill>
                  <a:srgbClr val="1B3440"/>
                </a:solidFill>
                <a:latin typeface="Poppins"/>
                <a:ea typeface="Poppins"/>
                <a:cs typeface="Poppins"/>
                <a:sym typeface="Poppins"/>
              </a:rPr>
              <a:t>Índice</a:t>
            </a:r>
            <a:endParaRPr dirty="0"/>
          </a:p>
        </p:txBody>
      </p:sp>
      <p:sp>
        <p:nvSpPr>
          <p:cNvPr id="9" name="Google Shape;93;p2"/>
          <p:cNvSpPr txBox="1"/>
          <p:nvPr/>
        </p:nvSpPr>
        <p:spPr>
          <a:xfrm>
            <a:off x="1729208" y="1839995"/>
            <a:ext cx="12407736" cy="7238905"/>
          </a:xfrm>
          <a:prstGeom prst="rect">
            <a:avLst/>
          </a:prstGeom>
          <a:noFill/>
          <a:ln>
            <a:noFill/>
          </a:ln>
        </p:spPr>
        <p:txBody>
          <a:bodyPr spcFirstLastPara="1" wrap="square" lIns="0" tIns="0" rIns="0" bIns="0" anchor="t" anchorCtr="0">
            <a:spAutoFit/>
          </a:bodyPr>
          <a:lstStyle/>
          <a:p>
            <a:pPr marR="0" lvl="0" algn="l" rtl="0">
              <a:lnSpc>
                <a:spcPct val="140000"/>
              </a:lnSpc>
              <a:spcBef>
                <a:spcPts val="0"/>
              </a:spcBef>
              <a:spcAft>
                <a:spcPts val="0"/>
              </a:spcAft>
              <a:buClr>
                <a:srgbClr val="67B49E"/>
              </a:buClr>
              <a:buSzPts val="3800"/>
            </a:pPr>
            <a:r>
              <a:rPr lang="es-ES" sz="2400" dirty="0" smtClean="0">
                <a:solidFill>
                  <a:schemeClr val="tx1"/>
                </a:solidFill>
                <a:latin typeface="Poppins" panose="020B0604020202020204" charset="0"/>
                <a:ea typeface="Poppins"/>
                <a:cs typeface="Poppins" panose="020B0604020202020204" charset="0"/>
                <a:sym typeface="Poppins"/>
              </a:rPr>
              <a:t>2. LA FISCALIDAD DE LAS EMPRESAS</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IMPUESTOS QUE DEBEN PAGAR LAS DISTINTAS EMPRESAS</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OBLIGACIONES FISCALES</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IMPUESTOS LOCALES</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CALENADARIO FISCAL</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IMPUESTO SOBRE LA RENTA DE LAS PERSONAS FÍSICAS (IRPF)</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IMPUESTO DE SOCIEDADES</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EL IMPUESTO SOBRE EL VALOR AÑADIDO (IVA)</a:t>
            </a:r>
          </a:p>
          <a:p>
            <a:pPr marR="0" lvl="0" algn="l" rtl="0">
              <a:lnSpc>
                <a:spcPct val="140000"/>
              </a:lnSpc>
              <a:spcBef>
                <a:spcPts val="0"/>
              </a:spcBef>
              <a:spcAft>
                <a:spcPts val="0"/>
              </a:spcAft>
              <a:buClr>
                <a:srgbClr val="67B49E"/>
              </a:buClr>
              <a:buSzPts val="3800"/>
            </a:pPr>
            <a:r>
              <a:rPr lang="es-ES" sz="2400" dirty="0" smtClean="0">
                <a:solidFill>
                  <a:schemeClr val="tx1"/>
                </a:solidFill>
                <a:latin typeface="Poppins" panose="020B0604020202020204" charset="0"/>
                <a:ea typeface="Poppins"/>
                <a:cs typeface="Poppins" panose="020B0604020202020204" charset="0"/>
                <a:sym typeface="Poppins"/>
              </a:rPr>
              <a:t>3. TRÁMITES ADMINISTRATIVOS PARA LA CONSTITUCIÓN DE UNA EMPRESA</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INTRODUCCIÓN</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ADOPCIÓN DE PERSONALIDAD JURÍDICA EN LAS EMPRESAS MERCANTILES</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TRÁMITES DE PUESTA EN MARCHA</a:t>
            </a:r>
          </a:p>
          <a:p>
            <a:pPr marR="0" lvl="0" algn="l" rtl="0">
              <a:lnSpc>
                <a:spcPct val="140000"/>
              </a:lnSpc>
              <a:spcBef>
                <a:spcPts val="0"/>
              </a:spcBef>
              <a:spcAft>
                <a:spcPts val="0"/>
              </a:spcAft>
              <a:buClr>
                <a:srgbClr val="67B49E"/>
              </a:buClr>
              <a:buSzPts val="3800"/>
            </a:pPr>
            <a:r>
              <a:rPr lang="es-ES" sz="2400" dirty="0">
                <a:solidFill>
                  <a:schemeClr val="tx1"/>
                </a:solidFill>
                <a:latin typeface="Poppins" panose="020B0604020202020204" charset="0"/>
                <a:ea typeface="Poppins"/>
                <a:cs typeface="Poppins" panose="020B0604020202020204" charset="0"/>
                <a:sym typeface="Poppins"/>
              </a:rPr>
              <a:t>	</a:t>
            </a:r>
            <a:r>
              <a:rPr lang="es-ES" sz="2400" dirty="0" smtClean="0">
                <a:solidFill>
                  <a:schemeClr val="tx1"/>
                </a:solidFill>
                <a:latin typeface="Poppins" panose="020B0604020202020204" charset="0"/>
                <a:ea typeface="Poppins"/>
                <a:cs typeface="Poppins" panose="020B0604020202020204" charset="0"/>
                <a:sym typeface="Poppins"/>
              </a:rPr>
              <a:t>- INICIATIVAS PARA FACILITAR LA CONSTITUCIÓN LEGAL DE LA EMPRESA</a:t>
            </a:r>
          </a:p>
          <a:p>
            <a:pPr marR="0" lvl="0" algn="l" rtl="0">
              <a:lnSpc>
                <a:spcPct val="140000"/>
              </a:lnSpc>
              <a:spcBef>
                <a:spcPts val="0"/>
              </a:spcBef>
              <a:spcAft>
                <a:spcPts val="0"/>
              </a:spcAft>
              <a:buClr>
                <a:srgbClr val="67B49E"/>
              </a:buClr>
              <a:buSzPts val="3800"/>
            </a:pPr>
            <a:endParaRPr lang="es-ES" sz="2400" dirty="0" smtClean="0">
              <a:solidFill>
                <a:schemeClr val="tx1"/>
              </a:solidFill>
              <a:latin typeface="Poppins" panose="020B0604020202020204" charset="0"/>
              <a:ea typeface="Poppins"/>
              <a:cs typeface="Poppins" panose="020B0604020202020204" charset="0"/>
              <a:sym typeface="Poppins"/>
            </a:endParaRPr>
          </a:p>
        </p:txBody>
      </p:sp>
    </p:spTree>
    <p:extLst>
      <p:ext uri="{BB962C8B-B14F-4D97-AF65-F5344CB8AC3E}">
        <p14:creationId xmlns:p14="http://schemas.microsoft.com/office/powerpoint/2010/main" val="4265983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2;p2"/>
          <p:cNvSpPr txBox="1"/>
          <p:nvPr/>
        </p:nvSpPr>
        <p:spPr>
          <a:xfrm>
            <a:off x="2557007" y="374224"/>
            <a:ext cx="10752137" cy="99104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1B3440"/>
              </a:buClr>
              <a:buSzPts val="4600"/>
              <a:buFont typeface="Poppins"/>
              <a:buNone/>
            </a:pPr>
            <a:r>
              <a:rPr lang="en-US" sz="4600" b="0" i="0" u="none" dirty="0" err="1" smtClean="0">
                <a:solidFill>
                  <a:srgbClr val="1B3440"/>
                </a:solidFill>
                <a:latin typeface="Poppins"/>
                <a:ea typeface="Poppins"/>
                <a:cs typeface="Poppins"/>
                <a:sym typeface="Poppins"/>
              </a:rPr>
              <a:t>Objetivo</a:t>
            </a:r>
            <a:endParaRPr dirty="0"/>
          </a:p>
        </p:txBody>
      </p:sp>
      <p:sp>
        <p:nvSpPr>
          <p:cNvPr id="3" name="Google Shape;91;p2"/>
          <p:cNvSpPr/>
          <p:nvPr/>
        </p:nvSpPr>
        <p:spPr>
          <a:xfrm>
            <a:off x="16129000" y="1028700"/>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 name="Google Shape;94;p2"/>
          <p:cNvSpPr/>
          <p:nvPr/>
        </p:nvSpPr>
        <p:spPr>
          <a:xfrm>
            <a:off x="13486305" y="8883486"/>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 name="Google Shape;93;p2"/>
          <p:cNvSpPr txBox="1"/>
          <p:nvPr/>
        </p:nvSpPr>
        <p:spPr>
          <a:xfrm>
            <a:off x="346841" y="1835817"/>
            <a:ext cx="17641614" cy="6709529"/>
          </a:xfrm>
          <a:prstGeom prst="rect">
            <a:avLst/>
          </a:prstGeom>
          <a:noFill/>
          <a:ln>
            <a:noFill/>
          </a:ln>
        </p:spPr>
        <p:txBody>
          <a:bodyPr spcFirstLastPara="1" wrap="square" lIns="0" tIns="0" rIns="0" bIns="0" anchor="t" anchorCtr="0">
            <a:spAutoFit/>
          </a:bodyPr>
          <a:lstStyle/>
          <a:p>
            <a:r>
              <a:rPr lang="es-ES" sz="3200" dirty="0"/>
              <a:t>Al finalizar el estudio  </a:t>
            </a:r>
            <a:r>
              <a:rPr lang="es-ES" sz="3200" u="sng" dirty="0"/>
              <a:t>el participante será capaz de</a:t>
            </a:r>
            <a:r>
              <a:rPr lang="es-ES" sz="3200" dirty="0" smtClean="0"/>
              <a:t>:</a:t>
            </a:r>
          </a:p>
          <a:p>
            <a:endParaRPr lang="es-ES" sz="2800" dirty="0" smtClean="0"/>
          </a:p>
          <a:p>
            <a:pPr marL="457200" indent="-457200" fontAlgn="base">
              <a:buFont typeface="Arial" panose="020B0604020202020204" pitchFamily="34" charset="0"/>
              <a:buChar char="•"/>
            </a:pPr>
            <a:r>
              <a:rPr lang="es-ES" sz="2800" b="1" dirty="0" smtClean="0"/>
              <a:t>Comprender </a:t>
            </a:r>
            <a:r>
              <a:rPr lang="es-ES" sz="2800" b="1" dirty="0"/>
              <a:t>los diferentes tipos de impuestos a los que debe hacer frente cada forma </a:t>
            </a:r>
            <a:r>
              <a:rPr lang="es-ES" sz="2800" b="1" dirty="0" smtClean="0"/>
              <a:t>jurídica.</a:t>
            </a:r>
          </a:p>
          <a:p>
            <a:pPr marL="457200" indent="-457200" fontAlgn="base">
              <a:buFont typeface="Arial" panose="020B0604020202020204" pitchFamily="34" charset="0"/>
              <a:buChar char="•"/>
            </a:pPr>
            <a:r>
              <a:rPr lang="es-ES" sz="2800" b="1" dirty="0" smtClean="0"/>
              <a:t>Identificar </a:t>
            </a:r>
            <a:r>
              <a:rPr lang="es-ES" sz="2800" b="1" dirty="0"/>
              <a:t>las principales características de cada </a:t>
            </a:r>
            <a:r>
              <a:rPr lang="es-ES" sz="2800" b="1" dirty="0" smtClean="0"/>
              <a:t>impuesto</a:t>
            </a:r>
          </a:p>
          <a:p>
            <a:pPr marL="457200" indent="-457200" fontAlgn="base">
              <a:buFont typeface="Arial" panose="020B0604020202020204" pitchFamily="34" charset="0"/>
              <a:buChar char="•"/>
            </a:pPr>
            <a:r>
              <a:rPr lang="es-ES" sz="2800" b="1" dirty="0" smtClean="0"/>
              <a:t>Conocer </a:t>
            </a:r>
            <a:r>
              <a:rPr lang="es-ES" sz="2800" b="1" dirty="0"/>
              <a:t>el calendario fiscal de las </a:t>
            </a:r>
            <a:r>
              <a:rPr lang="es-ES" sz="2800" b="1" dirty="0" smtClean="0"/>
              <a:t>empresas</a:t>
            </a:r>
          </a:p>
          <a:p>
            <a:pPr marL="457200" indent="-457200" fontAlgn="base">
              <a:buFont typeface="Arial" panose="020B0604020202020204" pitchFamily="34" charset="0"/>
              <a:buChar char="•"/>
            </a:pPr>
            <a:r>
              <a:rPr lang="es-ES" sz="2800" b="1" dirty="0" smtClean="0"/>
              <a:t>Diferenciar </a:t>
            </a:r>
            <a:r>
              <a:rPr lang="es-ES" sz="2800" b="1" dirty="0"/>
              <a:t>las diferentes formas jurídicas que </a:t>
            </a:r>
            <a:r>
              <a:rPr lang="es-ES" sz="2800" b="1" dirty="0" smtClean="0"/>
              <a:t>encontramos.</a:t>
            </a:r>
          </a:p>
          <a:p>
            <a:pPr marL="457200" indent="-457200" fontAlgn="base">
              <a:buFont typeface="Arial" panose="020B0604020202020204" pitchFamily="34" charset="0"/>
              <a:buChar char="•"/>
            </a:pPr>
            <a:r>
              <a:rPr lang="es-ES" sz="2800" b="1" dirty="0" smtClean="0"/>
              <a:t>Analizar </a:t>
            </a:r>
            <a:r>
              <a:rPr lang="es-ES" sz="2800" b="1" dirty="0"/>
              <a:t>las características de cada forma </a:t>
            </a:r>
            <a:r>
              <a:rPr lang="es-ES" sz="2800" b="1" dirty="0" smtClean="0"/>
              <a:t>jurídica.</a:t>
            </a:r>
          </a:p>
          <a:p>
            <a:pPr marL="457200" indent="-457200" fontAlgn="base">
              <a:buFont typeface="Arial" panose="020B0604020202020204" pitchFamily="34" charset="0"/>
              <a:buChar char="•"/>
            </a:pPr>
            <a:r>
              <a:rPr lang="es-ES" sz="2800" b="1" dirty="0" smtClean="0"/>
              <a:t>Determinar </a:t>
            </a:r>
            <a:r>
              <a:rPr lang="es-ES" sz="2800" b="1" dirty="0"/>
              <a:t>la forma jurídica más adecuada para nuestro modelo de </a:t>
            </a:r>
            <a:r>
              <a:rPr lang="es-ES" sz="2800" b="1" dirty="0" smtClean="0"/>
              <a:t>negocio.</a:t>
            </a:r>
          </a:p>
          <a:p>
            <a:pPr marL="457200" indent="-457200" fontAlgn="base">
              <a:buFont typeface="Arial" panose="020B0604020202020204" pitchFamily="34" charset="0"/>
              <a:buChar char="•"/>
            </a:pPr>
            <a:r>
              <a:rPr lang="es-ES" sz="2800" b="1" dirty="0" smtClean="0"/>
              <a:t>Identificar </a:t>
            </a:r>
            <a:r>
              <a:rPr lang="es-ES" sz="2800" b="1" dirty="0"/>
              <a:t>los diferentes trámites que se deben llevar a cabo para constituir una </a:t>
            </a:r>
            <a:r>
              <a:rPr lang="es-ES" sz="2800" b="1" dirty="0" smtClean="0"/>
              <a:t>empresa.</a:t>
            </a:r>
          </a:p>
          <a:p>
            <a:pPr marL="457200" indent="-457200" fontAlgn="base">
              <a:buFont typeface="Arial" panose="020B0604020202020204" pitchFamily="34" charset="0"/>
              <a:buChar char="•"/>
            </a:pPr>
            <a:r>
              <a:rPr lang="es-ES" sz="2800" b="1" dirty="0" smtClean="0"/>
              <a:t>Conocer </a:t>
            </a:r>
            <a:r>
              <a:rPr lang="es-ES" sz="2800" b="1" dirty="0"/>
              <a:t>instituciones que nos puedan asesorar en la creación de </a:t>
            </a:r>
            <a:r>
              <a:rPr lang="es-ES" sz="2800" b="1" dirty="0" smtClean="0"/>
              <a:t>empresas.</a:t>
            </a:r>
          </a:p>
          <a:p>
            <a:pPr marL="457200" indent="-457200" fontAlgn="base">
              <a:buFont typeface="Arial" panose="020B0604020202020204" pitchFamily="34" charset="0"/>
              <a:buChar char="•"/>
            </a:pPr>
            <a:r>
              <a:rPr lang="es-ES" sz="2800" b="1" dirty="0" smtClean="0"/>
              <a:t>Cumplimentar </a:t>
            </a:r>
            <a:r>
              <a:rPr lang="es-ES" sz="2800" b="1" dirty="0"/>
              <a:t>los formularios necesarios para poner en marcha una actividad </a:t>
            </a:r>
            <a:r>
              <a:rPr lang="es-ES" sz="2800" b="1" dirty="0" smtClean="0"/>
              <a:t>empresarial.</a:t>
            </a:r>
          </a:p>
          <a:p>
            <a:pPr marL="457200" indent="-457200" fontAlgn="base">
              <a:buFont typeface="Arial" panose="020B0604020202020204" pitchFamily="34" charset="0"/>
              <a:buChar char="•"/>
            </a:pPr>
            <a:r>
              <a:rPr lang="es-ES" sz="2800" b="1" dirty="0" smtClean="0"/>
              <a:t>Conocer </a:t>
            </a:r>
            <a:r>
              <a:rPr lang="es-ES" sz="2800" b="1" dirty="0"/>
              <a:t>algunos permisos adicionales que se exigen a algunos tipos de actividad</a:t>
            </a:r>
          </a:p>
          <a:p>
            <a:pPr marL="457200" indent="-457200" fontAlgn="base">
              <a:buFont typeface="Arial" panose="020B0604020202020204" pitchFamily="34" charset="0"/>
              <a:buChar char="•"/>
            </a:pPr>
            <a:endParaRPr lang="es-ES" sz="3200" b="1" dirty="0"/>
          </a:p>
          <a:p>
            <a:pPr marL="457200" indent="-457200" fontAlgn="base">
              <a:buFont typeface="Arial" panose="020B0604020202020204" pitchFamily="34" charset="0"/>
              <a:buChar char="•"/>
            </a:pPr>
            <a:endParaRPr lang="es-ES" sz="3200" b="1" dirty="0"/>
          </a:p>
          <a:p>
            <a:pPr algn="just"/>
            <a:endParaRPr lang="es-ES" sz="3200" dirty="0"/>
          </a:p>
        </p:txBody>
      </p:sp>
    </p:spTree>
    <p:extLst>
      <p:ext uri="{BB962C8B-B14F-4D97-AF65-F5344CB8AC3E}">
        <p14:creationId xmlns:p14="http://schemas.microsoft.com/office/powerpoint/2010/main" val="26642546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2;p2"/>
          <p:cNvSpPr txBox="1"/>
          <p:nvPr/>
        </p:nvSpPr>
        <p:spPr>
          <a:xfrm>
            <a:off x="901628" y="448903"/>
            <a:ext cx="14958482" cy="99104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1B3440"/>
              </a:buClr>
              <a:buSzPts val="4600"/>
              <a:buFont typeface="Poppins"/>
              <a:buNone/>
            </a:pPr>
            <a:r>
              <a:rPr lang="en-US" sz="4600" dirty="0" smtClean="0">
                <a:solidFill>
                  <a:srgbClr val="1B3440"/>
                </a:solidFill>
                <a:latin typeface="Poppins"/>
                <a:cs typeface="Poppins"/>
                <a:sym typeface="Poppins"/>
              </a:rPr>
              <a:t>1. </a:t>
            </a:r>
            <a:r>
              <a:rPr lang="en-US" sz="4600" dirty="0" err="1" smtClean="0">
                <a:solidFill>
                  <a:srgbClr val="1B3440"/>
                </a:solidFill>
                <a:latin typeface="Poppins"/>
                <a:cs typeface="Poppins"/>
                <a:sym typeface="Poppins"/>
              </a:rPr>
              <a:t>Tipos</a:t>
            </a:r>
            <a:r>
              <a:rPr lang="en-US" sz="4600" dirty="0" smtClean="0">
                <a:solidFill>
                  <a:srgbClr val="1B3440"/>
                </a:solidFill>
                <a:latin typeface="Poppins"/>
                <a:cs typeface="Poppins"/>
                <a:sym typeface="Poppins"/>
              </a:rPr>
              <a:t> de </a:t>
            </a:r>
            <a:r>
              <a:rPr lang="en-US" sz="4600" dirty="0" err="1" smtClean="0">
                <a:solidFill>
                  <a:srgbClr val="1B3440"/>
                </a:solidFill>
                <a:latin typeface="Poppins"/>
                <a:cs typeface="Poppins"/>
                <a:sym typeface="Poppins"/>
              </a:rPr>
              <a:t>empresa</a:t>
            </a:r>
            <a:r>
              <a:rPr lang="en-US" sz="4600" dirty="0" smtClean="0">
                <a:solidFill>
                  <a:srgbClr val="1B3440"/>
                </a:solidFill>
                <a:latin typeface="Poppins"/>
                <a:cs typeface="Poppins"/>
                <a:sym typeface="Poppins"/>
              </a:rPr>
              <a:t> y </a:t>
            </a:r>
            <a:r>
              <a:rPr lang="en-US" sz="4600" dirty="0" err="1" smtClean="0">
                <a:solidFill>
                  <a:srgbClr val="1B3440"/>
                </a:solidFill>
                <a:latin typeface="Poppins"/>
                <a:cs typeface="Poppins"/>
                <a:sym typeface="Poppins"/>
              </a:rPr>
              <a:t>elección</a:t>
            </a:r>
            <a:r>
              <a:rPr lang="en-US" sz="4600" dirty="0" smtClean="0">
                <a:solidFill>
                  <a:srgbClr val="1B3440"/>
                </a:solidFill>
                <a:latin typeface="Poppins"/>
                <a:cs typeface="Poppins"/>
                <a:sym typeface="Poppins"/>
              </a:rPr>
              <a:t> de la forma </a:t>
            </a:r>
            <a:r>
              <a:rPr lang="en-US" sz="4600" dirty="0" err="1" smtClean="0">
                <a:solidFill>
                  <a:srgbClr val="1B3440"/>
                </a:solidFill>
                <a:latin typeface="Poppins"/>
                <a:cs typeface="Poppins"/>
                <a:sym typeface="Poppins"/>
              </a:rPr>
              <a:t>jurídica</a:t>
            </a:r>
            <a:endParaRPr dirty="0"/>
          </a:p>
        </p:txBody>
      </p:sp>
      <p:sp>
        <p:nvSpPr>
          <p:cNvPr id="3" name="Google Shape;91;p2"/>
          <p:cNvSpPr/>
          <p:nvPr/>
        </p:nvSpPr>
        <p:spPr>
          <a:xfrm>
            <a:off x="16858155" y="408069"/>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 name="Google Shape;94;p2"/>
          <p:cNvSpPr/>
          <p:nvPr/>
        </p:nvSpPr>
        <p:spPr>
          <a:xfrm>
            <a:off x="13486305" y="8883486"/>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6" name="5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213" y="1908611"/>
            <a:ext cx="16698091" cy="6706861"/>
          </a:xfrm>
          <a:prstGeom prst="rect">
            <a:avLst/>
          </a:prstGeom>
        </p:spPr>
      </p:pic>
    </p:spTree>
    <p:extLst>
      <p:ext uri="{BB962C8B-B14F-4D97-AF65-F5344CB8AC3E}">
        <p14:creationId xmlns:p14="http://schemas.microsoft.com/office/powerpoint/2010/main" val="3221864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9;p3"/>
          <p:cNvSpPr/>
          <p:nvPr/>
        </p:nvSpPr>
        <p:spPr>
          <a:xfrm>
            <a:off x="17215944" y="343705"/>
            <a:ext cx="703097" cy="696820"/>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 name="Google Shape;102;p3"/>
          <p:cNvSpPr/>
          <p:nvPr/>
        </p:nvSpPr>
        <p:spPr>
          <a:xfrm>
            <a:off x="13735159" y="9270124"/>
            <a:ext cx="4206000" cy="863546"/>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5 Flecha derecha"/>
          <p:cNvSpPr/>
          <p:nvPr/>
        </p:nvSpPr>
        <p:spPr>
          <a:xfrm>
            <a:off x="247497" y="3195686"/>
            <a:ext cx="4035973" cy="3026979"/>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ES" sz="3200" b="1" dirty="0" smtClean="0"/>
              <a:t>FRANQUICIAS</a:t>
            </a:r>
            <a:endParaRPr lang="es-ES" sz="3200" b="1" dirty="0"/>
          </a:p>
        </p:txBody>
      </p:sp>
      <p:sp>
        <p:nvSpPr>
          <p:cNvPr id="7" name="6 Rectángulo redondeado"/>
          <p:cNvSpPr/>
          <p:nvPr/>
        </p:nvSpPr>
        <p:spPr>
          <a:xfrm>
            <a:off x="4298940" y="1592319"/>
            <a:ext cx="13693377" cy="717330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s-ES" sz="3200" dirty="0" smtClean="0"/>
              <a:t>“Contrato </a:t>
            </a:r>
            <a:r>
              <a:rPr lang="es-ES" sz="3200" dirty="0"/>
              <a:t>entre dos partes, una empresa o profesional (franquiciador) y otra empresa o profesional (franquiciado), mediante el cual el primero cede al segundo el derecho a la explotación de un sistema propio de comercialización de productos o servicios y el segundo, a cambio, entrega una contraprestación económica</a:t>
            </a:r>
            <a:r>
              <a:rPr lang="es-ES" sz="3200" dirty="0" smtClean="0"/>
              <a:t>.”</a:t>
            </a:r>
          </a:p>
          <a:p>
            <a:pPr algn="just"/>
            <a:endParaRPr lang="es-ES" sz="3200" dirty="0" smtClean="0"/>
          </a:p>
          <a:p>
            <a:pPr algn="just"/>
            <a:r>
              <a:rPr lang="es-ES" sz="3200" b="1" dirty="0" smtClean="0"/>
              <a:t>FRANQUICIADO</a:t>
            </a:r>
            <a:r>
              <a:rPr lang="es-ES" sz="3200" dirty="0" smtClean="0"/>
              <a:t>=  PRODUCTO + MARCA + KNOW HOW (saber hacer)</a:t>
            </a:r>
          </a:p>
          <a:p>
            <a:pPr algn="just"/>
            <a:endParaRPr lang="es-ES" sz="3200" dirty="0" smtClean="0"/>
          </a:p>
          <a:p>
            <a:pPr algn="just"/>
            <a:r>
              <a:rPr lang="es-ES" sz="3200" b="1" dirty="0" smtClean="0"/>
              <a:t>CONDICIÓN</a:t>
            </a:r>
            <a:r>
              <a:rPr lang="es-ES" sz="3200" dirty="0" smtClean="0"/>
              <a:t>= CANON DE ENTRADA (al principio) + mensual (ROYALTY, CANON DE PUBLICIDAD)</a:t>
            </a:r>
            <a:endParaRPr lang="es-ES" sz="3200" dirty="0"/>
          </a:p>
        </p:txBody>
      </p:sp>
    </p:spTree>
    <p:extLst>
      <p:ext uri="{BB962C8B-B14F-4D97-AF65-F5344CB8AC3E}">
        <p14:creationId xmlns:p14="http://schemas.microsoft.com/office/powerpoint/2010/main" val="655362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9;p3"/>
          <p:cNvSpPr/>
          <p:nvPr/>
        </p:nvSpPr>
        <p:spPr>
          <a:xfrm>
            <a:off x="17215944" y="343705"/>
            <a:ext cx="703097" cy="696820"/>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 name="Google Shape;102;p3"/>
          <p:cNvSpPr/>
          <p:nvPr/>
        </p:nvSpPr>
        <p:spPr>
          <a:xfrm>
            <a:off x="13735159" y="9270124"/>
            <a:ext cx="4206000" cy="863546"/>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2" name="1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3705"/>
            <a:ext cx="15639393" cy="9143999"/>
          </a:xfrm>
          <a:prstGeom prst="rect">
            <a:avLst/>
          </a:prstGeom>
        </p:spPr>
      </p:pic>
    </p:spTree>
    <p:extLst>
      <p:ext uri="{BB962C8B-B14F-4D97-AF65-F5344CB8AC3E}">
        <p14:creationId xmlns:p14="http://schemas.microsoft.com/office/powerpoint/2010/main" val="1731209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9;p3"/>
          <p:cNvSpPr/>
          <p:nvPr/>
        </p:nvSpPr>
        <p:spPr>
          <a:xfrm>
            <a:off x="16788742" y="343704"/>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 name="Google Shape;102;p3"/>
          <p:cNvSpPr/>
          <p:nvPr/>
        </p:nvSpPr>
        <p:spPr>
          <a:xfrm>
            <a:off x="13735159" y="9270124"/>
            <a:ext cx="4206000" cy="863546"/>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aphicFrame>
        <p:nvGraphicFramePr>
          <p:cNvPr id="5" name="4 Tabla"/>
          <p:cNvGraphicFramePr>
            <a:graphicFrameLocks noGrp="1"/>
          </p:cNvGraphicFramePr>
          <p:nvPr>
            <p:extLst>
              <p:ext uri="{D42A27DB-BD31-4B8C-83A1-F6EECF244321}">
                <p14:modId xmlns:p14="http://schemas.microsoft.com/office/powerpoint/2010/main" val="1643529800"/>
              </p:ext>
            </p:extLst>
          </p:nvPr>
        </p:nvGraphicFramePr>
        <p:xfrm>
          <a:off x="2380592" y="1864219"/>
          <a:ext cx="13962994" cy="6756367"/>
        </p:xfrm>
        <a:graphic>
          <a:graphicData uri="http://schemas.openxmlformats.org/drawingml/2006/table">
            <a:tbl>
              <a:tblPr firstRow="1" bandRow="1">
                <a:tableStyleId>{7DF18680-E054-41AD-8BC1-D1AEF772440D}</a:tableStyleId>
              </a:tblPr>
              <a:tblGrid>
                <a:gridCol w="6981497"/>
                <a:gridCol w="6981497"/>
              </a:tblGrid>
              <a:tr h="1319800">
                <a:tc gridSpan="2">
                  <a:txBody>
                    <a:bodyPr/>
                    <a:lstStyle/>
                    <a:p>
                      <a:pPr algn="ctr"/>
                      <a:r>
                        <a:rPr lang="es-ES" sz="3200" dirty="0" smtClean="0"/>
                        <a:t>EMPRESARIO</a:t>
                      </a:r>
                      <a:r>
                        <a:rPr lang="es-ES" sz="3200" baseline="0" dirty="0" smtClean="0"/>
                        <a:t> INDIVIDUAL</a:t>
                      </a:r>
                      <a:endParaRPr lang="es-ES" sz="3200" dirty="0"/>
                    </a:p>
                  </a:txBody>
                  <a:tcPr/>
                </a:tc>
                <a:tc hMerge="1">
                  <a:txBody>
                    <a:bodyPr/>
                    <a:lstStyle/>
                    <a:p>
                      <a:endParaRPr lang="es-ES" dirty="0"/>
                    </a:p>
                  </a:txBody>
                  <a:tcPr/>
                </a:tc>
              </a:tr>
              <a:tr h="773127">
                <a:tc>
                  <a:txBody>
                    <a:bodyPr/>
                    <a:lstStyle/>
                    <a:p>
                      <a:pPr algn="ctr"/>
                      <a:r>
                        <a:rPr lang="es-ES" sz="3200" dirty="0" smtClean="0"/>
                        <a:t>VENTAJAS</a:t>
                      </a:r>
                      <a:endParaRPr lang="es-ES" sz="3200" dirty="0"/>
                    </a:p>
                  </a:txBody>
                  <a:tcPr/>
                </a:tc>
                <a:tc>
                  <a:txBody>
                    <a:bodyPr/>
                    <a:lstStyle/>
                    <a:p>
                      <a:pPr algn="ctr"/>
                      <a:r>
                        <a:rPr lang="es-ES" sz="3200" dirty="0" smtClean="0"/>
                        <a:t>INCONVENIENTES</a:t>
                      </a:r>
                      <a:endParaRPr lang="es-ES" sz="3200" dirty="0"/>
                    </a:p>
                  </a:txBody>
                  <a:tcPr/>
                </a:tc>
              </a:tr>
              <a:tr h="4207889">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000" b="0" i="0" u="none" strike="noStrike" cap="none" dirty="0" smtClean="0">
                          <a:solidFill>
                            <a:schemeClr val="dk1"/>
                          </a:solidFill>
                          <a:latin typeface="+mn-lt"/>
                          <a:ea typeface="+mn-ea"/>
                          <a:cs typeface="+mn-cs"/>
                          <a:sym typeface="Arial"/>
                        </a:rPr>
                        <a:t>Trámites de constitución más simples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000" b="0" i="0" u="none" strike="noStrike" cap="none" dirty="0" smtClean="0">
                          <a:solidFill>
                            <a:schemeClr val="dk1"/>
                          </a:solidFill>
                          <a:latin typeface="+mn-lt"/>
                          <a:ea typeface="+mn-ea"/>
                          <a:cs typeface="+mn-cs"/>
                          <a:sym typeface="Arial"/>
                        </a:rPr>
                        <a:t>No se exige capital mínimo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000" b="0" i="0" u="none" strike="noStrike" cap="none" dirty="0" smtClean="0">
                          <a:solidFill>
                            <a:schemeClr val="dk1"/>
                          </a:solidFill>
                          <a:latin typeface="+mn-lt"/>
                          <a:ea typeface="+mn-ea"/>
                          <a:cs typeface="+mn-cs"/>
                          <a:sym typeface="Arial"/>
                        </a:rPr>
                        <a:t>En caso de que se tribute menos del 25% por IRPF será mejor que el Impuesto Sobre Sociedades.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000" b="0" i="0" u="none" strike="noStrike" cap="none" dirty="0" smtClean="0">
                          <a:solidFill>
                            <a:schemeClr val="dk1"/>
                          </a:solidFill>
                          <a:latin typeface="+mn-lt"/>
                          <a:ea typeface="+mn-ea"/>
                          <a:cs typeface="+mn-cs"/>
                          <a:sym typeface="Arial"/>
                        </a:rPr>
                        <a:t>El empresario tiene control total sobre la empresa.</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000" b="0" i="0" u="none" strike="noStrike" cap="none" dirty="0" smtClean="0">
                          <a:solidFill>
                            <a:schemeClr val="dk1"/>
                          </a:solidFill>
                          <a:latin typeface="+mn-lt"/>
                          <a:ea typeface="+mn-ea"/>
                          <a:cs typeface="+mn-cs"/>
                          <a:sym typeface="Arial"/>
                        </a:rPr>
                        <a:t>Existen ayudas públicas para su creación</a:t>
                      </a:r>
                      <a:endParaRPr lang="es-ES" sz="3000" b="0" i="0" u="none" strike="noStrike" cap="none" dirty="0">
                        <a:solidFill>
                          <a:schemeClr val="dk1"/>
                        </a:solidFill>
                        <a:latin typeface="+mn-lt"/>
                        <a:ea typeface="+mn-ea"/>
                        <a:cs typeface="+mn-cs"/>
                        <a:sym typeface="Arial"/>
                      </a:endParaRPr>
                    </a:p>
                  </a:txBody>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000" b="0" i="0" u="none" strike="noStrike" cap="none" dirty="0" smtClean="0">
                          <a:solidFill>
                            <a:schemeClr val="dk1"/>
                          </a:solidFill>
                          <a:latin typeface="+mn-lt"/>
                          <a:ea typeface="+mn-ea"/>
                          <a:cs typeface="+mn-cs"/>
                          <a:sym typeface="Arial"/>
                        </a:rPr>
                        <a:t>Responsabilidad Ilimitada</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000" b="0" i="0" u="none" strike="noStrike" cap="none" dirty="0" smtClean="0">
                          <a:solidFill>
                            <a:schemeClr val="dk1"/>
                          </a:solidFill>
                          <a:latin typeface="+mn-lt"/>
                          <a:ea typeface="+mn-ea"/>
                          <a:cs typeface="+mn-cs"/>
                          <a:sym typeface="Arial"/>
                        </a:rPr>
                        <a:t>El peso de la constitución y gestión recae sobre una única persona</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000" b="0" i="0" u="none" strike="noStrike" cap="none" dirty="0" smtClean="0">
                          <a:solidFill>
                            <a:schemeClr val="dk1"/>
                          </a:solidFill>
                          <a:latin typeface="+mn-lt"/>
                          <a:ea typeface="+mn-ea"/>
                          <a:cs typeface="+mn-cs"/>
                          <a:sym typeface="Arial"/>
                        </a:rPr>
                        <a:t>Si el empresario-a está casad@ la responsabilidad puede alcanzar al cónyuge.</a:t>
                      </a:r>
                      <a:endParaRPr lang="es-ES" sz="3000" b="0" i="0" u="none" strike="noStrike" cap="none" dirty="0">
                        <a:solidFill>
                          <a:schemeClr val="dk1"/>
                        </a:solidFill>
                        <a:latin typeface="+mn-lt"/>
                        <a:ea typeface="+mn-ea"/>
                        <a:cs typeface="+mn-cs"/>
                        <a:sym typeface="Arial"/>
                      </a:endParaRPr>
                    </a:p>
                  </a:txBody>
                  <a:tcPr/>
                </a:tc>
              </a:tr>
            </a:tbl>
          </a:graphicData>
        </a:graphic>
      </p:graphicFrame>
      <p:sp>
        <p:nvSpPr>
          <p:cNvPr id="8" name="Título 1"/>
          <p:cNvSpPr>
            <a:spLocks noGrp="1"/>
          </p:cNvSpPr>
          <p:nvPr/>
        </p:nvSpPr>
        <p:spPr>
          <a:xfrm>
            <a:off x="3135383" y="435653"/>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Ventajas e inconvenientes de las principales formas jurídicas</a:t>
            </a:r>
            <a:endParaRPr lang="es-ES" sz="2800" b="1" dirty="0">
              <a:latin typeface="+mn-lt"/>
            </a:endParaRPr>
          </a:p>
        </p:txBody>
      </p:sp>
    </p:spTree>
    <p:extLst>
      <p:ext uri="{BB962C8B-B14F-4D97-AF65-F5344CB8AC3E}">
        <p14:creationId xmlns:p14="http://schemas.microsoft.com/office/powerpoint/2010/main" val="18534039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9;p3"/>
          <p:cNvSpPr/>
          <p:nvPr/>
        </p:nvSpPr>
        <p:spPr>
          <a:xfrm>
            <a:off x="16788742" y="343704"/>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 name="Google Shape;102;p3"/>
          <p:cNvSpPr/>
          <p:nvPr/>
        </p:nvSpPr>
        <p:spPr>
          <a:xfrm>
            <a:off x="13735159" y="9270124"/>
            <a:ext cx="4206000" cy="863546"/>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aphicFrame>
        <p:nvGraphicFramePr>
          <p:cNvPr id="9" name="8 Tabla"/>
          <p:cNvGraphicFramePr>
            <a:graphicFrameLocks noGrp="1"/>
          </p:cNvGraphicFramePr>
          <p:nvPr>
            <p:extLst>
              <p:ext uri="{D42A27DB-BD31-4B8C-83A1-F6EECF244321}">
                <p14:modId xmlns:p14="http://schemas.microsoft.com/office/powerpoint/2010/main" val="3682928925"/>
              </p:ext>
            </p:extLst>
          </p:nvPr>
        </p:nvGraphicFramePr>
        <p:xfrm>
          <a:off x="441434" y="343704"/>
          <a:ext cx="15618372" cy="9011887"/>
        </p:xfrm>
        <a:graphic>
          <a:graphicData uri="http://schemas.openxmlformats.org/drawingml/2006/table">
            <a:tbl>
              <a:tblPr firstRow="1" bandRow="1">
                <a:tableStyleId>{7DF18680-E054-41AD-8BC1-D1AEF772440D}</a:tableStyleId>
              </a:tblPr>
              <a:tblGrid>
                <a:gridCol w="7809186"/>
                <a:gridCol w="7809186"/>
              </a:tblGrid>
              <a:tr h="1319800">
                <a:tc gridSpan="2">
                  <a:txBody>
                    <a:bodyPr/>
                    <a:lstStyle/>
                    <a:p>
                      <a:pPr algn="ctr"/>
                      <a:r>
                        <a:rPr lang="es-ES" sz="3200" dirty="0" smtClean="0"/>
                        <a:t>SOCIEDAD LIMITADA</a:t>
                      </a:r>
                      <a:endParaRPr lang="es-ES" sz="3200" dirty="0"/>
                    </a:p>
                  </a:txBody>
                  <a:tcPr/>
                </a:tc>
                <a:tc hMerge="1">
                  <a:txBody>
                    <a:bodyPr/>
                    <a:lstStyle/>
                    <a:p>
                      <a:endParaRPr lang="es-ES" dirty="0"/>
                    </a:p>
                  </a:txBody>
                  <a:tcPr/>
                </a:tc>
              </a:tr>
              <a:tr h="773127">
                <a:tc>
                  <a:txBody>
                    <a:bodyPr/>
                    <a:lstStyle/>
                    <a:p>
                      <a:pPr algn="ctr"/>
                      <a:r>
                        <a:rPr lang="es-ES" sz="3200" dirty="0" smtClean="0"/>
                        <a:t>VENTAJAS</a:t>
                      </a:r>
                      <a:endParaRPr lang="es-ES" sz="3200" dirty="0"/>
                    </a:p>
                  </a:txBody>
                  <a:tcPr/>
                </a:tc>
                <a:tc>
                  <a:txBody>
                    <a:bodyPr/>
                    <a:lstStyle/>
                    <a:p>
                      <a:pPr algn="ctr"/>
                      <a:r>
                        <a:rPr lang="es-ES" sz="3200" dirty="0" smtClean="0"/>
                        <a:t>INCONVENIENTES</a:t>
                      </a:r>
                      <a:endParaRPr lang="es-ES" sz="3200" dirty="0"/>
                    </a:p>
                  </a:txBody>
                  <a:tcPr/>
                </a:tc>
              </a:tr>
              <a:tr h="4207889">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Responsabilidad limitada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Los socios están registrados, por lo que podemos conocer fácilmente la identidad de los mismos.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Los órganos de funcionamiento son más simples que los de las S.A.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No existe obligación de publicar en periódicos determinados acuerdos (cambio de domicilio, denominación....), a diferencia de las S.A.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Las participaciones no se pueden transmitir libremente. Por lo que nuestros socios no las pueden vender a cualquiera sin nuestro permiso</a:t>
                      </a:r>
                      <a:endParaRPr lang="es-ES" sz="3000" b="0" i="0" u="none" strike="noStrike" cap="none" dirty="0">
                        <a:solidFill>
                          <a:schemeClr val="dk1"/>
                        </a:solidFill>
                        <a:latin typeface="+mn-lt"/>
                        <a:ea typeface="+mn-ea"/>
                        <a:cs typeface="+mn-cs"/>
                        <a:sym typeface="Arial"/>
                      </a:endParaRPr>
                    </a:p>
                  </a:txBody>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No se pueden transmitir libremente las participaciones.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Las participaciones no pueden cotizar en bolsa.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Se deben realizar auditorías de cuentas en los casos exigidos por la ley</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En muchas ocasiones, las entidades financieras sólo conceden préstamos si el empresario lo avala con su patrimonio, pasando a ser la responsabilidad ilimitada.</a:t>
                      </a:r>
                      <a:endParaRPr lang="es-ES" sz="3000" b="0" i="0" u="none" strike="noStrike" cap="none" dirty="0">
                        <a:solidFill>
                          <a:schemeClr val="dk1"/>
                        </a:solidFill>
                        <a:latin typeface="+mn-lt"/>
                        <a:ea typeface="+mn-ea"/>
                        <a:cs typeface="+mn-cs"/>
                        <a:sym typeface="Arial"/>
                      </a:endParaRPr>
                    </a:p>
                  </a:txBody>
                  <a:tcPr/>
                </a:tc>
              </a:tr>
            </a:tbl>
          </a:graphicData>
        </a:graphic>
      </p:graphicFrame>
    </p:spTree>
    <p:extLst>
      <p:ext uri="{BB962C8B-B14F-4D97-AF65-F5344CB8AC3E}">
        <p14:creationId xmlns:p14="http://schemas.microsoft.com/office/powerpoint/2010/main" val="4267513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9;p3"/>
          <p:cNvSpPr/>
          <p:nvPr/>
        </p:nvSpPr>
        <p:spPr>
          <a:xfrm>
            <a:off x="16728090" y="293930"/>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 name="Google Shape;102;p3"/>
          <p:cNvSpPr/>
          <p:nvPr/>
        </p:nvSpPr>
        <p:spPr>
          <a:xfrm>
            <a:off x="13356240" y="8930718"/>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aphicFrame>
        <p:nvGraphicFramePr>
          <p:cNvPr id="10" name="9 Tabla"/>
          <p:cNvGraphicFramePr>
            <a:graphicFrameLocks noGrp="1"/>
          </p:cNvGraphicFramePr>
          <p:nvPr>
            <p:extLst>
              <p:ext uri="{D42A27DB-BD31-4B8C-83A1-F6EECF244321}">
                <p14:modId xmlns:p14="http://schemas.microsoft.com/office/powerpoint/2010/main" val="3662077892"/>
              </p:ext>
            </p:extLst>
          </p:nvPr>
        </p:nvGraphicFramePr>
        <p:xfrm>
          <a:off x="1340069" y="1731070"/>
          <a:ext cx="15618372" cy="6300816"/>
        </p:xfrm>
        <a:graphic>
          <a:graphicData uri="http://schemas.openxmlformats.org/drawingml/2006/table">
            <a:tbl>
              <a:tblPr firstRow="1" bandRow="1">
                <a:tableStyleId>{7DF18680-E054-41AD-8BC1-D1AEF772440D}</a:tableStyleId>
              </a:tblPr>
              <a:tblGrid>
                <a:gridCol w="7809186"/>
                <a:gridCol w="7809186"/>
              </a:tblGrid>
              <a:tr h="1319800">
                <a:tc gridSpan="2">
                  <a:txBody>
                    <a:bodyPr/>
                    <a:lstStyle/>
                    <a:p>
                      <a:pPr algn="ctr"/>
                      <a:r>
                        <a:rPr lang="es-ES" sz="3200" dirty="0" smtClean="0"/>
                        <a:t>SOCIEDAD ANÓNIMA</a:t>
                      </a:r>
                      <a:endParaRPr lang="es-ES" sz="3200" dirty="0"/>
                    </a:p>
                  </a:txBody>
                  <a:tcPr/>
                </a:tc>
                <a:tc hMerge="1">
                  <a:txBody>
                    <a:bodyPr/>
                    <a:lstStyle/>
                    <a:p>
                      <a:endParaRPr lang="es-ES" dirty="0"/>
                    </a:p>
                  </a:txBody>
                  <a:tcPr/>
                </a:tc>
              </a:tr>
              <a:tr h="773127">
                <a:tc>
                  <a:txBody>
                    <a:bodyPr/>
                    <a:lstStyle/>
                    <a:p>
                      <a:pPr algn="ctr"/>
                      <a:r>
                        <a:rPr lang="es-ES" sz="3200" dirty="0" smtClean="0"/>
                        <a:t>VENTAJAS</a:t>
                      </a:r>
                      <a:endParaRPr lang="es-ES" sz="3200" dirty="0"/>
                    </a:p>
                  </a:txBody>
                  <a:tcPr/>
                </a:tc>
                <a:tc>
                  <a:txBody>
                    <a:bodyPr/>
                    <a:lstStyle/>
                    <a:p>
                      <a:pPr algn="ctr"/>
                      <a:r>
                        <a:rPr lang="es-ES" sz="3200" dirty="0" smtClean="0"/>
                        <a:t>INCONVENIENTES</a:t>
                      </a:r>
                      <a:endParaRPr lang="es-ES" sz="3200" dirty="0"/>
                    </a:p>
                  </a:txBody>
                  <a:tcPr/>
                </a:tc>
              </a:tr>
              <a:tr h="4207889">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La forma de constitución y transmisión facilita la acumulación de un gran capital.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Fácil transmisión de acciones.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Responsabilidad limitada </a:t>
                      </a:r>
                      <a:endParaRPr lang="es-ES" sz="3000" b="0" i="0" u="none" strike="noStrike" cap="none" dirty="0">
                        <a:solidFill>
                          <a:schemeClr val="dk1"/>
                        </a:solidFill>
                        <a:latin typeface="+mn-lt"/>
                        <a:ea typeface="+mn-ea"/>
                        <a:cs typeface="+mn-cs"/>
                        <a:sym typeface="Arial"/>
                      </a:endParaRPr>
                    </a:p>
                  </a:txBody>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Capital mínimo de 60.101´21€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Costes de constitución elevados.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Escaso control por parte de la sociedad del capital.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Mayor complejidad de funcionamiento.</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Tienen que realizar auditorías de cuentas en determinados casos.</a:t>
                      </a:r>
                      <a:endParaRPr lang="es-ES" sz="3000" b="0" i="0" u="none" strike="noStrike" cap="none" dirty="0">
                        <a:solidFill>
                          <a:schemeClr val="dk1"/>
                        </a:solidFill>
                        <a:latin typeface="+mn-lt"/>
                        <a:ea typeface="+mn-ea"/>
                        <a:cs typeface="+mn-cs"/>
                        <a:sym typeface="Arial"/>
                      </a:endParaRPr>
                    </a:p>
                  </a:txBody>
                  <a:tcPr/>
                </a:tc>
              </a:tr>
            </a:tbl>
          </a:graphicData>
        </a:graphic>
      </p:graphicFrame>
    </p:spTree>
    <p:extLst>
      <p:ext uri="{BB962C8B-B14F-4D97-AF65-F5344CB8AC3E}">
        <p14:creationId xmlns:p14="http://schemas.microsoft.com/office/powerpoint/2010/main" val="14973400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770678" y="33501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8930718"/>
            <a:ext cx="21145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aphicFrame>
        <p:nvGraphicFramePr>
          <p:cNvPr id="7" name="6 Tabla"/>
          <p:cNvGraphicFramePr>
            <a:graphicFrameLocks noGrp="1"/>
          </p:cNvGraphicFramePr>
          <p:nvPr>
            <p:extLst>
              <p:ext uri="{D42A27DB-BD31-4B8C-83A1-F6EECF244321}">
                <p14:modId xmlns:p14="http://schemas.microsoft.com/office/powerpoint/2010/main" val="2035749632"/>
              </p:ext>
            </p:extLst>
          </p:nvPr>
        </p:nvGraphicFramePr>
        <p:xfrm>
          <a:off x="1421853" y="1541884"/>
          <a:ext cx="15618372" cy="7061167"/>
        </p:xfrm>
        <a:graphic>
          <a:graphicData uri="http://schemas.openxmlformats.org/drawingml/2006/table">
            <a:tbl>
              <a:tblPr firstRow="1" bandRow="1">
                <a:tableStyleId>{7DF18680-E054-41AD-8BC1-D1AEF772440D}</a:tableStyleId>
              </a:tblPr>
              <a:tblGrid>
                <a:gridCol w="7809186"/>
                <a:gridCol w="7809186"/>
              </a:tblGrid>
              <a:tr h="1319800">
                <a:tc gridSpan="2">
                  <a:txBody>
                    <a:bodyPr/>
                    <a:lstStyle/>
                    <a:p>
                      <a:pPr algn="ctr"/>
                      <a:r>
                        <a:rPr lang="es-ES" sz="3200" dirty="0" smtClean="0"/>
                        <a:t>SOCIEDAD COOPERATIVA</a:t>
                      </a:r>
                      <a:endParaRPr lang="es-ES" sz="3200" dirty="0"/>
                    </a:p>
                  </a:txBody>
                  <a:tcPr/>
                </a:tc>
                <a:tc hMerge="1">
                  <a:txBody>
                    <a:bodyPr/>
                    <a:lstStyle/>
                    <a:p>
                      <a:endParaRPr lang="es-ES" dirty="0"/>
                    </a:p>
                  </a:txBody>
                  <a:tcPr/>
                </a:tc>
              </a:tr>
              <a:tr h="773127">
                <a:tc>
                  <a:txBody>
                    <a:bodyPr/>
                    <a:lstStyle/>
                    <a:p>
                      <a:pPr algn="ctr"/>
                      <a:r>
                        <a:rPr lang="es-ES" sz="3200" dirty="0" smtClean="0"/>
                        <a:t>VENTAJAS</a:t>
                      </a:r>
                      <a:endParaRPr lang="es-ES" sz="3200" dirty="0"/>
                    </a:p>
                  </a:txBody>
                  <a:tcPr/>
                </a:tc>
                <a:tc>
                  <a:txBody>
                    <a:bodyPr/>
                    <a:lstStyle/>
                    <a:p>
                      <a:pPr algn="ctr"/>
                      <a:r>
                        <a:rPr lang="es-ES" sz="3200" dirty="0" smtClean="0"/>
                        <a:t>INCONVENIENTES</a:t>
                      </a:r>
                      <a:endParaRPr lang="es-ES" sz="3200" dirty="0"/>
                    </a:p>
                  </a:txBody>
                  <a:tcPr/>
                </a:tc>
              </a:tr>
              <a:tr h="4207889">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La forma más participativa y democrática.</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Ayudas y bonificaciones específicas.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Se puede obtener la calificación de “Cooperativa Fiscalmente Protegida”, lo que implica un tipo del 20% del IS (25% para otro tipo de empresas), que puede llegar a un 10% y diversas ventajas en otros impuestos </a:t>
                      </a:r>
                      <a:endParaRPr lang="es-ES" sz="3000" b="0" i="0" u="none" strike="noStrike" cap="none" dirty="0">
                        <a:solidFill>
                          <a:schemeClr val="dk1"/>
                        </a:solidFill>
                        <a:latin typeface="+mn-lt"/>
                        <a:ea typeface="+mn-ea"/>
                        <a:cs typeface="+mn-cs"/>
                        <a:sym typeface="Arial"/>
                      </a:endParaRPr>
                    </a:p>
                  </a:txBody>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Exige un alto grado de entendimiento entre los socios.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El sueldo de los socios trabajadores no es fijo, sino que varía en función de la marcha de la cooperativa.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Mayor complejidad en los trámites de constitución. </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s-ES" sz="3200" dirty="0" smtClean="0"/>
                        <a:t>Obligación de dotar cada ejercicio un fondo de reserva obligatorio y un fondo de educación y promoción cooperativa</a:t>
                      </a:r>
                      <a:endParaRPr lang="es-ES" sz="3000" b="0" i="0" u="none" strike="noStrike" cap="none" dirty="0">
                        <a:solidFill>
                          <a:schemeClr val="dk1"/>
                        </a:solidFill>
                        <a:latin typeface="+mn-lt"/>
                        <a:ea typeface="+mn-ea"/>
                        <a:cs typeface="+mn-cs"/>
                        <a:sym typeface="Arial"/>
                      </a:endParaRPr>
                    </a:p>
                  </a:txBody>
                  <a:tcPr/>
                </a:tc>
              </a:tr>
            </a:tbl>
          </a:graphicData>
        </a:graphic>
      </p:graphicFrame>
    </p:spTree>
    <p:extLst>
      <p:ext uri="{BB962C8B-B14F-4D97-AF65-F5344CB8AC3E}">
        <p14:creationId xmlns:p14="http://schemas.microsoft.com/office/powerpoint/2010/main" val="14063960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9;p3"/>
          <p:cNvSpPr/>
          <p:nvPr/>
        </p:nvSpPr>
        <p:spPr>
          <a:xfrm>
            <a:off x="16871512" y="382314"/>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 name="Google Shape;102;p3"/>
          <p:cNvSpPr/>
          <p:nvPr/>
        </p:nvSpPr>
        <p:spPr>
          <a:xfrm>
            <a:off x="16234760" y="9598972"/>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0;p3"/>
          <p:cNvSpPr txBox="1"/>
          <p:nvPr/>
        </p:nvSpPr>
        <p:spPr>
          <a:xfrm>
            <a:off x="1153068" y="374863"/>
            <a:ext cx="14628213" cy="991041"/>
          </a:xfrm>
          <a:prstGeom prst="rect">
            <a:avLst/>
          </a:prstGeom>
          <a:noFill/>
          <a:ln>
            <a:noFill/>
          </a:ln>
        </p:spPr>
        <p:txBody>
          <a:bodyPr spcFirstLastPara="1" wrap="square" lIns="0" tIns="0" rIns="0" bIns="0" anchor="t" anchorCtr="0">
            <a:spAutoFit/>
          </a:bodyPr>
          <a:lstStyle/>
          <a:p>
            <a:pPr marR="0" lvl="0" algn="l" rtl="0">
              <a:lnSpc>
                <a:spcPct val="140000"/>
              </a:lnSpc>
              <a:spcBef>
                <a:spcPts val="0"/>
              </a:spcBef>
              <a:spcAft>
                <a:spcPts val="0"/>
              </a:spcAft>
              <a:buClr>
                <a:srgbClr val="1B3440"/>
              </a:buClr>
              <a:buSzPts val="4600"/>
            </a:pPr>
            <a:r>
              <a:rPr lang="en-US" sz="4600" dirty="0" smtClean="0">
                <a:solidFill>
                  <a:srgbClr val="1B3440"/>
                </a:solidFill>
                <a:latin typeface="Poppins"/>
                <a:ea typeface="Poppins"/>
                <a:cs typeface="Poppins"/>
                <a:sym typeface="Poppins"/>
              </a:rPr>
              <a:t>2. La </a:t>
            </a:r>
            <a:r>
              <a:rPr lang="en-US" sz="4600" dirty="0" err="1" smtClean="0">
                <a:solidFill>
                  <a:srgbClr val="1B3440"/>
                </a:solidFill>
                <a:latin typeface="Poppins"/>
                <a:ea typeface="Poppins"/>
                <a:cs typeface="Poppins"/>
                <a:sym typeface="Poppins"/>
              </a:rPr>
              <a:t>fiscalidad</a:t>
            </a:r>
            <a:r>
              <a:rPr lang="en-US" sz="4600" dirty="0" smtClean="0">
                <a:solidFill>
                  <a:srgbClr val="1B3440"/>
                </a:solidFill>
                <a:latin typeface="Poppins"/>
                <a:ea typeface="Poppins"/>
                <a:cs typeface="Poppins"/>
                <a:sym typeface="Poppins"/>
              </a:rPr>
              <a:t> de las </a:t>
            </a:r>
            <a:r>
              <a:rPr lang="en-US" sz="4600" dirty="0" err="1" smtClean="0">
                <a:solidFill>
                  <a:srgbClr val="1B3440"/>
                </a:solidFill>
                <a:latin typeface="Poppins"/>
                <a:ea typeface="Poppins"/>
                <a:cs typeface="Poppins"/>
                <a:sym typeface="Poppins"/>
              </a:rPr>
              <a:t>empresas</a:t>
            </a:r>
            <a:endParaRPr lang="en-US" sz="4600" b="0" i="0" u="none" dirty="0" smtClean="0">
              <a:solidFill>
                <a:srgbClr val="1B3440"/>
              </a:solidFill>
              <a:latin typeface="Poppins"/>
              <a:ea typeface="Poppins"/>
              <a:cs typeface="Poppins"/>
              <a:sym typeface="Poppins"/>
            </a:endParaRPr>
          </a:p>
        </p:txBody>
      </p:sp>
      <p:sp>
        <p:nvSpPr>
          <p:cNvPr id="8" name="7 Pergamino horizontal"/>
          <p:cNvSpPr/>
          <p:nvPr/>
        </p:nvSpPr>
        <p:spPr>
          <a:xfrm>
            <a:off x="1058040" y="2128346"/>
            <a:ext cx="15365905" cy="774169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3200" b="1" dirty="0"/>
              <a:t>EMPRESARIO INDIVIDUAL Y COMUNIDADES DE BIENES: </a:t>
            </a:r>
            <a:endParaRPr lang="es-ES" sz="3200" b="1" dirty="0" smtClean="0"/>
          </a:p>
          <a:p>
            <a:pPr marL="457200" indent="-457200">
              <a:buFont typeface="Arial" panose="020B0604020202020204" pitchFamily="34" charset="0"/>
              <a:buChar char="•"/>
            </a:pPr>
            <a:r>
              <a:rPr lang="es-ES" sz="3200" dirty="0" smtClean="0"/>
              <a:t>Impuesto </a:t>
            </a:r>
            <a:r>
              <a:rPr lang="es-ES" sz="3200" dirty="0"/>
              <a:t>sobre la Renta de las Personas Físicas (</a:t>
            </a:r>
            <a:r>
              <a:rPr lang="es-ES" sz="3200" dirty="0" smtClean="0"/>
              <a:t>IRPF)</a:t>
            </a:r>
          </a:p>
          <a:p>
            <a:pPr marL="457200" indent="-457200">
              <a:buFont typeface="Arial" panose="020B0604020202020204" pitchFamily="34" charset="0"/>
              <a:buChar char="•"/>
            </a:pPr>
            <a:r>
              <a:rPr lang="es-ES" sz="3200" dirty="0" smtClean="0"/>
              <a:t>Impuesto </a:t>
            </a:r>
            <a:r>
              <a:rPr lang="es-ES" sz="3200" dirty="0"/>
              <a:t>sobre el Valor Añadido (IVA) </a:t>
            </a:r>
            <a:endParaRPr lang="es-ES" sz="3200" dirty="0" smtClean="0"/>
          </a:p>
          <a:p>
            <a:pPr marL="457200" indent="-457200">
              <a:buFont typeface="Arial" panose="020B0604020202020204" pitchFamily="34" charset="0"/>
              <a:buChar char="•"/>
            </a:pPr>
            <a:endParaRPr lang="es-ES" sz="3200" dirty="0"/>
          </a:p>
          <a:p>
            <a:r>
              <a:rPr lang="es-ES" sz="3200" b="1" dirty="0" smtClean="0"/>
              <a:t>SOCIEDADES MERCANTILES</a:t>
            </a:r>
            <a:r>
              <a:rPr lang="es-ES" sz="3200" dirty="0" smtClean="0"/>
              <a:t>:</a:t>
            </a:r>
          </a:p>
          <a:p>
            <a:pPr marL="457200" indent="-457200">
              <a:buFont typeface="Arial" panose="020B0604020202020204" pitchFamily="34" charset="0"/>
              <a:buChar char="•"/>
            </a:pPr>
            <a:r>
              <a:rPr lang="es-ES" sz="3200" dirty="0" smtClean="0"/>
              <a:t>Impuesto </a:t>
            </a:r>
            <a:r>
              <a:rPr lang="es-ES" sz="3200" dirty="0"/>
              <a:t>sobre Actividades Económicas (</a:t>
            </a:r>
            <a:r>
              <a:rPr lang="es-ES" sz="3200" dirty="0" smtClean="0"/>
              <a:t>IAE)</a:t>
            </a:r>
          </a:p>
          <a:p>
            <a:pPr marL="457200" indent="-457200">
              <a:buFont typeface="Arial" panose="020B0604020202020204" pitchFamily="34" charset="0"/>
              <a:buChar char="•"/>
            </a:pPr>
            <a:r>
              <a:rPr lang="es-ES" sz="3200" dirty="0" smtClean="0"/>
              <a:t>Impuesto </a:t>
            </a:r>
            <a:r>
              <a:rPr lang="es-ES" sz="3200" dirty="0"/>
              <a:t>sobre sociedades (</a:t>
            </a:r>
            <a:r>
              <a:rPr lang="es-ES" sz="3200" dirty="0" smtClean="0"/>
              <a:t>IS)</a:t>
            </a:r>
          </a:p>
          <a:p>
            <a:pPr marL="457200" indent="-457200">
              <a:buFont typeface="Arial" panose="020B0604020202020204" pitchFamily="34" charset="0"/>
              <a:buChar char="•"/>
            </a:pPr>
            <a:r>
              <a:rPr lang="es-ES" sz="3200" dirty="0" smtClean="0"/>
              <a:t>Impuesto </a:t>
            </a:r>
            <a:r>
              <a:rPr lang="es-ES" sz="3200" dirty="0"/>
              <a:t>sobre el Valor Añadido (IVA)</a:t>
            </a:r>
          </a:p>
        </p:txBody>
      </p:sp>
      <p:sp>
        <p:nvSpPr>
          <p:cNvPr id="9" name="Título 1"/>
          <p:cNvSpPr>
            <a:spLocks noGrp="1"/>
          </p:cNvSpPr>
          <p:nvPr/>
        </p:nvSpPr>
        <p:spPr>
          <a:xfrm>
            <a:off x="3167286" y="1414189"/>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Impuestos que deben pagar las distintas empresas</a:t>
            </a:r>
            <a:endParaRPr lang="es-ES" sz="2800" b="1" dirty="0">
              <a:latin typeface="+mn-lt"/>
            </a:endParaRPr>
          </a:p>
        </p:txBody>
      </p:sp>
    </p:spTree>
    <p:extLst>
      <p:ext uri="{BB962C8B-B14F-4D97-AF65-F5344CB8AC3E}">
        <p14:creationId xmlns:p14="http://schemas.microsoft.com/office/powerpoint/2010/main" val="1483107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 name="6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800" b="1" dirty="0"/>
              <a:t>DECLARACIÓN O RELACIÓN ANUAL DE OPERACIONES CON TERCERAS </a:t>
            </a:r>
            <a:r>
              <a:rPr lang="es-ES" sz="2800" b="1" dirty="0" smtClean="0"/>
              <a:t>PERSONAS: </a:t>
            </a:r>
          </a:p>
          <a:p>
            <a:r>
              <a:rPr lang="es-ES" sz="2800" dirty="0"/>
              <a:t>• Declaración anual de sus operaciones en la que se relacionará a todas las personas, sociedades o entidades con quienes hayan efectuado operaciones que en su conjunto hayan superado los 3000 €</a:t>
            </a:r>
            <a:r>
              <a:rPr lang="es-ES" sz="2800" dirty="0" smtClean="0"/>
              <a:t>.</a:t>
            </a:r>
          </a:p>
          <a:p>
            <a:endParaRPr lang="es-ES" sz="2800" dirty="0" smtClean="0"/>
          </a:p>
          <a:p>
            <a:r>
              <a:rPr lang="es-ES" sz="2800" b="1" dirty="0"/>
              <a:t>RETENCIONES E INGRESOS A </a:t>
            </a:r>
            <a:r>
              <a:rPr lang="es-ES" sz="2800" b="1" dirty="0" smtClean="0"/>
              <a:t>CUENTA:</a:t>
            </a:r>
          </a:p>
          <a:p>
            <a:pPr marL="457200" indent="-457200">
              <a:buFont typeface="Arial" panose="020B0604020202020204" pitchFamily="34" charset="0"/>
              <a:buChar char="•"/>
            </a:pPr>
            <a:r>
              <a:rPr lang="es-ES" sz="2800" dirty="0" smtClean="0"/>
              <a:t>Retener </a:t>
            </a:r>
            <a:r>
              <a:rPr lang="es-ES" sz="2800" dirty="0"/>
              <a:t>una parte de la renta y después ingresar dicha parte retenida en la Agencia </a:t>
            </a:r>
            <a:r>
              <a:rPr lang="es-ES" sz="2800" dirty="0" smtClean="0"/>
              <a:t>Tributaria:</a:t>
            </a:r>
          </a:p>
          <a:p>
            <a:r>
              <a:rPr lang="es-ES" sz="2800" dirty="0"/>
              <a:t>	</a:t>
            </a:r>
            <a:r>
              <a:rPr lang="es-ES" sz="2800" dirty="0" smtClean="0"/>
              <a:t>- Rendimientos </a:t>
            </a:r>
            <a:r>
              <a:rPr lang="es-ES" sz="2800" dirty="0"/>
              <a:t>del trabajo (sueldos, salarios, gratificaciones, etc.). </a:t>
            </a:r>
            <a:endParaRPr lang="es-ES" sz="2800" dirty="0" smtClean="0"/>
          </a:p>
          <a:p>
            <a:r>
              <a:rPr lang="es-ES" sz="2800" dirty="0"/>
              <a:t>	</a:t>
            </a:r>
            <a:r>
              <a:rPr lang="es-ES" sz="2800" dirty="0" smtClean="0"/>
              <a:t>- El </a:t>
            </a:r>
            <a:r>
              <a:rPr lang="es-ES" sz="2800" dirty="0"/>
              <a:t>porcentaje a retener depende del sueldo anual y del número de </a:t>
            </a:r>
            <a:r>
              <a:rPr lang="es-ES" sz="2800" dirty="0" smtClean="0"/>
              <a:t>hijos.</a:t>
            </a:r>
          </a:p>
          <a:p>
            <a:r>
              <a:rPr lang="es-ES" sz="2800" dirty="0"/>
              <a:t>	</a:t>
            </a:r>
            <a:r>
              <a:rPr lang="es-ES" sz="2800" dirty="0" smtClean="0"/>
              <a:t>- Rendimientos </a:t>
            </a:r>
            <a:r>
              <a:rPr lang="es-ES" sz="2800" dirty="0"/>
              <a:t>del capital mobiliario (dividendos, intereses, etc.). 19 </a:t>
            </a:r>
            <a:r>
              <a:rPr lang="es-ES" sz="2800" dirty="0" smtClean="0"/>
              <a:t>%</a:t>
            </a:r>
          </a:p>
          <a:p>
            <a:r>
              <a:rPr lang="es-ES" sz="2800" dirty="0"/>
              <a:t>	</a:t>
            </a:r>
            <a:r>
              <a:rPr lang="es-ES" sz="2800" dirty="0" smtClean="0"/>
              <a:t>- Rendimientos </a:t>
            </a:r>
            <a:r>
              <a:rPr lang="es-ES" sz="2800" dirty="0"/>
              <a:t>de actividades profesionales (minutas de abogados, asesores, etc.). 19 </a:t>
            </a:r>
            <a:r>
              <a:rPr lang="es-ES" sz="2800" dirty="0" smtClean="0"/>
              <a:t>%</a:t>
            </a:r>
          </a:p>
          <a:p>
            <a:r>
              <a:rPr lang="es-ES" sz="2800" dirty="0"/>
              <a:t>	</a:t>
            </a:r>
            <a:r>
              <a:rPr lang="es-ES" sz="2800" dirty="0" smtClean="0"/>
              <a:t>- Retenciones </a:t>
            </a:r>
            <a:r>
              <a:rPr lang="es-ES" sz="2800" dirty="0"/>
              <a:t>sobre los premios, sujetos al IRPF, que se obtienen en juegos, concursos, rifas, etc. 15% ∙Rendimientos del capital inmobiliario procedentes del arrendamiento de inmuebles urbanos. 19 %</a:t>
            </a:r>
            <a:endParaRPr lang="es-ES" sz="2800" b="1" dirty="0"/>
          </a:p>
        </p:txBody>
      </p:sp>
      <p:sp>
        <p:nvSpPr>
          <p:cNvPr id="8"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Obligaciones fiscales</a:t>
            </a:r>
            <a:endParaRPr lang="es-ES" sz="2800" b="1" dirty="0">
              <a:latin typeface="+mn-lt"/>
            </a:endParaRPr>
          </a:p>
        </p:txBody>
      </p:sp>
    </p:spTree>
    <p:extLst>
      <p:ext uri="{BB962C8B-B14F-4D97-AF65-F5344CB8AC3E}">
        <p14:creationId xmlns:p14="http://schemas.microsoft.com/office/powerpoint/2010/main" val="3100736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 name="6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800" b="1" dirty="0" smtClean="0"/>
              <a:t>IMPUESTO </a:t>
            </a:r>
            <a:r>
              <a:rPr lang="es-ES" sz="2800" b="1" dirty="0"/>
              <a:t>SOBRE BIENES INMUEBLES (IBI) </a:t>
            </a:r>
            <a:endParaRPr lang="es-ES" sz="2800" b="1" dirty="0" smtClean="0"/>
          </a:p>
          <a:p>
            <a:pPr marL="457200" indent="-457200">
              <a:buFont typeface="Arial" panose="020B0604020202020204" pitchFamily="34" charset="0"/>
              <a:buChar char="•"/>
            </a:pPr>
            <a:r>
              <a:rPr lang="es-ES" sz="2800" dirty="0" smtClean="0"/>
              <a:t>Municipal</a:t>
            </a:r>
          </a:p>
          <a:p>
            <a:pPr marL="457200" indent="-457200">
              <a:buFont typeface="Arial" panose="020B0604020202020204" pitchFamily="34" charset="0"/>
              <a:buChar char="•"/>
            </a:pPr>
            <a:r>
              <a:rPr lang="es-ES" sz="2800" dirty="0" smtClean="0"/>
              <a:t>Hecho </a:t>
            </a:r>
            <a:r>
              <a:rPr lang="es-ES" sz="2800" dirty="0"/>
              <a:t>imponible (se paga por). </a:t>
            </a:r>
            <a:endParaRPr lang="es-ES" sz="2800" dirty="0" smtClean="0"/>
          </a:p>
          <a:p>
            <a:pPr marL="457200" indent="-457200">
              <a:buFont typeface="Arial" panose="020B0604020202020204" pitchFamily="34" charset="0"/>
              <a:buChar char="•"/>
            </a:pPr>
            <a:r>
              <a:rPr lang="es-ES" sz="2800" dirty="0" smtClean="0"/>
              <a:t>Titularidad </a:t>
            </a:r>
            <a:r>
              <a:rPr lang="es-ES" sz="2800" dirty="0"/>
              <a:t>de bienes inmuebles, rústicos o urbanos. </a:t>
            </a:r>
            <a:endParaRPr lang="es-ES" sz="2800" dirty="0" smtClean="0"/>
          </a:p>
          <a:p>
            <a:pPr marL="457200" indent="-457200">
              <a:buFont typeface="Arial" panose="020B0604020202020204" pitchFamily="34" charset="0"/>
              <a:buChar char="•"/>
            </a:pPr>
            <a:r>
              <a:rPr lang="es-ES" sz="2800" dirty="0" smtClean="0"/>
              <a:t>Cuota</a:t>
            </a:r>
            <a:r>
              <a:rPr lang="es-ES" sz="2800" dirty="0"/>
              <a:t>. Variable (depende del </a:t>
            </a:r>
            <a:r>
              <a:rPr lang="es-ES" sz="2800" dirty="0" smtClean="0"/>
              <a:t>Ayuntamiento </a:t>
            </a:r>
            <a:r>
              <a:rPr lang="es-ES" sz="2800" dirty="0"/>
              <a:t>y del valor </a:t>
            </a:r>
            <a:r>
              <a:rPr lang="es-ES" sz="2800" dirty="0" smtClean="0"/>
              <a:t>catastral)</a:t>
            </a:r>
          </a:p>
          <a:p>
            <a:endParaRPr lang="es-ES" sz="2800" dirty="0"/>
          </a:p>
          <a:p>
            <a:r>
              <a:rPr lang="es-ES" sz="2800" b="1" dirty="0" smtClean="0"/>
              <a:t>IMPUESTO </a:t>
            </a:r>
            <a:r>
              <a:rPr lang="es-ES" sz="2800" b="1" dirty="0"/>
              <a:t>SOBRE VEHÍCULOS DE TRACCIÓN </a:t>
            </a:r>
            <a:r>
              <a:rPr lang="es-ES" sz="2800" b="1" dirty="0" smtClean="0"/>
              <a:t>MECÁNICA</a:t>
            </a:r>
          </a:p>
          <a:p>
            <a:pPr marL="457200" indent="-457200">
              <a:buFont typeface="Arial" panose="020B0604020202020204" pitchFamily="34" charset="0"/>
              <a:buChar char="•"/>
            </a:pPr>
            <a:r>
              <a:rPr lang="es-ES" sz="2800" dirty="0" smtClean="0"/>
              <a:t>Municipal</a:t>
            </a:r>
          </a:p>
          <a:p>
            <a:pPr marL="457200" indent="-457200">
              <a:buFont typeface="Arial" panose="020B0604020202020204" pitchFamily="34" charset="0"/>
              <a:buChar char="•"/>
            </a:pPr>
            <a:r>
              <a:rPr lang="es-ES" sz="2800" dirty="0" smtClean="0"/>
              <a:t>Hecho </a:t>
            </a:r>
            <a:r>
              <a:rPr lang="es-ES" sz="2800" dirty="0"/>
              <a:t>imponible. </a:t>
            </a:r>
            <a:endParaRPr lang="es-ES" sz="2800" dirty="0" smtClean="0"/>
          </a:p>
          <a:p>
            <a:pPr marL="457200" indent="-457200">
              <a:buFont typeface="Arial" panose="020B0604020202020204" pitchFamily="34" charset="0"/>
              <a:buChar char="•"/>
            </a:pPr>
            <a:r>
              <a:rPr lang="es-ES" sz="2800" dirty="0" smtClean="0"/>
              <a:t>Titularidad </a:t>
            </a:r>
            <a:r>
              <a:rPr lang="es-ES" sz="2800" dirty="0"/>
              <a:t>de </a:t>
            </a:r>
            <a:r>
              <a:rPr lang="es-ES" sz="2800" dirty="0" smtClean="0"/>
              <a:t>vehículos</a:t>
            </a:r>
          </a:p>
          <a:p>
            <a:pPr marL="457200" indent="-457200">
              <a:buFont typeface="Arial" panose="020B0604020202020204" pitchFamily="34" charset="0"/>
              <a:buChar char="•"/>
            </a:pPr>
            <a:r>
              <a:rPr lang="es-ES" sz="2800" dirty="0" smtClean="0"/>
              <a:t>Variable </a:t>
            </a:r>
            <a:r>
              <a:rPr lang="es-ES" sz="2800" dirty="0"/>
              <a:t>dependiendo del tipo de vehículo y el municipio.</a:t>
            </a:r>
            <a:endParaRPr lang="es-ES" sz="2800" b="1" dirty="0"/>
          </a:p>
        </p:txBody>
      </p:sp>
      <p:sp>
        <p:nvSpPr>
          <p:cNvPr id="8"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Impuestos locales</a:t>
            </a:r>
            <a:endParaRPr lang="es-ES" sz="2800" b="1" dirty="0">
              <a:latin typeface="+mn-lt"/>
            </a:endParaRPr>
          </a:p>
        </p:txBody>
      </p:sp>
    </p:spTree>
    <p:extLst>
      <p:ext uri="{BB962C8B-B14F-4D97-AF65-F5344CB8AC3E}">
        <p14:creationId xmlns:p14="http://schemas.microsoft.com/office/powerpoint/2010/main" val="1637821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 name="6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800" b="1" dirty="0" smtClean="0"/>
              <a:t>IMPUESTO </a:t>
            </a:r>
            <a:r>
              <a:rPr lang="es-ES" sz="2800" b="1" dirty="0"/>
              <a:t>SOBRE CONSTRUCCIONES, INSTALACIONES Y </a:t>
            </a:r>
            <a:r>
              <a:rPr lang="es-ES" sz="2800" b="1" dirty="0" smtClean="0"/>
              <a:t>OBRAS</a:t>
            </a:r>
          </a:p>
          <a:p>
            <a:pPr marL="457200" indent="-457200">
              <a:buFont typeface="Arial" panose="020B0604020202020204" pitchFamily="34" charset="0"/>
              <a:buChar char="•"/>
            </a:pPr>
            <a:r>
              <a:rPr lang="es-ES" sz="2800" dirty="0" smtClean="0"/>
              <a:t>Municipal</a:t>
            </a:r>
          </a:p>
          <a:p>
            <a:pPr marL="457200" indent="-457200">
              <a:buFont typeface="Arial" panose="020B0604020202020204" pitchFamily="34" charset="0"/>
              <a:buChar char="•"/>
            </a:pPr>
            <a:r>
              <a:rPr lang="es-ES" sz="2800" dirty="0" smtClean="0"/>
              <a:t>Licencia </a:t>
            </a:r>
            <a:r>
              <a:rPr lang="es-ES" sz="2800" dirty="0"/>
              <a:t>de obras o </a:t>
            </a:r>
            <a:r>
              <a:rPr lang="es-ES" sz="2800" dirty="0" smtClean="0"/>
              <a:t>urbanística.</a:t>
            </a:r>
          </a:p>
          <a:p>
            <a:pPr marL="457200" indent="-457200">
              <a:buFont typeface="Arial" panose="020B0604020202020204" pitchFamily="34" charset="0"/>
              <a:buChar char="•"/>
            </a:pPr>
            <a:r>
              <a:rPr lang="es-ES" sz="2800" dirty="0" smtClean="0"/>
              <a:t>Cuota</a:t>
            </a:r>
            <a:r>
              <a:rPr lang="es-ES" sz="2800" dirty="0"/>
              <a:t>: Aplicando un porcentaje sobre el coste </a:t>
            </a:r>
            <a:r>
              <a:rPr lang="es-ES" sz="2800" dirty="0" smtClean="0"/>
              <a:t>real</a:t>
            </a:r>
          </a:p>
          <a:p>
            <a:endParaRPr lang="es-ES" sz="2800" dirty="0"/>
          </a:p>
          <a:p>
            <a:r>
              <a:rPr lang="es-ES" sz="2800" b="1" dirty="0" smtClean="0"/>
              <a:t>IMPUESTO </a:t>
            </a:r>
            <a:r>
              <a:rPr lang="es-ES" sz="2800" b="1" dirty="0"/>
              <a:t>SOBRE TRANSMISIONES PATRIMONIALES Y ACTOS JURÍDICOS </a:t>
            </a:r>
            <a:r>
              <a:rPr lang="es-ES" sz="2800" b="1" dirty="0" smtClean="0"/>
              <a:t>DOCUMENTADOS</a:t>
            </a:r>
          </a:p>
          <a:p>
            <a:pPr marL="457200" indent="-457200">
              <a:buFont typeface="Arial" panose="020B0604020202020204" pitchFamily="34" charset="0"/>
              <a:buChar char="•"/>
            </a:pPr>
            <a:r>
              <a:rPr lang="es-ES" sz="2800" dirty="0" smtClean="0"/>
              <a:t>Autonómico</a:t>
            </a:r>
          </a:p>
          <a:p>
            <a:pPr marL="457200" indent="-457200">
              <a:buFont typeface="Arial" panose="020B0604020202020204" pitchFamily="34" charset="0"/>
              <a:buChar char="•"/>
            </a:pPr>
            <a:r>
              <a:rPr lang="es-ES" sz="2800" dirty="0" smtClean="0"/>
              <a:t>Hecho </a:t>
            </a:r>
            <a:r>
              <a:rPr lang="es-ES" sz="2800" dirty="0"/>
              <a:t>imponible. Transmisión de patrimonio o de bienes, </a:t>
            </a:r>
            <a:r>
              <a:rPr lang="es-ES" sz="2800" dirty="0" smtClean="0"/>
              <a:t>operaciones </a:t>
            </a:r>
            <a:r>
              <a:rPr lang="es-ES" sz="2800" dirty="0"/>
              <a:t>societarias y actos jurídicos formalizados mediante documentos notariales, mercantiles y </a:t>
            </a:r>
            <a:r>
              <a:rPr lang="es-ES" sz="2800" dirty="0" smtClean="0"/>
              <a:t>administrativos.</a:t>
            </a:r>
          </a:p>
          <a:p>
            <a:pPr marL="457200" indent="-457200">
              <a:buFont typeface="Arial" panose="020B0604020202020204" pitchFamily="34" charset="0"/>
              <a:buChar char="•"/>
            </a:pPr>
            <a:r>
              <a:rPr lang="es-ES" sz="2800" dirty="0" smtClean="0"/>
              <a:t>Cuota</a:t>
            </a:r>
            <a:r>
              <a:rPr lang="es-ES" sz="2800" dirty="0"/>
              <a:t>. Variable. Depende de la operación..</a:t>
            </a:r>
            <a:endParaRPr lang="es-ES" sz="2800" b="1" dirty="0"/>
          </a:p>
        </p:txBody>
      </p:sp>
      <p:sp>
        <p:nvSpPr>
          <p:cNvPr id="8"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Impuestos locales</a:t>
            </a:r>
            <a:endParaRPr lang="es-ES" sz="2800" b="1" dirty="0">
              <a:latin typeface="+mn-lt"/>
            </a:endParaRPr>
          </a:p>
        </p:txBody>
      </p:sp>
    </p:spTree>
    <p:extLst>
      <p:ext uri="{BB962C8B-B14F-4D97-AF65-F5344CB8AC3E}">
        <p14:creationId xmlns:p14="http://schemas.microsoft.com/office/powerpoint/2010/main" val="2125870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 name="6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800" b="1" dirty="0" smtClean="0"/>
              <a:t>IMPUESTO </a:t>
            </a:r>
            <a:r>
              <a:rPr lang="es-ES" sz="2800" b="1" dirty="0"/>
              <a:t>SOBRE ACTIVIDADES ECONÓMICAS (</a:t>
            </a:r>
            <a:r>
              <a:rPr lang="es-ES" sz="2800" b="1" dirty="0" smtClean="0"/>
              <a:t>IAE)</a:t>
            </a:r>
          </a:p>
          <a:p>
            <a:pPr marL="457200" indent="-457200">
              <a:buFont typeface="Arial" panose="020B0604020202020204" pitchFamily="34" charset="0"/>
              <a:buChar char="•"/>
            </a:pPr>
            <a:r>
              <a:rPr lang="es-ES" sz="2800" dirty="0" smtClean="0"/>
              <a:t>Municipal</a:t>
            </a:r>
          </a:p>
          <a:p>
            <a:pPr marL="457200" indent="-457200">
              <a:buFont typeface="Arial" panose="020B0604020202020204" pitchFamily="34" charset="0"/>
              <a:buChar char="•"/>
            </a:pPr>
            <a:r>
              <a:rPr lang="es-ES" sz="2800" dirty="0" smtClean="0"/>
              <a:t>Hecho </a:t>
            </a:r>
            <a:r>
              <a:rPr lang="es-ES" sz="2800" dirty="0"/>
              <a:t>imponible: Realización de cualquier tipo de actividad </a:t>
            </a:r>
            <a:r>
              <a:rPr lang="es-ES" sz="2800" dirty="0" smtClean="0"/>
              <a:t>económica</a:t>
            </a:r>
          </a:p>
          <a:p>
            <a:pPr marL="457200" indent="-457200">
              <a:buFont typeface="Arial" panose="020B0604020202020204" pitchFamily="34" charset="0"/>
              <a:buChar char="•"/>
            </a:pPr>
            <a:r>
              <a:rPr lang="es-ES" sz="2800" dirty="0" smtClean="0"/>
              <a:t>Cuota</a:t>
            </a:r>
            <a:r>
              <a:rPr lang="es-ES" sz="2800" dirty="0"/>
              <a:t>: Depende del tipo de </a:t>
            </a:r>
            <a:r>
              <a:rPr lang="es-ES" sz="2800" dirty="0" smtClean="0"/>
              <a:t>actividad</a:t>
            </a:r>
          </a:p>
          <a:p>
            <a:pPr marL="457200" indent="-457200">
              <a:buFont typeface="Arial" panose="020B0604020202020204" pitchFamily="34" charset="0"/>
              <a:buChar char="•"/>
            </a:pPr>
            <a:r>
              <a:rPr lang="es-ES" sz="2800" dirty="0" smtClean="0"/>
              <a:t>Están exentos:</a:t>
            </a:r>
          </a:p>
          <a:p>
            <a:r>
              <a:rPr lang="es-ES" sz="2800" dirty="0"/>
              <a:t>	</a:t>
            </a:r>
            <a:r>
              <a:rPr lang="es-ES" sz="2800" dirty="0" smtClean="0"/>
              <a:t>- Personas físicas</a:t>
            </a:r>
          </a:p>
          <a:p>
            <a:r>
              <a:rPr lang="es-ES" sz="2800" dirty="0"/>
              <a:t>	</a:t>
            </a:r>
            <a:r>
              <a:rPr lang="es-ES" sz="2800" dirty="0" smtClean="0"/>
              <a:t>- Sociedades </a:t>
            </a:r>
            <a:r>
              <a:rPr lang="es-ES" sz="2800" dirty="0"/>
              <a:t>con cifra de negocio inferior a 1.000.000</a:t>
            </a:r>
            <a:r>
              <a:rPr lang="es-ES" sz="2800" dirty="0" smtClean="0"/>
              <a:t>€</a:t>
            </a:r>
          </a:p>
          <a:p>
            <a:r>
              <a:rPr lang="es-ES" sz="2800" dirty="0"/>
              <a:t>	</a:t>
            </a:r>
            <a:r>
              <a:rPr lang="es-ES" sz="2800" dirty="0" smtClean="0"/>
              <a:t>- El </a:t>
            </a:r>
            <a:r>
              <a:rPr lang="es-ES" sz="2800" dirty="0"/>
              <a:t>estado y resto de organismos públicos</a:t>
            </a:r>
            <a:endParaRPr lang="es-ES" sz="2800" b="1" dirty="0"/>
          </a:p>
        </p:txBody>
      </p:sp>
      <p:sp>
        <p:nvSpPr>
          <p:cNvPr id="8"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Impuestos locales</a:t>
            </a:r>
            <a:endParaRPr lang="es-ES" sz="2800" b="1" dirty="0">
              <a:latin typeface="+mn-lt"/>
            </a:endParaRPr>
          </a:p>
        </p:txBody>
      </p:sp>
    </p:spTree>
    <p:extLst>
      <p:ext uri="{BB962C8B-B14F-4D97-AF65-F5344CB8AC3E}">
        <p14:creationId xmlns:p14="http://schemas.microsoft.com/office/powerpoint/2010/main" val="5783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 name="6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endParaRPr lang="es-ES" sz="2800" b="1" dirty="0"/>
          </a:p>
          <a:p>
            <a:endParaRPr lang="es-ES" sz="2800" b="1" dirty="0" smtClean="0"/>
          </a:p>
          <a:p>
            <a:endParaRPr lang="es-ES" sz="2800" b="1" dirty="0"/>
          </a:p>
          <a:p>
            <a:endParaRPr lang="es-ES" sz="2800" b="1" dirty="0" smtClean="0"/>
          </a:p>
          <a:p>
            <a:endParaRPr lang="es-ES" sz="2800" b="1" dirty="0"/>
          </a:p>
          <a:p>
            <a:endParaRPr lang="es-ES" sz="2800" b="1" dirty="0" smtClean="0"/>
          </a:p>
          <a:p>
            <a:endParaRPr lang="es-ES" sz="2800" b="1" dirty="0"/>
          </a:p>
          <a:p>
            <a:endParaRPr lang="es-ES" sz="2800" b="1" dirty="0" smtClean="0"/>
          </a:p>
          <a:p>
            <a:endParaRPr lang="es-ES" sz="2800" b="1" dirty="0"/>
          </a:p>
          <a:p>
            <a:endParaRPr lang="es-ES" sz="2800" b="1" dirty="0"/>
          </a:p>
        </p:txBody>
      </p:sp>
      <p:sp>
        <p:nvSpPr>
          <p:cNvPr id="8"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Calendario fiscal</a:t>
            </a:r>
            <a:endParaRPr lang="es-ES" sz="2800" b="1" dirty="0">
              <a:latin typeface="+mn-lt"/>
            </a:endParaRPr>
          </a:p>
        </p:txBody>
      </p:sp>
      <p:sp>
        <p:nvSpPr>
          <p:cNvPr id="2" name="1 CuadroTexto"/>
          <p:cNvSpPr txBox="1"/>
          <p:nvPr/>
        </p:nvSpPr>
        <p:spPr>
          <a:xfrm>
            <a:off x="2569779" y="1844566"/>
            <a:ext cx="5644055" cy="5724644"/>
          </a:xfrm>
          <a:prstGeom prst="rect">
            <a:avLst/>
          </a:prstGeom>
          <a:noFill/>
        </p:spPr>
        <p:txBody>
          <a:bodyPr wrap="square" rtlCol="0">
            <a:spAutoFit/>
          </a:bodyPr>
          <a:lstStyle/>
          <a:p>
            <a:pPr marL="457200" indent="-457200">
              <a:buFont typeface="Arial" panose="020B0604020202020204" pitchFamily="34" charset="0"/>
              <a:buChar char="•"/>
            </a:pPr>
            <a:r>
              <a:rPr lang="es-ES" sz="3200" dirty="0"/>
              <a:t>Importante para conocer las fechas de los pagos.</a:t>
            </a:r>
          </a:p>
          <a:p>
            <a:pPr marL="457200" indent="-457200">
              <a:buFont typeface="Arial" panose="020B0604020202020204" pitchFamily="34" charset="0"/>
              <a:buChar char="•"/>
            </a:pPr>
            <a:r>
              <a:rPr lang="es-ES" sz="3200" dirty="0"/>
              <a:t>Normalmente te va avisando tu asesor.</a:t>
            </a:r>
          </a:p>
          <a:p>
            <a:pPr marL="457200" indent="-457200">
              <a:buFont typeface="Arial" panose="020B0604020202020204" pitchFamily="34" charset="0"/>
              <a:buChar char="•"/>
            </a:pPr>
            <a:r>
              <a:rPr lang="es-ES" sz="3200" dirty="0"/>
              <a:t>Lo puedes encontrar en: </a:t>
            </a:r>
            <a:r>
              <a:rPr lang="es-ES" sz="3200" dirty="0">
                <a:hlinkClick r:id="rId4"/>
              </a:rPr>
              <a:t>www.aeat.es</a:t>
            </a:r>
            <a:endParaRPr lang="es-ES" sz="3200" dirty="0"/>
          </a:p>
          <a:p>
            <a:r>
              <a:rPr lang="es-ES" sz="3200" dirty="0"/>
              <a:t>	- Pulsa, en la columna de la derecha sobre: Calendario del contribuyente</a:t>
            </a:r>
          </a:p>
          <a:p>
            <a:r>
              <a:rPr lang="es-ES" sz="3200" dirty="0"/>
              <a:t>	- Posteriormente selecciona la opción deseada</a:t>
            </a:r>
          </a:p>
          <a:p>
            <a:endParaRPr lang="es-ES" dirty="0"/>
          </a:p>
        </p:txBody>
      </p:sp>
      <p:pic>
        <p:nvPicPr>
          <p:cNvPr id="3" name="2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58298" y="1847736"/>
            <a:ext cx="4560834" cy="6892786"/>
          </a:xfrm>
          <a:prstGeom prst="rect">
            <a:avLst/>
          </a:prstGeom>
        </p:spPr>
      </p:pic>
    </p:spTree>
    <p:extLst>
      <p:ext uri="{BB962C8B-B14F-4D97-AF65-F5344CB8AC3E}">
        <p14:creationId xmlns:p14="http://schemas.microsoft.com/office/powerpoint/2010/main" val="302578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 name="8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800" b="1" dirty="0" smtClean="0"/>
              <a:t>¿Qué </a:t>
            </a:r>
            <a:r>
              <a:rPr lang="es-ES" sz="2800" b="1" dirty="0"/>
              <a:t>empresas están obligadas a declarar sus beneficios a través del IRPF? </a:t>
            </a:r>
            <a:endParaRPr lang="es-ES" sz="2800" dirty="0" smtClean="0"/>
          </a:p>
          <a:p>
            <a:pPr marL="457200" indent="-457200">
              <a:buFont typeface="Arial" panose="020B0604020202020204" pitchFamily="34" charset="0"/>
              <a:buChar char="•"/>
            </a:pPr>
            <a:r>
              <a:rPr lang="es-ES" sz="2800" dirty="0" smtClean="0"/>
              <a:t>Empresas Individuales.</a:t>
            </a:r>
          </a:p>
          <a:p>
            <a:pPr marL="457200" indent="-457200">
              <a:buFont typeface="Arial" panose="020B0604020202020204" pitchFamily="34" charset="0"/>
              <a:buChar char="•"/>
            </a:pPr>
            <a:r>
              <a:rPr lang="es-ES" sz="2800" dirty="0" smtClean="0"/>
              <a:t>Comunidades </a:t>
            </a:r>
            <a:r>
              <a:rPr lang="es-ES" sz="2800" dirty="0"/>
              <a:t>de Bienes (cada uno de los integrantes</a:t>
            </a:r>
            <a:r>
              <a:rPr lang="es-ES" sz="2800" dirty="0" smtClean="0"/>
              <a:t>).</a:t>
            </a:r>
            <a:endParaRPr lang="es-ES" sz="2800" b="1" dirty="0"/>
          </a:p>
          <a:p>
            <a:r>
              <a:rPr lang="es-ES" sz="2800" b="1" dirty="0" smtClean="0"/>
              <a:t>Regímenes del IRPF</a:t>
            </a:r>
          </a:p>
          <a:p>
            <a:pPr marL="457200" indent="-457200">
              <a:buFont typeface="Arial" panose="020B0604020202020204" pitchFamily="34" charset="0"/>
              <a:buChar char="•"/>
            </a:pPr>
            <a:r>
              <a:rPr lang="es-ES" sz="2800" dirty="0" smtClean="0"/>
              <a:t>Estimación directa:</a:t>
            </a:r>
          </a:p>
          <a:p>
            <a:r>
              <a:rPr lang="es-ES" sz="2800" dirty="0" smtClean="0"/>
              <a:t>	- ESTIMACIÓN </a:t>
            </a:r>
            <a:r>
              <a:rPr lang="es-ES" sz="2800" dirty="0"/>
              <a:t>DIRECTA NORMAL. 	</a:t>
            </a:r>
            <a:endParaRPr lang="es-ES" sz="2800" dirty="0" smtClean="0"/>
          </a:p>
          <a:p>
            <a:r>
              <a:rPr lang="es-ES" sz="2800" dirty="0"/>
              <a:t>	</a:t>
            </a:r>
            <a:r>
              <a:rPr lang="es-ES" sz="2800" dirty="0" smtClean="0"/>
              <a:t>- ESTIMACIÓN </a:t>
            </a:r>
            <a:r>
              <a:rPr lang="es-ES" sz="2800" dirty="0"/>
              <a:t>DIRECTA SIMPLIFICADA. </a:t>
            </a:r>
          </a:p>
          <a:p>
            <a:pPr marL="457200" indent="-457200">
              <a:buFont typeface="Arial" panose="020B0604020202020204" pitchFamily="34" charset="0"/>
              <a:buChar char="•"/>
            </a:pPr>
            <a:r>
              <a:rPr lang="es-ES" sz="2800" dirty="0" smtClean="0"/>
              <a:t>Estimación objetiva</a:t>
            </a:r>
          </a:p>
          <a:p>
            <a:r>
              <a:rPr lang="es-ES" sz="2800" b="1" dirty="0" smtClean="0"/>
              <a:t>PAGOS </a:t>
            </a:r>
            <a:r>
              <a:rPr lang="es-ES" sz="2800" b="1" dirty="0"/>
              <a:t>FRACCIONADOS Y LIQUIDACIÓN DEL IMPUESTO </a:t>
            </a:r>
            <a:endParaRPr lang="es-ES" sz="2800" dirty="0"/>
          </a:p>
          <a:p>
            <a:pPr marL="457200" indent="-457200">
              <a:buFont typeface="Arial" panose="020B0604020202020204" pitchFamily="34" charset="0"/>
              <a:buChar char="•"/>
            </a:pPr>
            <a:r>
              <a:rPr lang="es-ES" sz="2800" dirty="0" smtClean="0"/>
              <a:t>Cada </a:t>
            </a:r>
            <a:r>
              <a:rPr lang="es-ES" sz="2800" dirty="0"/>
              <a:t>trimestre (abril, julio, octubre y enero) </a:t>
            </a:r>
            <a:r>
              <a:rPr lang="es-ES" sz="2800" dirty="0" smtClean="0"/>
              <a:t>entregan </a:t>
            </a:r>
            <a:r>
              <a:rPr lang="es-ES" sz="2800" dirty="0"/>
              <a:t>a la Agencia Tributaria unas cantidades a cuenta de lo que les corresponderá pagar cuando liquiden el </a:t>
            </a:r>
            <a:r>
              <a:rPr lang="es-ES" sz="2800" dirty="0" smtClean="0"/>
              <a:t>impuesto.</a:t>
            </a:r>
          </a:p>
          <a:p>
            <a:pPr marL="457200" indent="-457200">
              <a:buFont typeface="Arial" panose="020B0604020202020204" pitchFamily="34" charset="0"/>
              <a:buChar char="•"/>
            </a:pPr>
            <a:r>
              <a:rPr lang="es-ES" sz="2800" dirty="0" smtClean="0"/>
              <a:t>La </a:t>
            </a:r>
            <a:r>
              <a:rPr lang="es-ES" sz="2800" dirty="0"/>
              <a:t>liquidación del impuesto se realiza del 1 de mayo a 30 de junio del año próximo.</a:t>
            </a:r>
            <a:endParaRPr lang="es-ES" sz="2800" dirty="0" smtClean="0"/>
          </a:p>
        </p:txBody>
      </p:sp>
      <p:sp>
        <p:nvSpPr>
          <p:cNvPr id="10"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Impuesto sobre la Renta de las Personas Físicas (IRPF)</a:t>
            </a:r>
            <a:endParaRPr lang="es-ES" sz="2800" b="1" dirty="0">
              <a:latin typeface="+mn-lt"/>
            </a:endParaRPr>
          </a:p>
        </p:txBody>
      </p:sp>
    </p:spTree>
    <p:extLst>
      <p:ext uri="{BB962C8B-B14F-4D97-AF65-F5344CB8AC3E}">
        <p14:creationId xmlns:p14="http://schemas.microsoft.com/office/powerpoint/2010/main" val="292876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 name="8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pPr marL="457200" indent="-457200">
              <a:buFont typeface="Arial" panose="020B0604020202020204" pitchFamily="34" charset="0"/>
              <a:buChar char="•"/>
            </a:pPr>
            <a:r>
              <a:rPr lang="es-ES" sz="3200" dirty="0"/>
              <a:t>Todas las sociedades y entidades que tengan personalidad </a:t>
            </a:r>
            <a:r>
              <a:rPr lang="es-ES" sz="3200" dirty="0" smtClean="0"/>
              <a:t>jurídica</a:t>
            </a:r>
          </a:p>
          <a:p>
            <a:pPr marL="457200" indent="-457200">
              <a:buFont typeface="Arial" panose="020B0604020202020204" pitchFamily="34" charset="0"/>
              <a:buChar char="•"/>
            </a:pPr>
            <a:r>
              <a:rPr lang="es-ES" sz="3200" dirty="0" smtClean="0"/>
              <a:t>% </a:t>
            </a:r>
            <a:r>
              <a:rPr lang="es-ES" sz="3200" dirty="0"/>
              <a:t>sobre la cuenta de pérdidas y ganancias </a:t>
            </a:r>
            <a:endParaRPr lang="es-ES" sz="3200" dirty="0" smtClean="0"/>
          </a:p>
          <a:p>
            <a:pPr marL="457200" indent="-457200">
              <a:buFont typeface="Arial" panose="020B0604020202020204" pitchFamily="34" charset="0"/>
              <a:buChar char="•"/>
            </a:pPr>
            <a:r>
              <a:rPr lang="es-ES" sz="3200" dirty="0" smtClean="0"/>
              <a:t>DEDUCCIONES: actividades </a:t>
            </a:r>
            <a:r>
              <a:rPr lang="es-ES" sz="3200" dirty="0"/>
              <a:t>de </a:t>
            </a:r>
            <a:r>
              <a:rPr lang="es-ES" sz="3200" dirty="0" err="1"/>
              <a:t>I+D+i</a:t>
            </a:r>
            <a:r>
              <a:rPr lang="es-ES" sz="3200" dirty="0"/>
              <a:t>, creación de empleo, contratación de minusválidos, reinversión de beneficios... </a:t>
            </a:r>
            <a:endParaRPr lang="es-ES" sz="3200" dirty="0" smtClean="0"/>
          </a:p>
          <a:p>
            <a:pPr marL="457200" indent="-457200">
              <a:buFont typeface="Arial" panose="020B0604020202020204" pitchFamily="34" charset="0"/>
              <a:buChar char="•"/>
            </a:pPr>
            <a:r>
              <a:rPr lang="es-ES" sz="3200" dirty="0" smtClean="0"/>
              <a:t>¿Cada cuanto tiempo se puede pagar?</a:t>
            </a:r>
          </a:p>
          <a:p>
            <a:r>
              <a:rPr lang="es-ES" sz="3200" dirty="0" smtClean="0"/>
              <a:t>	- En </a:t>
            </a:r>
            <a:r>
              <a:rPr lang="es-ES" sz="3200" dirty="0"/>
              <a:t>los primeros 20 días naturales de los meses de abril, octubre y diciembre. Entreguen a la Agencia Tributaria unas cantidades (18 % de la cuota integra del año </a:t>
            </a:r>
            <a:r>
              <a:rPr lang="es-ES" sz="3200" dirty="0" smtClean="0"/>
              <a:t>pasado)</a:t>
            </a:r>
          </a:p>
          <a:p>
            <a:r>
              <a:rPr lang="es-ES" sz="3200" dirty="0"/>
              <a:t>	</a:t>
            </a:r>
            <a:r>
              <a:rPr lang="es-ES" sz="3200" dirty="0" smtClean="0"/>
              <a:t>- La </a:t>
            </a:r>
            <a:r>
              <a:rPr lang="es-ES" sz="3200" dirty="0"/>
              <a:t>liquidación del impuesto se realizará, siempre que nuestro ejercicio contable coincida con el año natural, entre el 1 y el 25 de julio de cada año</a:t>
            </a:r>
            <a:endParaRPr lang="es-ES" sz="3200" dirty="0" smtClean="0"/>
          </a:p>
        </p:txBody>
      </p:sp>
      <p:sp>
        <p:nvSpPr>
          <p:cNvPr id="10"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Impuesto de Sociedades</a:t>
            </a:r>
            <a:endParaRPr lang="es-ES" sz="2800" b="1" dirty="0">
              <a:latin typeface="+mn-lt"/>
            </a:endParaRPr>
          </a:p>
        </p:txBody>
      </p:sp>
    </p:spTree>
    <p:extLst>
      <p:ext uri="{BB962C8B-B14F-4D97-AF65-F5344CB8AC3E}">
        <p14:creationId xmlns:p14="http://schemas.microsoft.com/office/powerpoint/2010/main" val="1174211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 name="8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3200" b="1" dirty="0"/>
              <a:t>IVA </a:t>
            </a:r>
            <a:r>
              <a:rPr lang="es-ES" sz="3200" b="1" dirty="0" smtClean="0"/>
              <a:t>SOPORTADO: </a:t>
            </a:r>
            <a:r>
              <a:rPr lang="es-ES" sz="3200" dirty="0" smtClean="0"/>
              <a:t>el </a:t>
            </a:r>
            <a:r>
              <a:rPr lang="es-ES" sz="3200" dirty="0"/>
              <a:t>IVA que paga la empresa </a:t>
            </a:r>
            <a:endParaRPr lang="es-ES" sz="3200" dirty="0" smtClean="0"/>
          </a:p>
          <a:p>
            <a:r>
              <a:rPr lang="es-ES" sz="3200" b="1" dirty="0" smtClean="0"/>
              <a:t>IVA REPERCUTIDO</a:t>
            </a:r>
            <a:r>
              <a:rPr lang="es-ES" sz="3200" dirty="0" smtClean="0"/>
              <a:t>: el </a:t>
            </a:r>
            <a:r>
              <a:rPr lang="es-ES" sz="3200" dirty="0"/>
              <a:t>IVA que cobra a sus </a:t>
            </a:r>
            <a:r>
              <a:rPr lang="es-ES" sz="3200" dirty="0" smtClean="0"/>
              <a:t>clientes.</a:t>
            </a:r>
          </a:p>
          <a:p>
            <a:endParaRPr lang="es-ES" sz="3200" dirty="0"/>
          </a:p>
          <a:p>
            <a:pPr marL="457200" indent="-457200">
              <a:buFont typeface="Arial" panose="020B0604020202020204" pitchFamily="34" charset="0"/>
              <a:buChar char="•"/>
            </a:pPr>
            <a:r>
              <a:rPr lang="es-ES" sz="3200" dirty="0" smtClean="0"/>
              <a:t>CANTIDAD </a:t>
            </a:r>
            <a:r>
              <a:rPr lang="es-ES" sz="3200" dirty="0"/>
              <a:t>QUE HAY QUE INGRESAR EN HACIENDA. </a:t>
            </a:r>
            <a:endParaRPr lang="es-ES" sz="3200" dirty="0" smtClean="0"/>
          </a:p>
          <a:p>
            <a:r>
              <a:rPr lang="es-ES" sz="3200" dirty="0"/>
              <a:t>	</a:t>
            </a:r>
            <a:r>
              <a:rPr lang="es-ES" sz="3200" i="1" u="sng" dirty="0" smtClean="0"/>
              <a:t>IVA </a:t>
            </a:r>
            <a:r>
              <a:rPr lang="es-ES" sz="3200" i="1" u="sng" dirty="0"/>
              <a:t>REPERCUTIDO – IVA SOPORTADO </a:t>
            </a:r>
            <a:endParaRPr lang="es-ES" sz="3200" i="1" u="sng" dirty="0" smtClean="0"/>
          </a:p>
          <a:p>
            <a:r>
              <a:rPr lang="es-ES" sz="3200" dirty="0" smtClean="0"/>
              <a:t>Por </a:t>
            </a:r>
            <a:r>
              <a:rPr lang="es-ES" sz="3200" dirty="0"/>
              <a:t>ello, el IVA no es pagado por las empresas, sino por los clientes finales de las mismas, ya que el IVA soportado se lo descuentan. Si el resultado sale positivo, se ingresa la diferencia en Hacienda, si sale negativo Hacienda abona la diferencia</a:t>
            </a:r>
            <a:r>
              <a:rPr lang="es-ES" sz="3200" dirty="0" smtClean="0"/>
              <a:t>.</a:t>
            </a:r>
          </a:p>
          <a:p>
            <a:pPr marL="457200" indent="-457200">
              <a:buFont typeface="Arial" panose="020B0604020202020204" pitchFamily="34" charset="0"/>
              <a:buChar char="•"/>
            </a:pPr>
            <a:r>
              <a:rPr lang="es-ES" sz="3200" dirty="0" smtClean="0"/>
              <a:t>LIQUIDACIONES TRIMESTRALES </a:t>
            </a:r>
            <a:r>
              <a:rPr lang="es-ES" sz="3200" dirty="0"/>
              <a:t>Y RESUMEN ANUAL Liquidaciones trimestrales (abril, julio, octubre) y resumen anual</a:t>
            </a:r>
            <a:endParaRPr lang="es-ES" sz="3200" dirty="0" smtClean="0"/>
          </a:p>
        </p:txBody>
      </p:sp>
      <p:sp>
        <p:nvSpPr>
          <p:cNvPr id="10"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t>El impuesto sobre el valor añadido (IVA)</a:t>
            </a:r>
            <a:endParaRPr lang="es-ES" sz="2800" b="1" dirty="0">
              <a:latin typeface="+mn-lt"/>
            </a:endParaRPr>
          </a:p>
        </p:txBody>
      </p:sp>
    </p:spTree>
    <p:extLst>
      <p:ext uri="{BB962C8B-B14F-4D97-AF65-F5344CB8AC3E}">
        <p14:creationId xmlns:p14="http://schemas.microsoft.com/office/powerpoint/2010/main" val="3861701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 name="Google Shape;100;p3"/>
          <p:cNvSpPr txBox="1"/>
          <p:nvPr/>
        </p:nvSpPr>
        <p:spPr>
          <a:xfrm>
            <a:off x="1153068" y="374863"/>
            <a:ext cx="14628213" cy="1982081"/>
          </a:xfrm>
          <a:prstGeom prst="rect">
            <a:avLst/>
          </a:prstGeom>
          <a:noFill/>
          <a:ln>
            <a:noFill/>
          </a:ln>
        </p:spPr>
        <p:txBody>
          <a:bodyPr spcFirstLastPara="1" wrap="square" lIns="0" tIns="0" rIns="0" bIns="0" anchor="t" anchorCtr="0">
            <a:spAutoFit/>
          </a:bodyPr>
          <a:lstStyle/>
          <a:p>
            <a:pPr marR="0" lvl="0" algn="l" rtl="0">
              <a:lnSpc>
                <a:spcPct val="140000"/>
              </a:lnSpc>
              <a:spcBef>
                <a:spcPts val="0"/>
              </a:spcBef>
              <a:spcAft>
                <a:spcPts val="0"/>
              </a:spcAft>
              <a:buClr>
                <a:srgbClr val="1B3440"/>
              </a:buClr>
              <a:buSzPts val="4600"/>
            </a:pPr>
            <a:r>
              <a:rPr lang="en-US" sz="4600" dirty="0">
                <a:solidFill>
                  <a:srgbClr val="1B3440"/>
                </a:solidFill>
                <a:latin typeface="Poppins"/>
                <a:ea typeface="Poppins"/>
                <a:cs typeface="Poppins"/>
                <a:sym typeface="Poppins"/>
              </a:rPr>
              <a:t>3</a:t>
            </a:r>
            <a:r>
              <a:rPr lang="en-US" sz="4600" dirty="0" smtClean="0">
                <a:solidFill>
                  <a:srgbClr val="1B3440"/>
                </a:solidFill>
                <a:latin typeface="Poppins"/>
                <a:ea typeface="Poppins"/>
                <a:cs typeface="Poppins"/>
                <a:sym typeface="Poppins"/>
              </a:rPr>
              <a:t>. </a:t>
            </a:r>
            <a:r>
              <a:rPr lang="en-US" sz="4600" dirty="0" err="1" smtClean="0">
                <a:solidFill>
                  <a:srgbClr val="1B3440"/>
                </a:solidFill>
                <a:latin typeface="Poppins"/>
                <a:ea typeface="Poppins"/>
                <a:cs typeface="Poppins"/>
                <a:sym typeface="Poppins"/>
              </a:rPr>
              <a:t>Trámites</a:t>
            </a:r>
            <a:r>
              <a:rPr lang="en-US" sz="4600" dirty="0" smtClean="0">
                <a:solidFill>
                  <a:srgbClr val="1B3440"/>
                </a:solidFill>
                <a:latin typeface="Poppins"/>
                <a:ea typeface="Poppins"/>
                <a:cs typeface="Poppins"/>
                <a:sym typeface="Poppins"/>
              </a:rPr>
              <a:t> </a:t>
            </a:r>
            <a:r>
              <a:rPr lang="en-US" sz="4600" dirty="0" err="1" smtClean="0">
                <a:solidFill>
                  <a:srgbClr val="1B3440"/>
                </a:solidFill>
                <a:latin typeface="Poppins"/>
                <a:ea typeface="Poppins"/>
                <a:cs typeface="Poppins"/>
                <a:sym typeface="Poppins"/>
              </a:rPr>
              <a:t>administrativos</a:t>
            </a:r>
            <a:r>
              <a:rPr lang="en-US" sz="4600" dirty="0" smtClean="0">
                <a:solidFill>
                  <a:srgbClr val="1B3440"/>
                </a:solidFill>
                <a:latin typeface="Poppins"/>
                <a:ea typeface="Poppins"/>
                <a:cs typeface="Poppins"/>
                <a:sym typeface="Poppins"/>
              </a:rPr>
              <a:t> para la </a:t>
            </a:r>
            <a:r>
              <a:rPr lang="en-US" sz="4600" dirty="0" err="1" smtClean="0">
                <a:solidFill>
                  <a:srgbClr val="1B3440"/>
                </a:solidFill>
                <a:latin typeface="Poppins"/>
                <a:ea typeface="Poppins"/>
                <a:cs typeface="Poppins"/>
                <a:sym typeface="Poppins"/>
              </a:rPr>
              <a:t>constitución</a:t>
            </a:r>
            <a:r>
              <a:rPr lang="en-US" sz="4600" dirty="0" smtClean="0">
                <a:solidFill>
                  <a:srgbClr val="1B3440"/>
                </a:solidFill>
                <a:latin typeface="Poppins"/>
                <a:ea typeface="Poppins"/>
                <a:cs typeface="Poppins"/>
                <a:sym typeface="Poppins"/>
              </a:rPr>
              <a:t> de </a:t>
            </a:r>
            <a:r>
              <a:rPr lang="en-US" sz="4600" dirty="0" err="1" smtClean="0">
                <a:solidFill>
                  <a:srgbClr val="1B3440"/>
                </a:solidFill>
                <a:latin typeface="Poppins"/>
                <a:ea typeface="Poppins"/>
                <a:cs typeface="Poppins"/>
                <a:sym typeface="Poppins"/>
              </a:rPr>
              <a:t>una</a:t>
            </a:r>
            <a:r>
              <a:rPr lang="en-US" sz="4600" dirty="0" smtClean="0">
                <a:solidFill>
                  <a:srgbClr val="1B3440"/>
                </a:solidFill>
                <a:latin typeface="Poppins"/>
                <a:ea typeface="Poppins"/>
                <a:cs typeface="Poppins"/>
                <a:sym typeface="Poppins"/>
              </a:rPr>
              <a:t> </a:t>
            </a:r>
            <a:r>
              <a:rPr lang="en-US" sz="4600" dirty="0" err="1" smtClean="0">
                <a:solidFill>
                  <a:srgbClr val="1B3440"/>
                </a:solidFill>
                <a:latin typeface="Poppins"/>
                <a:ea typeface="Poppins"/>
                <a:cs typeface="Poppins"/>
                <a:sym typeface="Poppins"/>
              </a:rPr>
              <a:t>empresa</a:t>
            </a:r>
            <a:endParaRPr lang="en-US" sz="4600" b="0" i="0" u="none" dirty="0" smtClean="0">
              <a:solidFill>
                <a:srgbClr val="1B3440"/>
              </a:solidFill>
              <a:latin typeface="Poppins"/>
              <a:ea typeface="Poppins"/>
              <a:cs typeface="Poppins"/>
              <a:sym typeface="Poppins"/>
            </a:endParaRPr>
          </a:p>
        </p:txBody>
      </p:sp>
      <p:sp>
        <p:nvSpPr>
          <p:cNvPr id="8" name="7 Pentágono"/>
          <p:cNvSpPr/>
          <p:nvPr/>
        </p:nvSpPr>
        <p:spPr>
          <a:xfrm>
            <a:off x="1781502" y="2502010"/>
            <a:ext cx="14204731" cy="1187122"/>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ES" sz="3000" b="1" dirty="0"/>
              <a:t>Trámites de </a:t>
            </a:r>
            <a:r>
              <a:rPr lang="es-ES" sz="3000" b="1" dirty="0" smtClean="0"/>
              <a:t>Constitución</a:t>
            </a:r>
            <a:r>
              <a:rPr lang="es-ES" sz="3000" dirty="0" smtClean="0"/>
              <a:t>: se </a:t>
            </a:r>
            <a:r>
              <a:rPr lang="es-ES" sz="3000" dirty="0"/>
              <a:t>hacen para que la empresa adquiera personalidad jurídica y adquiera derechos y obligaciones </a:t>
            </a:r>
          </a:p>
        </p:txBody>
      </p:sp>
      <p:sp>
        <p:nvSpPr>
          <p:cNvPr id="2" name="1 CuadroTexto"/>
          <p:cNvSpPr txBox="1"/>
          <p:nvPr/>
        </p:nvSpPr>
        <p:spPr>
          <a:xfrm>
            <a:off x="788276" y="4240924"/>
            <a:ext cx="4445876" cy="181588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ES" sz="2800" dirty="0" smtClean="0"/>
              <a:t>EMPRESARIO INDIVIDUAL</a:t>
            </a:r>
          </a:p>
          <a:p>
            <a:pPr algn="ctr"/>
            <a:r>
              <a:rPr lang="es-ES" sz="2800" dirty="0" smtClean="0"/>
              <a:t>Y COMUNIDAD DE BIENES</a:t>
            </a:r>
            <a:endParaRPr lang="es-ES" sz="2800" dirty="0"/>
          </a:p>
        </p:txBody>
      </p:sp>
      <p:sp>
        <p:nvSpPr>
          <p:cNvPr id="9" name="8 CuadroTexto"/>
          <p:cNvSpPr txBox="1"/>
          <p:nvPr/>
        </p:nvSpPr>
        <p:spPr>
          <a:xfrm>
            <a:off x="6442841" y="4871434"/>
            <a:ext cx="444587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ES" sz="2800" dirty="0" smtClean="0"/>
              <a:t>PERSONALIDAD FÍSICA</a:t>
            </a:r>
            <a:endParaRPr lang="es-ES" sz="2800" dirty="0"/>
          </a:p>
        </p:txBody>
      </p:sp>
      <p:sp>
        <p:nvSpPr>
          <p:cNvPr id="10" name="9 CuadroTexto"/>
          <p:cNvSpPr txBox="1"/>
          <p:nvPr/>
        </p:nvSpPr>
        <p:spPr>
          <a:xfrm>
            <a:off x="12738976" y="4456367"/>
            <a:ext cx="4445876" cy="138499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ES" sz="2800" dirty="0" smtClean="0"/>
              <a:t>NO NECESITAN REALIZAR TRÁMITES ESPECÍFICOS</a:t>
            </a:r>
            <a:endParaRPr lang="es-ES" sz="2800" dirty="0"/>
          </a:p>
        </p:txBody>
      </p:sp>
      <p:cxnSp>
        <p:nvCxnSpPr>
          <p:cNvPr id="12" name="11 Conector recto de flecha"/>
          <p:cNvCxnSpPr>
            <a:endCxn id="9" idx="1"/>
          </p:cNvCxnSpPr>
          <p:nvPr/>
        </p:nvCxnSpPr>
        <p:spPr>
          <a:xfrm>
            <a:off x="5234152" y="5133043"/>
            <a:ext cx="1208689"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a:off x="11030607" y="5148863"/>
            <a:ext cx="191288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2454165" y="6931572"/>
            <a:ext cx="4445876"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 sz="2800" dirty="0" smtClean="0"/>
              <a:t>SOCIEDADES MERCANTILES</a:t>
            </a:r>
            <a:endParaRPr lang="es-ES" sz="2800" dirty="0"/>
          </a:p>
        </p:txBody>
      </p:sp>
      <p:sp>
        <p:nvSpPr>
          <p:cNvPr id="16" name="15 CuadroTexto"/>
          <p:cNvSpPr txBox="1"/>
          <p:nvPr/>
        </p:nvSpPr>
        <p:spPr>
          <a:xfrm>
            <a:off x="9101958" y="6327226"/>
            <a:ext cx="4445876" cy="267765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 sz="2800" dirty="0" smtClean="0"/>
              <a:t>DEBEN REALIZAR TRÁMITES ESPECÍFICOS PARA ADQUIRIR PERSONALIDAD JURÍDICA</a:t>
            </a:r>
            <a:endParaRPr lang="es-ES" sz="2800" dirty="0"/>
          </a:p>
        </p:txBody>
      </p:sp>
      <p:cxnSp>
        <p:nvCxnSpPr>
          <p:cNvPr id="17" name="16 Conector recto de flecha"/>
          <p:cNvCxnSpPr/>
          <p:nvPr/>
        </p:nvCxnSpPr>
        <p:spPr>
          <a:xfrm>
            <a:off x="6970984" y="7524201"/>
            <a:ext cx="213097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922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4" name="Título 1"/>
          <p:cNvSpPr>
            <a:spLocks noGrp="1"/>
          </p:cNvSpPr>
          <p:nvPr/>
        </p:nvSpPr>
        <p:spPr>
          <a:xfrm>
            <a:off x="3167286" y="45549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latin typeface="Poppins" panose="020B0604020202020204" charset="0"/>
                <a:ea typeface="Poppins"/>
                <a:cs typeface="Poppins" panose="020B0604020202020204" charset="0"/>
                <a:sym typeface="Poppins"/>
              </a:rPr>
              <a:t>Adopción de la personalidad jurídica en las empresas mercantiles</a:t>
            </a:r>
            <a:endParaRPr lang="es-ES" sz="2800" b="1" dirty="0">
              <a:latin typeface="+mn-lt"/>
            </a:endParaRPr>
          </a:p>
        </p:txBody>
      </p:sp>
      <p:sp>
        <p:nvSpPr>
          <p:cNvPr id="18" name="17 Pergamino horizontal"/>
          <p:cNvSpPr/>
          <p:nvPr/>
        </p:nvSpPr>
        <p:spPr>
          <a:xfrm>
            <a:off x="1058040" y="301258"/>
            <a:ext cx="15365905" cy="9985742"/>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300" b="1" dirty="0" smtClean="0"/>
              <a:t>CERTIFICACIÓN NEGATIVA DEL NOMBRE</a:t>
            </a:r>
          </a:p>
          <a:p>
            <a:pPr marL="457200" indent="-457200">
              <a:buFontTx/>
              <a:buChar char="-"/>
            </a:pPr>
            <a:r>
              <a:rPr lang="es-ES" sz="2300" dirty="0" smtClean="0"/>
              <a:t>Elección de nombre para la empresa que no exista y debe incluir la abreviatura de la forma jurídica (</a:t>
            </a:r>
            <a:r>
              <a:rPr lang="es-ES" sz="2300" dirty="0" err="1" smtClean="0"/>
              <a:t>s.a</a:t>
            </a:r>
            <a:r>
              <a:rPr lang="es-ES" sz="2300" dirty="0" smtClean="0"/>
              <a:t>, </a:t>
            </a:r>
            <a:r>
              <a:rPr lang="es-ES" sz="2300" dirty="0" err="1" smtClean="0"/>
              <a:t>s.l</a:t>
            </a:r>
            <a:r>
              <a:rPr lang="es-ES" sz="2300" dirty="0" smtClean="0"/>
              <a:t>, </a:t>
            </a:r>
            <a:r>
              <a:rPr lang="es-ES" sz="2300" dirty="0" err="1" smtClean="0"/>
              <a:t>ect</a:t>
            </a:r>
            <a:r>
              <a:rPr lang="es-ES" sz="2300" dirty="0" smtClean="0"/>
              <a:t>)</a:t>
            </a:r>
          </a:p>
          <a:p>
            <a:pPr marL="457200" indent="-457200">
              <a:buFontTx/>
              <a:buChar char="-"/>
            </a:pPr>
            <a:r>
              <a:rPr lang="es-ES" sz="2300" dirty="0" smtClean="0"/>
              <a:t>Se solicita en Registro </a:t>
            </a:r>
            <a:r>
              <a:rPr lang="es-ES" sz="2300" dirty="0"/>
              <a:t>Mercantil Central </a:t>
            </a:r>
            <a:r>
              <a:rPr lang="es-ES" sz="2300" dirty="0" smtClean="0"/>
              <a:t> para </a:t>
            </a:r>
            <a:r>
              <a:rPr lang="es-ES" sz="2300" dirty="0"/>
              <a:t>Sociedades </a:t>
            </a:r>
            <a:r>
              <a:rPr lang="es-ES" sz="2300" dirty="0" smtClean="0"/>
              <a:t>mercantiles, y  en el Registro </a:t>
            </a:r>
            <a:r>
              <a:rPr lang="es-ES" sz="2300" dirty="0"/>
              <a:t>de Sociedades </a:t>
            </a:r>
            <a:r>
              <a:rPr lang="es-ES" sz="2300" dirty="0" smtClean="0"/>
              <a:t>Cooperativas para Cooperativas</a:t>
            </a:r>
          </a:p>
          <a:p>
            <a:r>
              <a:rPr lang="es-ES" sz="2300" b="1" dirty="0" smtClean="0"/>
              <a:t>APERTURA DE CUENTA BANCARIA</a:t>
            </a:r>
          </a:p>
          <a:p>
            <a:pPr marL="457200" indent="-457200">
              <a:buFontTx/>
              <a:buChar char="-"/>
            </a:pPr>
            <a:r>
              <a:rPr lang="es-ES" sz="2300" dirty="0" smtClean="0"/>
              <a:t>Necesario si se necesita capital mínimo</a:t>
            </a:r>
          </a:p>
          <a:p>
            <a:pPr marL="457200" indent="-457200">
              <a:buFontTx/>
              <a:buChar char="-"/>
            </a:pPr>
            <a:r>
              <a:rPr lang="es-ES" sz="2300" dirty="0" smtClean="0"/>
              <a:t>Cualquiera de los socios, preferiblemente el administrador</a:t>
            </a:r>
          </a:p>
          <a:p>
            <a:pPr marL="457200" indent="-457200">
              <a:buFontTx/>
              <a:buChar char="-"/>
            </a:pPr>
            <a:r>
              <a:rPr lang="es-ES" sz="2300" dirty="0" smtClean="0"/>
              <a:t>Certificado con capital</a:t>
            </a:r>
          </a:p>
          <a:p>
            <a:r>
              <a:rPr lang="es-ES" sz="2300" b="1" dirty="0" smtClean="0"/>
              <a:t>ESTATUTOS DE LA SOCIEDAD </a:t>
            </a:r>
            <a:r>
              <a:rPr lang="es-ES" sz="2300" dirty="0" smtClean="0"/>
              <a:t>(normas)</a:t>
            </a:r>
          </a:p>
          <a:p>
            <a:r>
              <a:rPr lang="es-ES" sz="2300" b="1" dirty="0" smtClean="0"/>
              <a:t>OTORGAMIENTO DE ESCRITURA PÚBLICA DE CONSTITUCIÓN</a:t>
            </a:r>
          </a:p>
          <a:p>
            <a:pPr marL="457200" indent="-457200">
              <a:buFontTx/>
              <a:buChar char="-"/>
            </a:pPr>
            <a:r>
              <a:rPr lang="es-ES" sz="2300" dirty="0" smtClean="0"/>
              <a:t>Firma ante notario de las escrituras públicas</a:t>
            </a:r>
          </a:p>
          <a:p>
            <a:pPr marL="457200" indent="-457200">
              <a:buFontTx/>
              <a:buChar char="-"/>
            </a:pPr>
            <a:r>
              <a:rPr lang="es-ES" sz="2300" dirty="0" smtClean="0"/>
              <a:t>Se compone de:</a:t>
            </a:r>
          </a:p>
          <a:p>
            <a:r>
              <a:rPr lang="es-ES" sz="2300" dirty="0"/>
              <a:t>	</a:t>
            </a:r>
            <a:r>
              <a:rPr lang="es-ES" sz="2300" dirty="0" smtClean="0"/>
              <a:t>* Identidad </a:t>
            </a:r>
            <a:r>
              <a:rPr lang="es-ES" sz="2300" dirty="0"/>
              <a:t>de los socios. </a:t>
            </a:r>
          </a:p>
          <a:p>
            <a:r>
              <a:rPr lang="es-ES" sz="2300" dirty="0" smtClean="0"/>
              <a:t>	* Voluntad </a:t>
            </a:r>
            <a:r>
              <a:rPr lang="es-ES" sz="2300" dirty="0"/>
              <a:t>de constituir una sociedad </a:t>
            </a:r>
          </a:p>
          <a:p>
            <a:r>
              <a:rPr lang="es-ES" sz="2300" dirty="0"/>
              <a:t>	</a:t>
            </a:r>
            <a:r>
              <a:rPr lang="es-ES" sz="2300" dirty="0" smtClean="0"/>
              <a:t>* Aportaciones </a:t>
            </a:r>
            <a:r>
              <a:rPr lang="es-ES" sz="2300" dirty="0"/>
              <a:t>que realiza cada socio. </a:t>
            </a:r>
          </a:p>
          <a:p>
            <a:r>
              <a:rPr lang="es-ES" sz="2300" dirty="0" smtClean="0"/>
              <a:t>	* Estatutos </a:t>
            </a:r>
            <a:r>
              <a:rPr lang="es-ES" sz="2300" dirty="0"/>
              <a:t>de la sociedad </a:t>
            </a:r>
          </a:p>
          <a:p>
            <a:r>
              <a:rPr lang="es-ES" sz="2300" dirty="0" smtClean="0"/>
              <a:t>	* Determinación </a:t>
            </a:r>
            <a:r>
              <a:rPr lang="es-ES" sz="2300" dirty="0"/>
              <a:t>del modo en que inicialmente se organiza la </a:t>
            </a:r>
            <a:r>
              <a:rPr lang="es-ES" sz="2300" dirty="0" smtClean="0"/>
              <a:t>administración.</a:t>
            </a:r>
          </a:p>
          <a:p>
            <a:r>
              <a:rPr lang="es-ES" sz="2300" dirty="0"/>
              <a:t>	</a:t>
            </a:r>
            <a:r>
              <a:rPr lang="es-ES" sz="2300" dirty="0" smtClean="0"/>
              <a:t>* Persona </a:t>
            </a:r>
            <a:r>
              <a:rPr lang="es-ES" sz="2300" dirty="0"/>
              <a:t>o personas que se encargarán inicialmente de la </a:t>
            </a:r>
            <a:r>
              <a:rPr lang="es-ES" sz="2300" dirty="0" err="1"/>
              <a:t>adminsitración</a:t>
            </a:r>
            <a:r>
              <a:rPr lang="es-ES" sz="2300" dirty="0"/>
              <a:t> y </a:t>
            </a:r>
            <a:r>
              <a:rPr lang="es-ES" sz="2300" dirty="0" smtClean="0"/>
              <a:t>representación.</a:t>
            </a:r>
          </a:p>
          <a:p>
            <a:r>
              <a:rPr lang="es-ES" sz="2300" dirty="0"/>
              <a:t>	</a:t>
            </a:r>
            <a:r>
              <a:rPr lang="es-ES" sz="2300" dirty="0" smtClean="0"/>
              <a:t>* Pactos </a:t>
            </a:r>
            <a:r>
              <a:rPr lang="es-ES" sz="2300" dirty="0"/>
              <a:t>y condiciones que los socios crean convenientes</a:t>
            </a:r>
          </a:p>
          <a:p>
            <a:endParaRPr lang="es-ES" sz="2800" b="1" dirty="0" smtClean="0"/>
          </a:p>
        </p:txBody>
      </p:sp>
    </p:spTree>
    <p:extLst>
      <p:ext uri="{BB962C8B-B14F-4D97-AF65-F5344CB8AC3E}">
        <p14:creationId xmlns:p14="http://schemas.microsoft.com/office/powerpoint/2010/main" val="1291954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 name="17 Pergamino horizontal"/>
          <p:cNvSpPr/>
          <p:nvPr/>
        </p:nvSpPr>
        <p:spPr>
          <a:xfrm>
            <a:off x="1907627" y="48944"/>
            <a:ext cx="13538855" cy="10011103"/>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400" b="1" dirty="0"/>
              <a:t>SOLICITUD DEL CÓDIGO DE IDENTIFICACIÓN FISCAL (C.I.F</a:t>
            </a:r>
            <a:r>
              <a:rPr lang="es-ES" sz="2400" b="1" dirty="0" smtClean="0"/>
              <a:t>.)</a:t>
            </a:r>
          </a:p>
          <a:p>
            <a:pPr marL="457200" indent="-457200">
              <a:buFontTx/>
              <a:buChar char="-"/>
            </a:pPr>
            <a:r>
              <a:rPr lang="es-ES" sz="2400" dirty="0" smtClean="0"/>
              <a:t>Identifica </a:t>
            </a:r>
            <a:r>
              <a:rPr lang="es-ES" sz="2400" dirty="0"/>
              <a:t>a la sociedad en sus relaciones con </a:t>
            </a:r>
            <a:r>
              <a:rPr lang="es-ES" sz="2400" dirty="0" smtClean="0"/>
              <a:t>Hacienda</a:t>
            </a:r>
          </a:p>
          <a:p>
            <a:pPr marL="457200" indent="-457200">
              <a:buFontTx/>
              <a:buChar char="-"/>
            </a:pPr>
            <a:r>
              <a:rPr lang="es-ES" sz="2400" dirty="0" smtClean="0"/>
              <a:t>Se </a:t>
            </a:r>
            <a:r>
              <a:rPr lang="es-ES" sz="2400" dirty="0"/>
              <a:t>solicita en la delegación de Hacienda. </a:t>
            </a:r>
          </a:p>
          <a:p>
            <a:pPr marL="457200" indent="-457200">
              <a:buFontTx/>
              <a:buChar char="-"/>
            </a:pPr>
            <a:r>
              <a:rPr lang="es-ES" sz="2400" dirty="0" smtClean="0"/>
              <a:t>Se </a:t>
            </a:r>
            <a:r>
              <a:rPr lang="es-ES" sz="2400" dirty="0"/>
              <a:t>debe aportar una copia de la escritura de constitución y fotocopia del DNI del solicitante. </a:t>
            </a:r>
          </a:p>
          <a:p>
            <a:pPr marL="457200" indent="-457200">
              <a:buFontTx/>
              <a:buChar char="-"/>
            </a:pPr>
            <a:r>
              <a:rPr lang="es-ES" sz="2400" dirty="0" smtClean="0"/>
              <a:t>Se </a:t>
            </a:r>
            <a:r>
              <a:rPr lang="es-ES" sz="2400" dirty="0"/>
              <a:t>dispone de un plazo de 30 días desde el otorgamiento de la escritura. El primer C.I.F. Es provisional y tiene una validez de 6 meses, hasta que se retira el definitivo</a:t>
            </a:r>
            <a:r>
              <a:rPr lang="es-ES" sz="2400" b="1" dirty="0" smtClean="0"/>
              <a:t> </a:t>
            </a:r>
          </a:p>
          <a:p>
            <a:r>
              <a:rPr lang="es-ES" sz="2400" b="1" dirty="0" smtClean="0"/>
              <a:t>INSCRIPCIÓN EN REGISTROS</a:t>
            </a:r>
          </a:p>
          <a:p>
            <a:pPr marL="457200" indent="-457200">
              <a:buFontTx/>
              <a:buChar char="-"/>
            </a:pPr>
            <a:r>
              <a:rPr lang="es-ES" sz="2400" dirty="0" smtClean="0"/>
              <a:t>Se </a:t>
            </a:r>
            <a:r>
              <a:rPr lang="es-ES" sz="2400" dirty="0"/>
              <a:t>deben inscribir en el Registro Mercantil de la provincia. Las cooperativas en el Registro General de Cooperativas, y las sociedades laborales en el Registro Administrativo de Sociedades Laborales de la Comunidad Autónoma </a:t>
            </a:r>
            <a:r>
              <a:rPr lang="es-ES" sz="2400" dirty="0" smtClean="0"/>
              <a:t>correspondiente.</a:t>
            </a:r>
          </a:p>
          <a:p>
            <a:pPr marL="457200" indent="-457200">
              <a:buFontTx/>
              <a:buChar char="-"/>
            </a:pPr>
            <a:r>
              <a:rPr lang="es-ES" sz="2400" dirty="0" smtClean="0"/>
              <a:t>Se </a:t>
            </a:r>
            <a:r>
              <a:rPr lang="es-ES" sz="2400" dirty="0"/>
              <a:t>debe aportar: – Original de la escritura de constitución y del pago del Impuesto de </a:t>
            </a:r>
            <a:r>
              <a:rPr lang="es-ES" sz="2400" dirty="0" err="1"/>
              <a:t>Trans</a:t>
            </a:r>
            <a:r>
              <a:rPr lang="es-ES" sz="2400" dirty="0"/>
              <a:t>. </a:t>
            </a:r>
            <a:r>
              <a:rPr lang="es-ES" sz="2400" dirty="0" err="1"/>
              <a:t>Patr</a:t>
            </a:r>
            <a:r>
              <a:rPr lang="es-ES" sz="2400" dirty="0"/>
              <a:t>. y </a:t>
            </a:r>
            <a:r>
              <a:rPr lang="es-ES" sz="2400" dirty="0" err="1"/>
              <a:t>Act</a:t>
            </a:r>
            <a:r>
              <a:rPr lang="es-ES" sz="2400" dirty="0"/>
              <a:t>. </a:t>
            </a:r>
            <a:r>
              <a:rPr lang="es-ES" sz="2400" dirty="0" err="1"/>
              <a:t>Juríd</a:t>
            </a:r>
            <a:r>
              <a:rPr lang="es-ES" sz="2400" dirty="0"/>
              <a:t>. Doc. – Cooperativas &gt; copias simples de la escritura de constitución y una autorizada, y la </a:t>
            </a:r>
            <a:r>
              <a:rPr lang="es-ES" sz="2400" dirty="0" err="1"/>
              <a:t>delcaración</a:t>
            </a:r>
            <a:r>
              <a:rPr lang="es-ES" sz="2400" dirty="0"/>
              <a:t> de la actividad a desarrollar. </a:t>
            </a:r>
          </a:p>
          <a:p>
            <a:pPr marL="457200" indent="-457200">
              <a:buFontTx/>
              <a:buChar char="-"/>
            </a:pPr>
            <a:r>
              <a:rPr lang="es-ES" sz="2400" dirty="0" smtClean="0"/>
              <a:t>El </a:t>
            </a:r>
            <a:r>
              <a:rPr lang="es-ES" sz="2400" dirty="0"/>
              <a:t>registro entregará la escritura en que constarán el tomo, folio y la hoja en que ha quedado inscrita la empresa. Datos que deben reflejarse obligatoriamente en toda la documentación comercial (cartas, facturas, albaranes...) </a:t>
            </a:r>
            <a:endParaRPr lang="es-ES" sz="2400" b="1" dirty="0"/>
          </a:p>
        </p:txBody>
      </p:sp>
    </p:spTree>
    <p:extLst>
      <p:ext uri="{BB962C8B-B14F-4D97-AF65-F5344CB8AC3E}">
        <p14:creationId xmlns:p14="http://schemas.microsoft.com/office/powerpoint/2010/main" val="3510205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 name="17 Pergamino horizontal"/>
          <p:cNvSpPr/>
          <p:nvPr/>
        </p:nvSpPr>
        <p:spPr>
          <a:xfrm>
            <a:off x="299545" y="48944"/>
            <a:ext cx="16191186" cy="10011103"/>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400" b="1" dirty="0"/>
              <a:t>TRÁMITES EN EL MINISTERIO DE ECONOMÍA Y </a:t>
            </a:r>
            <a:r>
              <a:rPr lang="es-ES" sz="2400" b="1" dirty="0" smtClean="0"/>
              <a:t>HACIENDA:</a:t>
            </a:r>
          </a:p>
          <a:p>
            <a:pPr marL="342900" indent="-342900">
              <a:buFontTx/>
              <a:buChar char="-"/>
            </a:pPr>
            <a:r>
              <a:rPr lang="es-ES" sz="2400" dirty="0" smtClean="0"/>
              <a:t>Declaración </a:t>
            </a:r>
            <a:r>
              <a:rPr lang="es-ES" sz="2400" dirty="0"/>
              <a:t>de alta en el IAE: </a:t>
            </a:r>
            <a:r>
              <a:rPr lang="es-ES" sz="2400" dirty="0" smtClean="0"/>
              <a:t>es </a:t>
            </a:r>
            <a:r>
              <a:rPr lang="es-ES" sz="2400" dirty="0"/>
              <a:t>un tributo local que grava el ejercicio de actividades empresariales, profesionales y </a:t>
            </a:r>
            <a:r>
              <a:rPr lang="es-ES" sz="2400" dirty="0" smtClean="0"/>
              <a:t>artísticas.</a:t>
            </a:r>
          </a:p>
          <a:p>
            <a:pPr marL="342900" indent="-342900">
              <a:buFontTx/>
              <a:buChar char="-"/>
            </a:pPr>
            <a:r>
              <a:rPr lang="es-ES" sz="2400" dirty="0" smtClean="0"/>
              <a:t>Declaración </a:t>
            </a:r>
            <a:r>
              <a:rPr lang="es-ES" sz="2400" dirty="0"/>
              <a:t>censal: </a:t>
            </a:r>
            <a:endParaRPr lang="es-ES" sz="2400" dirty="0" smtClean="0"/>
          </a:p>
          <a:p>
            <a:r>
              <a:rPr lang="es-ES" sz="2400" dirty="0"/>
              <a:t>	</a:t>
            </a:r>
            <a:r>
              <a:rPr lang="es-ES" sz="2400" dirty="0" smtClean="0"/>
              <a:t>* Resumen </a:t>
            </a:r>
            <a:r>
              <a:rPr lang="es-ES" sz="2400" dirty="0"/>
              <a:t>de la situación y obligaciones fiscales de la empresa que debe presentarse en el inicio, modificación y cese de </a:t>
            </a:r>
            <a:r>
              <a:rPr lang="es-ES" sz="2400" dirty="0" smtClean="0"/>
              <a:t>actividad.</a:t>
            </a:r>
          </a:p>
          <a:p>
            <a:r>
              <a:rPr lang="es-ES" sz="2400" dirty="0"/>
              <a:t>	</a:t>
            </a:r>
            <a:r>
              <a:rPr lang="es-ES" sz="2400" dirty="0" smtClean="0"/>
              <a:t>* Debe </a:t>
            </a:r>
            <a:r>
              <a:rPr lang="es-ES" sz="2400" dirty="0"/>
              <a:t>realizarse antes del inicio de la </a:t>
            </a:r>
            <a:r>
              <a:rPr lang="es-ES" sz="2400" dirty="0" smtClean="0"/>
              <a:t>actividad.</a:t>
            </a:r>
          </a:p>
          <a:p>
            <a:r>
              <a:rPr lang="es-ES" sz="2400" dirty="0"/>
              <a:t>	</a:t>
            </a:r>
            <a:r>
              <a:rPr lang="es-ES" sz="2400" dirty="0" smtClean="0"/>
              <a:t>* Debe </a:t>
            </a:r>
            <a:r>
              <a:rPr lang="es-ES" sz="2400" dirty="0"/>
              <a:t>presentarse el alta en el IAE</a:t>
            </a:r>
            <a:r>
              <a:rPr lang="es-ES" sz="2400" dirty="0" smtClean="0"/>
              <a:t>.</a:t>
            </a:r>
          </a:p>
          <a:p>
            <a:r>
              <a:rPr lang="es-ES" sz="2400" b="1" dirty="0" smtClean="0"/>
              <a:t>TRÁMITES EN EL AYUNTAMIENTO:</a:t>
            </a:r>
          </a:p>
          <a:p>
            <a:pPr marL="342900" indent="-342900">
              <a:buFontTx/>
              <a:buChar char="-"/>
            </a:pPr>
            <a:r>
              <a:rPr lang="es-ES" sz="2400" dirty="0" smtClean="0"/>
              <a:t>Licencia de obras: se solicita si se van a realizar obras</a:t>
            </a:r>
          </a:p>
          <a:p>
            <a:pPr marL="342900" indent="-342900">
              <a:buFontTx/>
              <a:buChar char="-"/>
            </a:pPr>
            <a:r>
              <a:rPr lang="es-ES" sz="2400" dirty="0" smtClean="0"/>
              <a:t>Licencia de actividades e instalaciones o licencia </a:t>
            </a:r>
            <a:r>
              <a:rPr lang="es-ES" sz="2400" dirty="0"/>
              <a:t>de apertura (Acredita que las instalaciones cumplen con la normativa </a:t>
            </a:r>
            <a:r>
              <a:rPr lang="es-ES" sz="2400" dirty="0" smtClean="0"/>
              <a:t>urbanística)</a:t>
            </a:r>
          </a:p>
          <a:p>
            <a:r>
              <a:rPr lang="es-ES" sz="2400" b="1" dirty="0" smtClean="0"/>
              <a:t>TRÁMITES EN LA SEGURIDAD SOCAL:</a:t>
            </a:r>
          </a:p>
          <a:p>
            <a:pPr marL="342900" indent="-342900">
              <a:buFontTx/>
              <a:buChar char="-"/>
            </a:pPr>
            <a:r>
              <a:rPr lang="es-ES" sz="2400" dirty="0" smtClean="0"/>
              <a:t>Inscripción de la empresa en la S.S</a:t>
            </a:r>
          </a:p>
          <a:p>
            <a:pPr marL="342900" indent="-342900">
              <a:buFontTx/>
              <a:buChar char="-"/>
            </a:pPr>
            <a:r>
              <a:rPr lang="es-ES" sz="2400" dirty="0" smtClean="0"/>
              <a:t>Alta en el régimen general de trabajadores autónomos de la seguridad social (RETA)</a:t>
            </a:r>
          </a:p>
          <a:p>
            <a:r>
              <a:rPr lang="es-ES" sz="2400" b="1" dirty="0" smtClean="0"/>
              <a:t>ALTA EN EL RÉGIMEN GENERAL DE LA SEGURIDAD SOCIAL</a:t>
            </a:r>
          </a:p>
          <a:p>
            <a:pPr marL="342900" indent="-342900">
              <a:buFontTx/>
              <a:buChar char="-"/>
            </a:pPr>
            <a:r>
              <a:rPr lang="es-ES" sz="2400" dirty="0" smtClean="0"/>
              <a:t>Inscribir a todos los trabajadores</a:t>
            </a:r>
          </a:p>
          <a:p>
            <a:r>
              <a:rPr lang="es-ES" sz="2400" b="1" dirty="0"/>
              <a:t>TRÁMITES EN LA CONSEJERÍA DE EMPLEO O TRABAJO DE LA COMUNIDAD </a:t>
            </a:r>
            <a:r>
              <a:rPr lang="es-ES" sz="2400" b="1" dirty="0" smtClean="0"/>
              <a:t>AUTÓNOMA</a:t>
            </a:r>
          </a:p>
          <a:p>
            <a:r>
              <a:rPr lang="es-ES" sz="2400" b="1" dirty="0" smtClean="0"/>
              <a:t>- </a:t>
            </a:r>
            <a:r>
              <a:rPr lang="es-ES" sz="2400" dirty="0" smtClean="0"/>
              <a:t>Comunicación de apertura del centro</a:t>
            </a:r>
            <a:endParaRPr lang="es-ES" sz="2400" b="1" dirty="0" smtClean="0"/>
          </a:p>
          <a:p>
            <a:pPr marL="342900" indent="-342900">
              <a:buFontTx/>
              <a:buChar char="-"/>
            </a:pPr>
            <a:endParaRPr lang="es-ES" sz="2400" dirty="0" smtClean="0"/>
          </a:p>
          <a:p>
            <a:endParaRPr lang="es-ES" sz="2400" b="1" dirty="0"/>
          </a:p>
        </p:txBody>
      </p:sp>
      <p:sp>
        <p:nvSpPr>
          <p:cNvPr id="7" name="Título 1"/>
          <p:cNvSpPr>
            <a:spLocks noGrp="1"/>
          </p:cNvSpPr>
          <p:nvPr/>
        </p:nvSpPr>
        <p:spPr>
          <a:xfrm>
            <a:off x="3167286" y="94885"/>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latin typeface="Poppins" panose="020B0604020202020204" charset="0"/>
                <a:ea typeface="Poppins"/>
                <a:cs typeface="Poppins" panose="020B0604020202020204" charset="0"/>
                <a:sym typeface="Poppins"/>
              </a:rPr>
              <a:t>Trámites de puesta en marcha</a:t>
            </a:r>
            <a:endParaRPr lang="es-ES" sz="2800" b="1" dirty="0">
              <a:latin typeface="+mn-lt"/>
            </a:endParaRPr>
          </a:p>
        </p:txBody>
      </p:sp>
    </p:spTree>
    <p:extLst>
      <p:ext uri="{BB962C8B-B14F-4D97-AF65-F5344CB8AC3E}">
        <p14:creationId xmlns:p14="http://schemas.microsoft.com/office/powerpoint/2010/main" val="3475067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9;p3"/>
          <p:cNvSpPr/>
          <p:nvPr/>
        </p:nvSpPr>
        <p:spPr>
          <a:xfrm>
            <a:off x="16619702" y="301258"/>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 name="Google Shape;102;p3"/>
          <p:cNvSpPr/>
          <p:nvPr/>
        </p:nvSpPr>
        <p:spPr>
          <a:xfrm>
            <a:off x="15982950" y="9517916"/>
            <a:ext cx="2018862" cy="542131"/>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 name="17 Pergamino horizontal"/>
          <p:cNvSpPr/>
          <p:nvPr/>
        </p:nvSpPr>
        <p:spPr>
          <a:xfrm>
            <a:off x="299545" y="1053579"/>
            <a:ext cx="16191186" cy="9006468"/>
          </a:xfrm>
          <a:prstGeom prst="horizontalScroll">
            <a:avLst/>
          </a:prstGeom>
        </p:spPr>
        <p:style>
          <a:lnRef idx="1">
            <a:schemeClr val="accent6"/>
          </a:lnRef>
          <a:fillRef idx="2">
            <a:schemeClr val="accent6"/>
          </a:fillRef>
          <a:effectRef idx="1">
            <a:schemeClr val="accent6"/>
          </a:effectRef>
          <a:fontRef idx="minor">
            <a:schemeClr val="dk1"/>
          </a:fontRef>
        </p:style>
        <p:txBody>
          <a:bodyPr rtlCol="0" anchor="ctr"/>
          <a:lstStyle/>
          <a:p>
            <a:r>
              <a:rPr lang="es-ES" sz="2400" b="1" dirty="0" smtClean="0"/>
              <a:t>TRAMITACIÓN MEDIANTE VENTANILLA ÚNICA</a:t>
            </a:r>
          </a:p>
          <a:p>
            <a:endParaRPr lang="es-ES" sz="2400" b="1" dirty="0" smtClean="0"/>
          </a:p>
          <a:p>
            <a:r>
              <a:rPr lang="es-ES" sz="2400" b="1" dirty="0" smtClean="0"/>
              <a:t>CONSTITUCIÓN POR VÍA TELEMÁTICA:</a:t>
            </a:r>
          </a:p>
          <a:p>
            <a:pPr marL="342900" indent="-342900">
              <a:buFontTx/>
              <a:buChar char="-"/>
            </a:pPr>
            <a:r>
              <a:rPr lang="es-ES" sz="2400" dirty="0" smtClean="0"/>
              <a:t>Portal </a:t>
            </a:r>
            <a:r>
              <a:rPr lang="es-ES" sz="2400" dirty="0"/>
              <a:t>PYME. Información y asesoramiento. www.ipyme.org , o se puede acceder desde: </a:t>
            </a:r>
            <a:r>
              <a:rPr lang="es-ES" sz="2400" dirty="0" smtClean="0">
                <a:hlinkClick r:id="rId4"/>
              </a:rPr>
              <a:t>www.circe.es</a:t>
            </a:r>
            <a:endParaRPr lang="es-ES" sz="2400" dirty="0" smtClean="0"/>
          </a:p>
          <a:p>
            <a:pPr marL="342900" indent="-342900">
              <a:buFontTx/>
              <a:buChar char="-"/>
            </a:pPr>
            <a:r>
              <a:rPr lang="es-ES" sz="2400" dirty="0" smtClean="0"/>
              <a:t>Puntos </a:t>
            </a:r>
            <a:r>
              <a:rPr lang="es-ES" sz="2400" dirty="0"/>
              <a:t>de Asesoramiento y Tramitación (PAIT). Se asesora, se prestan servicios y se inicia la tramitación </a:t>
            </a:r>
            <a:r>
              <a:rPr lang="es-ES" sz="2400" dirty="0" smtClean="0"/>
              <a:t>telemática.</a:t>
            </a:r>
          </a:p>
          <a:p>
            <a:pPr marL="342900" indent="-342900">
              <a:buFontTx/>
              <a:buChar char="-"/>
            </a:pPr>
            <a:r>
              <a:rPr lang="es-ES" sz="2400" dirty="0" smtClean="0"/>
              <a:t>Sistema </a:t>
            </a:r>
            <a:r>
              <a:rPr lang="es-ES" sz="2400" dirty="0"/>
              <a:t>de Tramitación Telemática (STT-CIRCE). Se tramitan expedientes electrónicos en base al Documento Único Electrónico (DUE). Mediante el procedimiento electrónico sólo debemos acudir al PAIT y al notario, reduciéndose el tiempo de constitución a 3 días</a:t>
            </a:r>
            <a:r>
              <a:rPr lang="es-ES" sz="2400" dirty="0" smtClean="0"/>
              <a:t>.</a:t>
            </a:r>
          </a:p>
          <a:p>
            <a:endParaRPr lang="es-ES" sz="2400" dirty="0" smtClean="0"/>
          </a:p>
          <a:p>
            <a:r>
              <a:rPr lang="es-ES" sz="2400" dirty="0" smtClean="0">
                <a:hlinkClick r:id="rId5"/>
              </a:rPr>
              <a:t>https</a:t>
            </a:r>
            <a:r>
              <a:rPr lang="es-ES" sz="2400" dirty="0">
                <a:hlinkClick r:id="rId5"/>
              </a:rPr>
              <a:t>://</a:t>
            </a:r>
            <a:r>
              <a:rPr lang="es-ES" sz="2400" dirty="0" smtClean="0">
                <a:hlinkClick r:id="rId5"/>
              </a:rPr>
              <a:t>www.youtube.com/watch?v=od-Wh0EZVrw&amp;t=2s</a:t>
            </a:r>
            <a:endParaRPr lang="es-ES" sz="2400" dirty="0" smtClean="0"/>
          </a:p>
          <a:p>
            <a:endParaRPr lang="es-ES" sz="2400" dirty="0" smtClean="0"/>
          </a:p>
          <a:p>
            <a:pPr marL="342900" indent="-342900">
              <a:buFontTx/>
              <a:buChar char="-"/>
            </a:pPr>
            <a:endParaRPr lang="es-ES" sz="2400" dirty="0" smtClean="0"/>
          </a:p>
          <a:p>
            <a:endParaRPr lang="es-ES" sz="2400" b="1" dirty="0"/>
          </a:p>
        </p:txBody>
      </p:sp>
      <p:sp>
        <p:nvSpPr>
          <p:cNvPr id="7" name="Título 1"/>
          <p:cNvSpPr>
            <a:spLocks noGrp="1"/>
          </p:cNvSpPr>
          <p:nvPr/>
        </p:nvSpPr>
        <p:spPr>
          <a:xfrm>
            <a:off x="3167286" y="574232"/>
            <a:ext cx="10599776" cy="95869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smtClean="0">
                <a:latin typeface="Poppins" panose="020B0604020202020204" charset="0"/>
                <a:ea typeface="Poppins"/>
                <a:cs typeface="Poppins" panose="020B0604020202020204" charset="0"/>
                <a:sym typeface="Poppins"/>
              </a:rPr>
              <a:t>Iniciativa para facilitar la constitución legal de la empresa</a:t>
            </a:r>
            <a:endParaRPr lang="es-ES" sz="2800" b="1" dirty="0">
              <a:latin typeface="+mn-lt"/>
            </a:endParaRPr>
          </a:p>
        </p:txBody>
      </p:sp>
    </p:spTree>
    <p:extLst>
      <p:ext uri="{BB962C8B-B14F-4D97-AF65-F5344CB8AC3E}">
        <p14:creationId xmlns:p14="http://schemas.microsoft.com/office/powerpoint/2010/main" val="942687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67B49E"/>
        </a:solidFill>
        <a:effectLst/>
      </p:bgPr>
    </p:bg>
    <p:spTree>
      <p:nvGrpSpPr>
        <p:cNvPr id="1" name="Shape 110"/>
        <p:cNvGrpSpPr/>
        <p:nvPr/>
      </p:nvGrpSpPr>
      <p:grpSpPr>
        <a:xfrm>
          <a:off x="0" y="0"/>
          <a:ext cx="0" cy="0"/>
          <a:chOff x="0" y="0"/>
          <a:chExt cx="0" cy="0"/>
        </a:xfrm>
      </p:grpSpPr>
      <p:sp>
        <p:nvSpPr>
          <p:cNvPr id="111" name="Google Shape;111;p4"/>
          <p:cNvSpPr/>
          <p:nvPr/>
        </p:nvSpPr>
        <p:spPr>
          <a:xfrm>
            <a:off x="15147925" y="1028700"/>
            <a:ext cx="2111375" cy="1931987"/>
          </a:xfrm>
          <a:custGeom>
            <a:avLst/>
            <a:gdLst/>
            <a:ahLst/>
            <a:cxnLst/>
            <a:rect l="l" t="t" r="r" b="b"/>
            <a:pathLst>
              <a:path w="2111795" h="1932533" extrusionOk="0">
                <a:moveTo>
                  <a:pt x="0" y="0"/>
                </a:moveTo>
                <a:lnTo>
                  <a:pt x="2111795" y="0"/>
                </a:lnTo>
                <a:lnTo>
                  <a:pt x="2111795" y="1932533"/>
                </a:lnTo>
                <a:lnTo>
                  <a:pt x="0" y="193253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12" name="Google Shape;112;p4"/>
          <p:cNvSpPr txBox="1"/>
          <p:nvPr/>
        </p:nvSpPr>
        <p:spPr>
          <a:xfrm>
            <a:off x="3767137" y="4246562"/>
            <a:ext cx="10753725" cy="154622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F8FBFD"/>
              </a:buClr>
              <a:buSzPts val="8500"/>
              <a:buFont typeface="Poppins"/>
              <a:buNone/>
            </a:pPr>
            <a:r>
              <a:rPr lang="en-US" sz="8500" b="0" i="0" u="none">
                <a:solidFill>
                  <a:srgbClr val="F8FBFD"/>
                </a:solidFill>
                <a:latin typeface="Poppins"/>
                <a:ea typeface="Poppins"/>
                <a:cs typeface="Poppins"/>
                <a:sym typeface="Poppins"/>
              </a:rPr>
              <a:t>Gracias</a:t>
            </a:r>
            <a:endParaRPr/>
          </a:p>
        </p:txBody>
      </p:sp>
      <p:sp>
        <p:nvSpPr>
          <p:cNvPr id="113" name="Google Shape;113;p4"/>
          <p:cNvSpPr/>
          <p:nvPr/>
        </p:nvSpPr>
        <p:spPr>
          <a:xfrm>
            <a:off x="12755562" y="8174037"/>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1154</TotalTime>
  <Words>1586</Words>
  <Application>Microsoft Office PowerPoint</Application>
  <PresentationFormat>Personalizado</PresentationFormat>
  <Paragraphs>254</Paragraphs>
  <Slides>26</Slides>
  <Notes>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Poppins</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Álvaro Estevez Villalba</dc:creator>
  <cp:lastModifiedBy>Álvaro Estevez Villalba</cp:lastModifiedBy>
  <cp:revision>176</cp:revision>
  <cp:lastPrinted>2024-01-26T11:53:40Z</cp:lastPrinted>
  <dcterms:created xsi:type="dcterms:W3CDTF">2006-08-16T00:00:00Z</dcterms:created>
  <dcterms:modified xsi:type="dcterms:W3CDTF">2024-11-06T10:01:14Z</dcterms:modified>
</cp:coreProperties>
</file>