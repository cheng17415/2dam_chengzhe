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15.jpg" ContentType="image/jpg"/>
  <Override PartName="/ppt/media/image18.jpg" ContentType="image/jpg"/>
  <Override PartName="/ppt/media/image19.jpg" ContentType="image/jpg"/>
  <Override PartName="/ppt/media/image20.jpg" ContentType="image/jpg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99" r:id="rId4"/>
    <p:sldId id="259" r:id="rId5"/>
    <p:sldId id="298" r:id="rId6"/>
    <p:sldId id="301" r:id="rId7"/>
    <p:sldId id="261" r:id="rId8"/>
    <p:sldId id="303" r:id="rId9"/>
    <p:sldId id="306" r:id="rId10"/>
    <p:sldId id="264" r:id="rId11"/>
    <p:sldId id="305" r:id="rId12"/>
    <p:sldId id="304" r:id="rId13"/>
    <p:sldId id="266" r:id="rId14"/>
    <p:sldId id="302" r:id="rId15"/>
    <p:sldId id="307" r:id="rId16"/>
    <p:sldId id="277" r:id="rId17"/>
    <p:sldId id="311" r:id="rId18"/>
    <p:sldId id="310" r:id="rId19"/>
    <p:sldId id="309" r:id="rId20"/>
    <p:sldId id="308" r:id="rId21"/>
    <p:sldId id="300" r:id="rId22"/>
    <p:sldId id="260" r:id="rId23"/>
  </p:sldIdLst>
  <p:sldSz cx="18288000" cy="10287000"/>
  <p:notesSz cx="6858000" cy="9144000"/>
  <p:embeddedFontLst>
    <p:embeddedFont>
      <p:font typeface="Poppins" panose="000005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jTCP3zMS+7wh59/Mu2YfxkSog0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32" autoAdjust="0"/>
    <p:restoredTop sz="99665" autoAdjust="0"/>
  </p:normalViewPr>
  <p:slideViewPr>
    <p:cSldViewPr snapToGrid="0">
      <p:cViewPr varScale="1">
        <p:scale>
          <a:sx n="41" d="100"/>
          <a:sy n="41" d="100"/>
        </p:scale>
        <p:origin x="60" y="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005354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85045" y="368256"/>
            <a:ext cx="12317911" cy="419025"/>
          </a:xfrm>
        </p:spPr>
        <p:txBody>
          <a:bodyPr lIns="0" tIns="0" rIns="0" bIns="0"/>
          <a:lstStyle>
            <a:lvl1pPr>
              <a:defRPr sz="2723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178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7289">
              <a:lnSpc>
                <a:spcPts val="2546"/>
              </a:lnSpc>
            </a:pPr>
            <a:r>
              <a:rPr lang="es-ES" spc="-20"/>
              <a:t>Antonio</a:t>
            </a:r>
            <a:r>
              <a:rPr lang="es-ES" spc="-7"/>
              <a:t> J. Guirao</a:t>
            </a:r>
            <a:r>
              <a:rPr lang="es-ES" spc="-14"/>
              <a:t> Silvente</a:t>
            </a:r>
            <a:r>
              <a:rPr lang="es-ES" spc="7"/>
              <a:t> </a:t>
            </a:r>
            <a:r>
              <a:rPr lang="es-ES" spc="-14">
                <a:solidFill>
                  <a:srgbClr val="00DBFF"/>
                </a:solidFill>
              </a:rPr>
              <a:t>(@antonio_guirao)</a:t>
            </a:r>
            <a:endParaRPr lang="es-ES" spc="-14" dirty="0">
              <a:solidFill>
                <a:srgbClr val="00DBFF"/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178" b="1" i="0">
                <a:solidFill>
                  <a:srgbClr val="7F7F7F"/>
                </a:solidFill>
                <a:latin typeface="Arial"/>
                <a:cs typeface="Arial"/>
              </a:defRPr>
            </a:lvl1pPr>
          </a:lstStyle>
          <a:p>
            <a:pPr marL="720066" marR="6915" indent="-703642">
              <a:lnSpc>
                <a:spcPts val="2503"/>
              </a:lnSpc>
              <a:spcBef>
                <a:spcPts val="102"/>
              </a:spcBef>
            </a:pPr>
            <a:r>
              <a:rPr lang="es-ES" spc="-7"/>
              <a:t>Empresa </a:t>
            </a:r>
            <a:r>
              <a:rPr lang="es-ES"/>
              <a:t>e </a:t>
            </a:r>
            <a:r>
              <a:rPr lang="es-ES" spc="-14"/>
              <a:t>Iniciativa </a:t>
            </a:r>
            <a:r>
              <a:rPr lang="es-ES" spc="-7"/>
              <a:t>Emprendedora </a:t>
            </a:r>
            <a:r>
              <a:rPr lang="es-ES" spc="-591"/>
              <a:t> </a:t>
            </a:r>
            <a:r>
              <a:rPr lang="es-ES" spc="-14">
                <a:solidFill>
                  <a:srgbClr val="FFFFFF"/>
                </a:solidFill>
              </a:rPr>
              <a:t>Unidad</a:t>
            </a:r>
            <a:r>
              <a:rPr lang="es-ES" spc="-34">
                <a:solidFill>
                  <a:srgbClr val="FFFFFF"/>
                </a:solidFill>
              </a:rPr>
              <a:t> </a:t>
            </a:r>
            <a:r>
              <a:rPr lang="es-ES" spc="-7">
                <a:solidFill>
                  <a:srgbClr val="FFFFFF"/>
                </a:solidFill>
              </a:rPr>
              <a:t>3:</a:t>
            </a:r>
            <a:r>
              <a:rPr lang="es-ES" spc="-34">
                <a:solidFill>
                  <a:srgbClr val="FFFFFF"/>
                </a:solidFill>
              </a:rPr>
              <a:t> </a:t>
            </a:r>
            <a:r>
              <a:rPr lang="es-ES" spc="-7">
                <a:solidFill>
                  <a:srgbClr val="FFFFFF"/>
                </a:solidFill>
              </a:rPr>
              <a:t>Estudio</a:t>
            </a:r>
            <a:r>
              <a:rPr lang="es-ES" spc="-27">
                <a:solidFill>
                  <a:srgbClr val="FFFFFF"/>
                </a:solidFill>
              </a:rPr>
              <a:t> </a:t>
            </a:r>
            <a:r>
              <a:rPr lang="es-ES" spc="-7">
                <a:solidFill>
                  <a:srgbClr val="FFFFFF"/>
                </a:solidFill>
              </a:rPr>
              <a:t>de</a:t>
            </a:r>
            <a:r>
              <a:rPr lang="es-ES" spc="-27">
                <a:solidFill>
                  <a:srgbClr val="FFFFFF"/>
                </a:solidFill>
              </a:rPr>
              <a:t> </a:t>
            </a:r>
            <a:r>
              <a:rPr lang="es-ES" spc="-7">
                <a:solidFill>
                  <a:srgbClr val="FFFFFF"/>
                </a:solidFill>
              </a:rPr>
              <a:t>mercado</a:t>
            </a:r>
            <a:endParaRPr lang="es-ES" spc="-7" dirty="0">
              <a:solidFill>
                <a:srgbClr val="FFFFFF"/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5907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0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openxmlformats.org/officeDocument/2006/relationships/image" Target="../media/image21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eg"/><Relationship Id="rId5" Type="http://schemas.openxmlformats.org/officeDocument/2006/relationships/image" Target="../media/image23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B49E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5147925" y="1028700"/>
            <a:ext cx="2111375" cy="1931987"/>
          </a:xfrm>
          <a:custGeom>
            <a:avLst/>
            <a:gdLst/>
            <a:ahLst/>
            <a:cxnLst/>
            <a:rect l="l" t="t" r="r" b="b"/>
            <a:pathLst>
              <a:path w="2111795" h="1932533" extrusionOk="0">
                <a:moveTo>
                  <a:pt x="0" y="0"/>
                </a:moveTo>
                <a:lnTo>
                  <a:pt x="2111795" y="0"/>
                </a:lnTo>
                <a:lnTo>
                  <a:pt x="2111795" y="1932533"/>
                </a:lnTo>
                <a:lnTo>
                  <a:pt x="0" y="1932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13166103" y="8716169"/>
            <a:ext cx="4502150" cy="1084262"/>
          </a:xfrm>
          <a:custGeom>
            <a:avLst/>
            <a:gdLst/>
            <a:ahLst/>
            <a:cxnLst/>
            <a:rect l="l" t="t" r="r" b="b"/>
            <a:pathLst>
              <a:path w="5424343" h="1297322" extrusionOk="0">
                <a:moveTo>
                  <a:pt x="0" y="0"/>
                </a:moveTo>
                <a:lnTo>
                  <a:pt x="5424343" y="0"/>
                </a:lnTo>
                <a:lnTo>
                  <a:pt x="5424343" y="1297322"/>
                </a:lnTo>
                <a:lnTo>
                  <a:pt x="0" y="12973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3343262" y="1133633"/>
            <a:ext cx="10753725" cy="3662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FBFD"/>
              </a:buClr>
              <a:buSzPts val="8500"/>
              <a:buFont typeface="Poppins"/>
              <a:buNone/>
            </a:pPr>
            <a:r>
              <a:rPr lang="en-US" sz="8500" dirty="0">
                <a:solidFill>
                  <a:srgbClr val="F8FBFD"/>
                </a:solidFill>
                <a:latin typeface="Poppins"/>
                <a:cs typeface="Poppins"/>
                <a:sym typeface="Poppins"/>
              </a:rPr>
              <a:t>TEMA 5. LA FUNCIÓN COMERCIAL</a:t>
            </a:r>
          </a:p>
        </p:txBody>
      </p:sp>
      <p:pic>
        <p:nvPicPr>
          <p:cNvPr id="5" name="Imagen 4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DCD2A8D4-07FB-0F5C-9B7B-629B4C9539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2560" y="8573660"/>
            <a:ext cx="4531295" cy="10842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/>
          <p:nvPr/>
        </p:nvSpPr>
        <p:spPr>
          <a:xfrm>
            <a:off x="16129000" y="1028700"/>
            <a:ext cx="1130300" cy="1031875"/>
          </a:xfrm>
          <a:custGeom>
            <a:avLst/>
            <a:gdLst/>
            <a:ahLst/>
            <a:cxnLst/>
            <a:rect l="l" t="t" r="r" b="b"/>
            <a:pathLst>
              <a:path w="1130949" h="1032248" extrusionOk="0">
                <a:moveTo>
                  <a:pt x="0" y="0"/>
                </a:moveTo>
                <a:lnTo>
                  <a:pt x="1130949" y="0"/>
                </a:lnTo>
                <a:lnTo>
                  <a:pt x="1130949" y="1032248"/>
                </a:lnTo>
                <a:lnTo>
                  <a:pt x="0" y="10322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2557008" y="844776"/>
            <a:ext cx="10752137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440"/>
              </a:buClr>
              <a:buSzPts val="4600"/>
              <a:buFont typeface="Poppins"/>
              <a:buNone/>
            </a:pPr>
            <a:r>
              <a:rPr lang="en-US" sz="4600" b="0" i="0" u="none" dirty="0" err="1">
                <a:solidFill>
                  <a:srgbClr val="1B3440"/>
                </a:solidFill>
                <a:latin typeface="Poppins"/>
                <a:ea typeface="Poppins"/>
                <a:cs typeface="Poppins"/>
                <a:sym typeface="Poppins"/>
              </a:rPr>
              <a:t>Índice</a:t>
            </a:r>
            <a:endParaRPr dirty="0"/>
          </a:p>
        </p:txBody>
      </p:sp>
      <p:sp>
        <p:nvSpPr>
          <p:cNvPr id="94" name="Google Shape;94;p2"/>
          <p:cNvSpPr/>
          <p:nvPr/>
        </p:nvSpPr>
        <p:spPr>
          <a:xfrm>
            <a:off x="13575369" y="8930782"/>
            <a:ext cx="4502150" cy="1084262"/>
          </a:xfrm>
          <a:custGeom>
            <a:avLst/>
            <a:gdLst/>
            <a:ahLst/>
            <a:cxnLst/>
            <a:rect l="l" t="t" r="r" b="b"/>
            <a:pathLst>
              <a:path w="5424343" h="1297322" extrusionOk="0">
                <a:moveTo>
                  <a:pt x="0" y="0"/>
                </a:moveTo>
                <a:lnTo>
                  <a:pt x="5424343" y="0"/>
                </a:lnTo>
                <a:lnTo>
                  <a:pt x="5424343" y="1297322"/>
                </a:lnTo>
                <a:lnTo>
                  <a:pt x="0" y="12973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4F2EC2-17D0-B596-4461-FC034EF53CD3}"/>
              </a:ext>
            </a:extLst>
          </p:cNvPr>
          <p:cNvSpPr txBox="1"/>
          <p:nvPr/>
        </p:nvSpPr>
        <p:spPr>
          <a:xfrm>
            <a:off x="990600" y="2451417"/>
            <a:ext cx="14970760" cy="5384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3600" b="1" dirty="0">
                <a:effectLst/>
                <a:latin typeface="Poppins" panose="00000500000000000000" pitchFamily="2" charset="0"/>
                <a:ea typeface="Lucida Sans Unicode" panose="020B0602030504020204" pitchFamily="34" charset="0"/>
                <a:cs typeface="Poppins" panose="00000500000000000000" pitchFamily="2" charset="0"/>
              </a:rPr>
              <a:t>UNIDAD 5: LA FUNCIÓN COMERCIAL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s-ES" sz="3600" dirty="0">
              <a:effectLst/>
              <a:latin typeface="Poppins" panose="00000500000000000000" pitchFamily="2" charset="0"/>
              <a:ea typeface="Calibri" panose="020F0502020204030204" pitchFamily="34" charset="0"/>
              <a:cs typeface="Poppins" panose="00000500000000000000" pitchFamily="2" charset="0"/>
            </a:endParaRPr>
          </a:p>
          <a:p>
            <a:pPr lvl="0">
              <a:spcAft>
                <a:spcPts val="900"/>
              </a:spcAft>
              <a:buSzPts val="1050"/>
            </a:pPr>
            <a:r>
              <a:rPr lang="es-ES" sz="3600" dirty="0">
                <a:latin typeface="Poppins" panose="00000500000000000000" pitchFamily="2" charset="0"/>
                <a:ea typeface="Lucida Sans Unicode" panose="020B0602030504020204" pitchFamily="34" charset="0"/>
                <a:cs typeface="Poppins" panose="00000500000000000000" pitchFamily="2" charset="0"/>
              </a:rPr>
              <a:t>1. </a:t>
            </a:r>
            <a:r>
              <a:rPr lang="es-ES" sz="3600" dirty="0">
                <a:effectLst/>
                <a:latin typeface="Poppins" panose="00000500000000000000" pitchFamily="2" charset="0"/>
                <a:ea typeface="Lucida Sans Unicode" panose="020B0602030504020204" pitchFamily="34" charset="0"/>
                <a:cs typeface="Poppins" panose="00000500000000000000" pitchFamily="2" charset="0"/>
              </a:rPr>
              <a:t>Concepto de mercado. Oferta. Demanda.</a:t>
            </a:r>
          </a:p>
          <a:p>
            <a:pPr lvl="0">
              <a:spcAft>
                <a:spcPts val="900"/>
              </a:spcAft>
              <a:buSzPts val="1050"/>
            </a:pPr>
            <a:endParaRPr lang="es-ES" sz="3600" dirty="0">
              <a:effectLst/>
              <a:latin typeface="Poppins" panose="00000500000000000000" pitchFamily="2" charset="0"/>
              <a:ea typeface="Lucida Sans Unicode" panose="020B0602030504020204" pitchFamily="34" charset="0"/>
              <a:cs typeface="Poppins" panose="00000500000000000000" pitchFamily="2" charset="0"/>
            </a:endParaRPr>
          </a:p>
          <a:p>
            <a:pPr lvl="0">
              <a:spcAft>
                <a:spcPts val="900"/>
              </a:spcAft>
              <a:buSzPts val="1050"/>
            </a:pPr>
            <a:r>
              <a:rPr lang="es-ES" sz="3600" dirty="0">
                <a:latin typeface="Poppins" panose="00000500000000000000" pitchFamily="2" charset="0"/>
                <a:ea typeface="Lucida Sans Unicode" panose="020B0602030504020204" pitchFamily="34" charset="0"/>
                <a:cs typeface="Poppins" panose="00000500000000000000" pitchFamily="2" charset="0"/>
              </a:rPr>
              <a:t>2. </a:t>
            </a:r>
            <a:r>
              <a:rPr lang="es-ES" sz="3600" dirty="0">
                <a:effectLst/>
                <a:latin typeface="Poppins" panose="00000500000000000000" pitchFamily="2" charset="0"/>
                <a:ea typeface="Lucida Sans Unicode" panose="020B0602030504020204" pitchFamily="34" charset="0"/>
                <a:cs typeface="Poppins" panose="00000500000000000000" pitchFamily="2" charset="0"/>
              </a:rPr>
              <a:t>Análisis del mercado.</a:t>
            </a:r>
          </a:p>
          <a:p>
            <a:pPr lvl="0">
              <a:spcAft>
                <a:spcPts val="900"/>
              </a:spcAft>
              <a:buSzPts val="1050"/>
            </a:pPr>
            <a:endParaRPr lang="es-ES" sz="3600" dirty="0">
              <a:effectLst/>
              <a:latin typeface="Poppins" panose="00000500000000000000" pitchFamily="2" charset="0"/>
              <a:ea typeface="Lucida Sans Unicode" panose="020B0602030504020204" pitchFamily="34" charset="0"/>
              <a:cs typeface="Poppins" panose="00000500000000000000" pitchFamily="2" charset="0"/>
            </a:endParaRPr>
          </a:p>
          <a:p>
            <a:pPr lvl="0">
              <a:spcAft>
                <a:spcPts val="900"/>
              </a:spcAft>
              <a:buSzPts val="1050"/>
            </a:pPr>
            <a:r>
              <a:rPr lang="es-ES" sz="3600" dirty="0">
                <a:latin typeface="Poppins" panose="00000500000000000000" pitchFamily="2" charset="0"/>
                <a:ea typeface="Lucida Sans Unicode" panose="020B0602030504020204" pitchFamily="34" charset="0"/>
                <a:cs typeface="Poppins" panose="00000500000000000000" pitchFamily="2" charset="0"/>
              </a:rPr>
              <a:t>3. </a:t>
            </a:r>
            <a:r>
              <a:rPr lang="es-ES" sz="3600" dirty="0">
                <a:effectLst/>
                <a:latin typeface="Poppins" panose="00000500000000000000" pitchFamily="2" charset="0"/>
                <a:ea typeface="Lucida Sans Unicode" panose="020B0602030504020204" pitchFamily="34" charset="0"/>
                <a:cs typeface="Poppins" panose="00000500000000000000" pitchFamily="2" charset="0"/>
              </a:rPr>
              <a:t>Marketing </a:t>
            </a:r>
            <a:r>
              <a:rPr lang="es-ES" sz="3600" dirty="0" err="1">
                <a:latin typeface="Poppins" panose="00000500000000000000" pitchFamily="2" charset="0"/>
                <a:ea typeface="Lucida Sans Unicode" panose="020B0602030504020204" pitchFamily="34" charset="0"/>
                <a:cs typeface="Poppins" panose="00000500000000000000" pitchFamily="2" charset="0"/>
              </a:rPr>
              <a:t>M</a:t>
            </a:r>
            <a:r>
              <a:rPr lang="es-ES" sz="3600" dirty="0" err="1">
                <a:effectLst/>
                <a:latin typeface="Poppins" panose="00000500000000000000" pitchFamily="2" charset="0"/>
                <a:ea typeface="Lucida Sans Unicode" panose="020B0602030504020204" pitchFamily="34" charset="0"/>
                <a:cs typeface="Poppins" panose="00000500000000000000" pitchFamily="2" charset="0"/>
              </a:rPr>
              <a:t>ix</a:t>
            </a:r>
            <a:r>
              <a:rPr lang="es-ES" sz="3600" dirty="0">
                <a:effectLst/>
                <a:latin typeface="Poppins" panose="00000500000000000000" pitchFamily="2" charset="0"/>
                <a:ea typeface="Lucida Sans Unicode" panose="020B0602030504020204" pitchFamily="34" charset="0"/>
                <a:cs typeface="Poppins" panose="00000500000000000000" pitchFamily="2" charset="0"/>
              </a:rPr>
              <a:t>: producto, precio, promoción y distribución.</a:t>
            </a:r>
          </a:p>
          <a:p>
            <a:pPr lvl="0">
              <a:spcAft>
                <a:spcPts val="900"/>
              </a:spcAft>
              <a:buSzPts val="1050"/>
            </a:pPr>
            <a:endParaRPr lang="es-ES" sz="3600" dirty="0">
              <a:effectLst/>
              <a:latin typeface="Poppins" panose="00000500000000000000" pitchFamily="2" charset="0"/>
              <a:ea typeface="Lucida Sans Unicode" panose="020B0602030504020204" pitchFamily="34" charset="0"/>
              <a:cs typeface="Poppins" panose="00000500000000000000" pitchFamily="2" charset="0"/>
            </a:endParaRPr>
          </a:p>
        </p:txBody>
      </p:sp>
      <p:pic>
        <p:nvPicPr>
          <p:cNvPr id="3" name="Imagen 2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59A8ABC7-FE18-91FF-A439-A9E0C5D81B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" y="8900093"/>
            <a:ext cx="4531295" cy="10842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F3B49B6E-A41A-74DF-119F-9911CAA70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2471" y="498303"/>
            <a:ext cx="1127858" cy="103031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936C075-8A7F-609F-210F-0F0DC8CC3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855" y="8971431"/>
            <a:ext cx="4529721" cy="108518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E6C05F2-F65A-DE63-98C7-0FEBB2AED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19426" y="8971431"/>
            <a:ext cx="4499238" cy="108518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06CE441-81BD-6D61-44A2-2B5FCE79075E}"/>
              </a:ext>
            </a:extLst>
          </p:cNvPr>
          <p:cNvSpPr txBox="1"/>
          <p:nvPr/>
        </p:nvSpPr>
        <p:spPr>
          <a:xfrm>
            <a:off x="807671" y="687994"/>
            <a:ext cx="15870264" cy="9017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Poppins" panose="00000500000000000000" pitchFamily="2" charset="0"/>
                <a:cs typeface="Poppins" panose="00000500000000000000" pitchFamily="2" charset="0"/>
              </a:rPr>
              <a:t>OBJETIVOS:</a:t>
            </a:r>
          </a:p>
          <a:p>
            <a:endParaRPr lang="es-E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s-ES" sz="2400" dirty="0">
                <a:latin typeface="Poppins" panose="00000500000000000000" pitchFamily="2" charset="0"/>
                <a:cs typeface="Poppins" panose="00000500000000000000" pitchFamily="2" charset="0"/>
              </a:rPr>
              <a:t>¿Cómo aplicar el marketing a la idea de Negocio?.</a:t>
            </a:r>
          </a:p>
          <a:p>
            <a:endParaRPr lang="es-ES" sz="2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s-ES" sz="2400" dirty="0">
                <a:latin typeface="Poppins" panose="00000500000000000000" pitchFamily="2" charset="0"/>
                <a:cs typeface="Poppins" panose="00000500000000000000" pitchFamily="2" charset="0"/>
              </a:rPr>
              <a:t>Muchos son los emprendedores que inician la aventura </a:t>
            </a:r>
            <a:r>
              <a:rPr lang="es-ES" sz="2400" dirty="0" err="1">
                <a:latin typeface="Poppins" panose="00000500000000000000" pitchFamily="2" charset="0"/>
                <a:cs typeface="Poppins" panose="00000500000000000000" pitchFamily="2" charset="0"/>
              </a:rPr>
              <a:t>decrear</a:t>
            </a:r>
            <a:r>
              <a:rPr lang="es-ES" sz="2400" dirty="0">
                <a:latin typeface="Poppins" panose="00000500000000000000" pitchFamily="2" charset="0"/>
                <a:cs typeface="Poppins" panose="00000500000000000000" pitchFamily="2" charset="0"/>
              </a:rPr>
              <a:t> una empresa, pero a menudo ocurre que no se calibran bien decisiones relativas a la competencia, el precio, las características del producto o las formas de promoción.</a:t>
            </a:r>
          </a:p>
          <a:p>
            <a:endParaRPr lang="es-ES" sz="2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s-ES" sz="2400" dirty="0">
                <a:latin typeface="Poppins" panose="00000500000000000000" pitchFamily="2" charset="0"/>
                <a:cs typeface="Poppins" panose="00000500000000000000" pitchFamily="2" charset="0"/>
              </a:rPr>
              <a:t>El marketing puede llegar a ser una estrategia muy valiosa porque permite a las empresas mantenerse y crecer en un entorno de cambio e incertidumbres constantes.</a:t>
            </a:r>
          </a:p>
          <a:p>
            <a:r>
              <a:rPr lang="es-ES" sz="2400" dirty="0">
                <a:latin typeface="Poppins" panose="00000500000000000000" pitchFamily="2" charset="0"/>
                <a:cs typeface="Poppins" panose="00000500000000000000" pitchFamily="2" charset="0"/>
              </a:rPr>
              <a:t>¿Cómo comprobar que tu idea de negocio es viable’ ¿cómo conseguir vender el producto que quieres lanzar al mercado?</a:t>
            </a:r>
          </a:p>
          <a:p>
            <a:endParaRPr lang="es-ES" sz="2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s-ES" sz="2400" b="1" dirty="0">
                <a:latin typeface="Poppins" panose="00000500000000000000" pitchFamily="2" charset="0"/>
                <a:cs typeface="Poppins" panose="00000500000000000000" pitchFamily="2" charset="0"/>
              </a:rPr>
              <a:t>En esta unidad estudiarás…</a:t>
            </a:r>
          </a:p>
          <a:p>
            <a:endParaRPr lang="es-ES" sz="2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>
              <a:buAutoNum type="arabicPeriod"/>
            </a:pPr>
            <a:r>
              <a:rPr lang="es-ES" sz="2400" dirty="0">
                <a:latin typeface="Poppins" panose="00000500000000000000" pitchFamily="2" charset="0"/>
                <a:cs typeface="Poppins" panose="00000500000000000000" pitchFamily="2" charset="0"/>
              </a:rPr>
              <a:t>El estudio de mercado.</a:t>
            </a:r>
          </a:p>
          <a:p>
            <a:pPr marL="342900" indent="-342900">
              <a:buAutoNum type="arabicPeriod"/>
            </a:pPr>
            <a:r>
              <a:rPr lang="es-ES" sz="2400" dirty="0">
                <a:latin typeface="Poppins" panose="00000500000000000000" pitchFamily="2" charset="0"/>
                <a:cs typeface="Poppins" panose="00000500000000000000" pitchFamily="2" charset="0"/>
              </a:rPr>
              <a:t>Los elementos básicos del mercado.</a:t>
            </a:r>
          </a:p>
          <a:p>
            <a:pPr marL="342900" indent="-342900">
              <a:buAutoNum type="arabicPeriod"/>
            </a:pPr>
            <a:r>
              <a:rPr lang="es-ES" sz="2400" dirty="0">
                <a:latin typeface="Poppins" panose="00000500000000000000" pitchFamily="2" charset="0"/>
                <a:cs typeface="Poppins" panose="00000500000000000000" pitchFamily="2" charset="0"/>
              </a:rPr>
              <a:t>Las 4 </a:t>
            </a:r>
            <a:r>
              <a:rPr lang="es-ES" sz="2400" dirty="0" err="1">
                <a:latin typeface="Poppins" panose="00000500000000000000" pitchFamily="2" charset="0"/>
                <a:cs typeface="Poppins" panose="00000500000000000000" pitchFamily="2" charset="0"/>
              </a:rPr>
              <a:t>p´s</a:t>
            </a:r>
            <a:r>
              <a:rPr lang="es-ES" sz="2400" dirty="0">
                <a:latin typeface="Poppins" panose="00000500000000000000" pitchFamily="2" charset="0"/>
                <a:cs typeface="Poppins" panose="00000500000000000000" pitchFamily="2" charset="0"/>
              </a:rPr>
              <a:t> del Marketing </a:t>
            </a:r>
            <a:r>
              <a:rPr lang="es-ES" sz="2400" dirty="0" err="1">
                <a:latin typeface="Poppins" panose="00000500000000000000" pitchFamily="2" charset="0"/>
                <a:cs typeface="Poppins" panose="00000500000000000000" pitchFamily="2" charset="0"/>
              </a:rPr>
              <a:t>mix</a:t>
            </a:r>
            <a:endParaRPr lang="es-ES" sz="2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>
              <a:buAutoNum type="arabicPeriod"/>
            </a:pPr>
            <a:endParaRPr lang="es-ES" sz="2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s-ES" sz="2400" b="1" dirty="0">
                <a:latin typeface="Poppins" panose="00000500000000000000" pitchFamily="2" charset="0"/>
                <a:cs typeface="Poppins" panose="00000500000000000000" pitchFamily="2" charset="0"/>
              </a:rPr>
              <a:t>Y serás capaz de…</a:t>
            </a:r>
          </a:p>
          <a:p>
            <a:endParaRPr lang="es-ES" sz="2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s-ES" sz="2400" dirty="0">
                <a:latin typeface="Poppins" panose="00000500000000000000" pitchFamily="2" charset="0"/>
                <a:cs typeface="Poppins" panose="00000500000000000000" pitchFamily="2" charset="0"/>
              </a:rPr>
              <a:t>Estudiar el mercado obteniendo la información necesaria a través de las fuentes de información adecuadas para establecer estrategias comerciales.</a:t>
            </a:r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91793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/>
          <p:nvPr/>
        </p:nvSpPr>
        <p:spPr>
          <a:xfrm>
            <a:off x="16129000" y="1028700"/>
            <a:ext cx="1130300" cy="1031875"/>
          </a:xfrm>
          <a:custGeom>
            <a:avLst/>
            <a:gdLst/>
            <a:ahLst/>
            <a:cxnLst/>
            <a:rect l="l" t="t" r="r" b="b"/>
            <a:pathLst>
              <a:path w="1130949" h="1032248" extrusionOk="0">
                <a:moveTo>
                  <a:pt x="0" y="0"/>
                </a:moveTo>
                <a:lnTo>
                  <a:pt x="1130949" y="0"/>
                </a:lnTo>
                <a:lnTo>
                  <a:pt x="1130949" y="1032248"/>
                </a:lnTo>
                <a:lnTo>
                  <a:pt x="0" y="10322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1028698" y="419804"/>
            <a:ext cx="14558511" cy="85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spcAft>
                <a:spcPts val="900"/>
              </a:spcAft>
              <a:buSzPts val="1050"/>
            </a:pPr>
            <a:r>
              <a:rPr lang="es-ES" sz="4800" b="1" dirty="0">
                <a:latin typeface="Poppins" panose="00000500000000000000" pitchFamily="2" charset="0"/>
                <a:ea typeface="Lucida Sans Unicode" panose="020B0602030504020204" pitchFamily="34" charset="0"/>
                <a:cs typeface="Poppins" panose="00000500000000000000" pitchFamily="2" charset="0"/>
              </a:rPr>
              <a:t>1</a:t>
            </a:r>
            <a:r>
              <a:rPr lang="es-ES" sz="4800" dirty="0">
                <a:latin typeface="Poppins" panose="00000500000000000000" pitchFamily="2" charset="0"/>
                <a:ea typeface="Lucida Sans Unicode" panose="020B0602030504020204" pitchFamily="34" charset="0"/>
                <a:cs typeface="Poppins" panose="00000500000000000000" pitchFamily="2" charset="0"/>
              </a:rPr>
              <a:t>. </a:t>
            </a:r>
            <a:r>
              <a:rPr lang="es-ES" sz="4800" b="1" dirty="0">
                <a:effectLst/>
                <a:latin typeface="Poppins" panose="00000500000000000000" pitchFamily="2" charset="0"/>
                <a:ea typeface="Lucida Sans Unicode" panose="020B0602030504020204" pitchFamily="34" charset="0"/>
                <a:cs typeface="Poppins" panose="00000500000000000000" pitchFamily="2" charset="0"/>
              </a:rPr>
              <a:t>CONCEPTO DE MERCADO. OFERTA. DEMANDA</a:t>
            </a:r>
            <a:r>
              <a:rPr lang="es-ES" sz="4800" dirty="0">
                <a:effectLst/>
                <a:latin typeface="Poppins" panose="00000500000000000000" pitchFamily="2" charset="0"/>
                <a:ea typeface="Lucida Sans Unicode" panose="020B0602030504020204" pitchFamily="34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106" name="Google Shape;106;p3"/>
          <p:cNvSpPr/>
          <p:nvPr/>
        </p:nvSpPr>
        <p:spPr>
          <a:xfrm>
            <a:off x="1781502" y="2410569"/>
            <a:ext cx="14204731" cy="2117287"/>
          </a:xfrm>
          <a:prstGeom prst="homePlate">
            <a:avLst>
              <a:gd name="adj" fmla="val 50000"/>
            </a:avLst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w="9525" cap="flat" cmpd="sng">
            <a:solidFill>
              <a:srgbClr val="45A9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>
                <a:latin typeface="Poppins" panose="00000500000000000000" pitchFamily="2" charset="0"/>
                <a:cs typeface="Poppins" panose="00000500000000000000" pitchFamily="2" charset="0"/>
              </a:rPr>
              <a:t>El  </a:t>
            </a:r>
            <a:r>
              <a:rPr lang="es-ES" sz="2400" b="1" dirty="0">
                <a:latin typeface="Poppins" panose="00000500000000000000" pitchFamily="2" charset="0"/>
                <a:cs typeface="Poppins" panose="00000500000000000000" pitchFamily="2" charset="0"/>
              </a:rPr>
              <a:t>MERCADO</a:t>
            </a:r>
            <a:r>
              <a:rPr lang="es-ES" sz="2400" dirty="0">
                <a:latin typeface="Poppins" panose="00000500000000000000" pitchFamily="2" charset="0"/>
                <a:cs typeface="Poppins" panose="00000500000000000000" pitchFamily="2" charset="0"/>
              </a:rPr>
              <a:t> se puede entender como el lugar donde se realizan intercambios.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>
                <a:latin typeface="Poppins" panose="00000500000000000000" pitchFamily="2" charset="0"/>
                <a:cs typeface="Poppins" panose="00000500000000000000" pitchFamily="2" charset="0"/>
              </a:rPr>
              <a:t>Es el conjunto de </a:t>
            </a:r>
            <a:r>
              <a:rPr lang="es-ES" sz="2400" b="1" dirty="0">
                <a:latin typeface="Poppins" panose="00000500000000000000" pitchFamily="2" charset="0"/>
                <a:cs typeface="Poppins" panose="00000500000000000000" pitchFamily="2" charset="0"/>
              </a:rPr>
              <a:t>COMPRADORES </a:t>
            </a:r>
            <a:r>
              <a:rPr lang="es-ES" sz="2400" dirty="0">
                <a:latin typeface="Poppins" panose="00000500000000000000" pitchFamily="2" charset="0"/>
                <a:cs typeface="Poppins" panose="00000500000000000000" pitchFamily="2" charset="0"/>
              </a:rPr>
              <a:t> (o demandantes)  y </a:t>
            </a:r>
            <a:r>
              <a:rPr lang="es-ES" sz="2400" b="1" dirty="0">
                <a:latin typeface="Poppins" panose="00000500000000000000" pitchFamily="2" charset="0"/>
                <a:cs typeface="Poppins" panose="00000500000000000000" pitchFamily="2" charset="0"/>
              </a:rPr>
              <a:t>VENDEDORES</a:t>
            </a:r>
            <a:r>
              <a:rPr lang="es-ES" sz="2400" dirty="0">
                <a:latin typeface="Poppins" panose="00000500000000000000" pitchFamily="2" charset="0"/>
                <a:cs typeface="Poppins" panose="00000500000000000000" pitchFamily="2" charset="0"/>
              </a:rPr>
              <a:t> (u oferentes) de un </a:t>
            </a:r>
            <a:r>
              <a:rPr lang="es-ES" sz="2400" b="1" dirty="0">
                <a:latin typeface="Poppins" panose="00000500000000000000" pitchFamily="2" charset="0"/>
                <a:cs typeface="Poppins" panose="00000500000000000000" pitchFamily="2" charset="0"/>
              </a:rPr>
              <a:t>PRODUCTO O SERVICIO</a:t>
            </a:r>
            <a:r>
              <a:rPr lang="es-ES" sz="24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>
                <a:latin typeface="Poppins" panose="00000500000000000000" pitchFamily="2" charset="0"/>
                <a:cs typeface="Poppins" panose="00000500000000000000" pitchFamily="2" charset="0"/>
              </a:rPr>
              <a:t>Estos intercambios vienen determinados por 2 factores: </a:t>
            </a:r>
            <a:r>
              <a:rPr lang="es-ES" sz="2400" b="1" dirty="0">
                <a:latin typeface="Poppins" panose="00000500000000000000" pitchFamily="2" charset="0"/>
                <a:cs typeface="Poppins" panose="00000500000000000000" pitchFamily="2" charset="0"/>
              </a:rPr>
              <a:t>OFERTA</a:t>
            </a:r>
            <a:r>
              <a:rPr lang="es-ES" sz="2400" dirty="0">
                <a:latin typeface="Poppins" panose="00000500000000000000" pitchFamily="2" charset="0"/>
                <a:cs typeface="Poppins" panose="00000500000000000000" pitchFamily="2" charset="0"/>
              </a:rPr>
              <a:t>  y </a:t>
            </a:r>
            <a:r>
              <a:rPr lang="es-ES" sz="2400" b="1" dirty="0">
                <a:latin typeface="Poppins" panose="00000500000000000000" pitchFamily="2" charset="0"/>
                <a:cs typeface="Poppins" panose="00000500000000000000" pitchFamily="2" charset="0"/>
              </a:rPr>
              <a:t>DEMANDA.</a:t>
            </a:r>
            <a:endParaRPr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Google Shape;106;p3">
            <a:extLst>
              <a:ext uri="{FF2B5EF4-FFF2-40B4-BE49-F238E27FC236}">
                <a16:creationId xmlns:a16="http://schemas.microsoft.com/office/drawing/2014/main" id="{7F6B9FF5-494E-68BD-75FA-6D7E5F53BFCD}"/>
              </a:ext>
            </a:extLst>
          </p:cNvPr>
          <p:cNvSpPr/>
          <p:nvPr/>
        </p:nvSpPr>
        <p:spPr>
          <a:xfrm>
            <a:off x="1781501" y="4922804"/>
            <a:ext cx="14204731" cy="2117287"/>
          </a:xfrm>
          <a:prstGeom prst="homePlate">
            <a:avLst>
              <a:gd name="adj" fmla="val 50000"/>
            </a:avLst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w="9525" cap="flat" cmpd="sng">
            <a:solidFill>
              <a:srgbClr val="45A9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>
                <a:latin typeface="Poppins" panose="00000500000000000000" pitchFamily="2" charset="0"/>
                <a:cs typeface="Poppins" panose="00000500000000000000" pitchFamily="2" charset="0"/>
              </a:rPr>
              <a:t>OFERTA: </a:t>
            </a:r>
            <a:r>
              <a:rPr lang="es-ES" sz="2800" dirty="0">
                <a:latin typeface="Poppins" panose="00000500000000000000" pitchFamily="2" charset="0"/>
                <a:cs typeface="Poppins" panose="00000500000000000000" pitchFamily="2" charset="0"/>
              </a:rPr>
              <a:t>la cantidad de producto que los </a:t>
            </a:r>
            <a:r>
              <a:rPr lang="es-ES" sz="2800" u="sng" dirty="0">
                <a:latin typeface="Poppins" panose="00000500000000000000" pitchFamily="2" charset="0"/>
                <a:cs typeface="Poppins" panose="00000500000000000000" pitchFamily="2" charset="0"/>
              </a:rPr>
              <a:t>vendedores</a:t>
            </a:r>
            <a:r>
              <a:rPr lang="es-ES" sz="2800" dirty="0">
                <a:latin typeface="Poppins" panose="00000500000000000000" pitchFamily="2" charset="0"/>
                <a:cs typeface="Poppins" panose="00000500000000000000" pitchFamily="2" charset="0"/>
              </a:rPr>
              <a:t> están dispuestos a ofrecer a un determinado precio.</a:t>
            </a:r>
            <a:endParaRPr sz="28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Google Shape;106;p3">
            <a:extLst>
              <a:ext uri="{FF2B5EF4-FFF2-40B4-BE49-F238E27FC236}">
                <a16:creationId xmlns:a16="http://schemas.microsoft.com/office/drawing/2014/main" id="{8E6289B1-8697-303D-D015-A08CB7AD658C}"/>
              </a:ext>
            </a:extLst>
          </p:cNvPr>
          <p:cNvSpPr/>
          <p:nvPr/>
        </p:nvSpPr>
        <p:spPr>
          <a:xfrm>
            <a:off x="1781500" y="7435039"/>
            <a:ext cx="14204731" cy="2117287"/>
          </a:xfrm>
          <a:prstGeom prst="homePlate">
            <a:avLst>
              <a:gd name="adj" fmla="val 50000"/>
            </a:avLst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w="9525" cap="flat" cmpd="sng">
            <a:solidFill>
              <a:srgbClr val="45A9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>
                <a:latin typeface="Poppins" panose="00000500000000000000" pitchFamily="2" charset="0"/>
                <a:cs typeface="Poppins" panose="00000500000000000000" pitchFamily="2" charset="0"/>
              </a:rPr>
              <a:t>DEMANDA: </a:t>
            </a:r>
            <a:r>
              <a:rPr lang="es-ES" sz="2800" dirty="0">
                <a:latin typeface="Poppins" panose="00000500000000000000" pitchFamily="2" charset="0"/>
                <a:cs typeface="Poppins" panose="00000500000000000000" pitchFamily="2" charset="0"/>
              </a:rPr>
              <a:t>la cantidad de producto que los compradores están dispuestos a adquirir a un determinado precio.</a:t>
            </a:r>
            <a:endParaRPr sz="28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F3B49B6E-A41A-74DF-119F-9911CAA70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2471" y="498303"/>
            <a:ext cx="1127858" cy="103031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C8A7AC48-F7BF-DFE1-F5C5-2AEF8F5F7181}"/>
              </a:ext>
            </a:extLst>
          </p:cNvPr>
          <p:cNvSpPr txBox="1"/>
          <p:nvPr/>
        </p:nvSpPr>
        <p:spPr>
          <a:xfrm>
            <a:off x="518160" y="374454"/>
            <a:ext cx="155143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latin typeface="Poppins" panose="00000500000000000000" pitchFamily="2" charset="0"/>
                <a:cs typeface="Poppins" panose="00000500000000000000" pitchFamily="2" charset="0"/>
              </a:rPr>
              <a:t>El </a:t>
            </a:r>
            <a:r>
              <a:rPr lang="es-ES" sz="2400" b="1" dirty="0">
                <a:latin typeface="Poppins" panose="00000500000000000000" pitchFamily="2" charset="0"/>
                <a:cs typeface="Poppins" panose="00000500000000000000" pitchFamily="2" charset="0"/>
              </a:rPr>
              <a:t>área comercial </a:t>
            </a:r>
            <a:r>
              <a:rPr lang="es-ES" sz="2400" dirty="0">
                <a:latin typeface="Poppins" panose="00000500000000000000" pitchFamily="2" charset="0"/>
                <a:cs typeface="Poppins" panose="00000500000000000000" pitchFamily="2" charset="0"/>
              </a:rPr>
              <a:t>de la empresa es la que asume las actuaciones relacionadas con el estudio de mercado y el marketing.</a:t>
            </a:r>
          </a:p>
          <a:p>
            <a:endParaRPr lang="es-ES" sz="2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s-ES" sz="2400" dirty="0">
                <a:latin typeface="Poppins" panose="00000500000000000000" pitchFamily="2" charset="0"/>
                <a:cs typeface="Poppins" panose="00000500000000000000" pitchFamily="2" charset="0"/>
              </a:rPr>
              <a:t>En el mercado existe una gran cantidad de productos similares producidos por distintas empresas y unas tienen más éxito que otras y para responder es necesario analizar los elementos básicos que integran el mercado.</a:t>
            </a:r>
          </a:p>
        </p:txBody>
      </p:sp>
      <p:pic>
        <p:nvPicPr>
          <p:cNvPr id="5" name="table">
            <a:extLst>
              <a:ext uri="{FF2B5EF4-FFF2-40B4-BE49-F238E27FC236}">
                <a16:creationId xmlns:a16="http://schemas.microsoft.com/office/drawing/2014/main" id="{1FFE8299-2998-DF14-CFF2-2385038AE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1397" y="2682778"/>
            <a:ext cx="12835003" cy="735565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51CC671D-CAE8-64DA-B76B-CBFC27902C74}"/>
              </a:ext>
            </a:extLst>
          </p:cNvPr>
          <p:cNvSpPr txBox="1"/>
          <p:nvPr/>
        </p:nvSpPr>
        <p:spPr>
          <a:xfrm>
            <a:off x="-1295400" y="5317065"/>
            <a:ext cx="653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latin typeface="Poppins" panose="00000500000000000000" pitchFamily="2" charset="0"/>
                <a:cs typeface="Poppins" panose="00000500000000000000" pitchFamily="2" charset="0"/>
              </a:rPr>
              <a:t>TIPOS DE MERCADO</a:t>
            </a:r>
          </a:p>
        </p:txBody>
      </p:sp>
    </p:spTree>
    <p:extLst>
      <p:ext uri="{BB962C8B-B14F-4D97-AF65-F5344CB8AC3E}">
        <p14:creationId xmlns:p14="http://schemas.microsoft.com/office/powerpoint/2010/main" val="3232738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F3B49B6E-A41A-74DF-119F-9911CAA70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2471" y="498303"/>
            <a:ext cx="1127858" cy="103031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936C075-8A7F-609F-210F-0F0DC8CC3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855" y="8971431"/>
            <a:ext cx="4529721" cy="108518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E6C05F2-F65A-DE63-98C7-0FEBB2AED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19426" y="8971431"/>
            <a:ext cx="4499238" cy="1085182"/>
          </a:xfrm>
          <a:prstGeom prst="rect">
            <a:avLst/>
          </a:prstGeom>
        </p:spPr>
      </p:pic>
      <p:sp>
        <p:nvSpPr>
          <p:cNvPr id="2" name="object 12">
            <a:extLst>
              <a:ext uri="{FF2B5EF4-FFF2-40B4-BE49-F238E27FC236}">
                <a16:creationId xmlns:a16="http://schemas.microsoft.com/office/drawing/2014/main" id="{53C5B285-2977-DF84-A66A-85A450247889}"/>
              </a:ext>
            </a:extLst>
          </p:cNvPr>
          <p:cNvSpPr txBox="1"/>
          <p:nvPr/>
        </p:nvSpPr>
        <p:spPr>
          <a:xfrm>
            <a:off x="566420" y="1828801"/>
            <a:ext cx="14307820" cy="6163226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 algn="just">
              <a:lnSpc>
                <a:spcPts val="2450"/>
              </a:lnSpc>
              <a:spcBef>
                <a:spcPts val="340"/>
              </a:spcBef>
            </a:pPr>
            <a:r>
              <a:rPr lang="es-ES" sz="2800" b="1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TAMAÑO DEL MERCADO</a:t>
            </a:r>
          </a:p>
          <a:p>
            <a:pPr marL="12700" marR="5080" algn="just">
              <a:lnSpc>
                <a:spcPts val="2450"/>
              </a:lnSpc>
              <a:spcBef>
                <a:spcPts val="340"/>
              </a:spcBef>
            </a:pPr>
            <a:endParaRPr lang="es-ES" sz="2800" spc="-5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2700" marR="5080" algn="just">
              <a:lnSpc>
                <a:spcPts val="2450"/>
              </a:lnSpc>
              <a:spcBef>
                <a:spcPts val="340"/>
              </a:spcBef>
            </a:pP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Los</a:t>
            </a:r>
            <a:r>
              <a:rPr sz="2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b="1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compradores</a:t>
            </a:r>
            <a:r>
              <a:rPr sz="28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b="1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reales</a:t>
            </a:r>
            <a:r>
              <a:rPr sz="28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son</a:t>
            </a:r>
            <a:r>
              <a:rPr sz="2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los</a:t>
            </a:r>
            <a:r>
              <a:rPr sz="2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que</a:t>
            </a:r>
            <a:r>
              <a:rPr sz="2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compran</a:t>
            </a:r>
            <a:r>
              <a:rPr sz="2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</a:t>
            </a:r>
            <a:r>
              <a:rPr sz="2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determinado </a:t>
            </a:r>
            <a:r>
              <a:rPr sz="2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producto</a:t>
            </a:r>
            <a:r>
              <a:rPr sz="2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(por</a:t>
            </a:r>
            <a:r>
              <a:rPr sz="2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ejemplo,</a:t>
            </a:r>
            <a:r>
              <a:rPr sz="2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los</a:t>
            </a:r>
            <a:r>
              <a:rPr sz="2800" spc="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usuarios</a:t>
            </a:r>
            <a:r>
              <a:rPr sz="2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</a:t>
            </a:r>
            <a:r>
              <a:rPr sz="2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teléfonos</a:t>
            </a:r>
            <a:r>
              <a:rPr sz="2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móviles),y</a:t>
            </a:r>
            <a:r>
              <a:rPr sz="2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u="heavy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Poppins" panose="00000500000000000000" pitchFamily="2" charset="0"/>
                <a:cs typeface="Poppins" panose="00000500000000000000" pitchFamily="2" charset="0"/>
              </a:rPr>
              <a:t>los </a:t>
            </a:r>
            <a:r>
              <a:rPr sz="2800" spc="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potenciales,</a:t>
            </a:r>
            <a:r>
              <a:rPr sz="2800" spc="33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los</a:t>
            </a:r>
            <a:r>
              <a:rPr sz="2800" spc="32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que</a:t>
            </a:r>
            <a:r>
              <a:rPr sz="2800" spc="32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pueden</a:t>
            </a:r>
            <a:r>
              <a:rPr sz="2800" spc="33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llegar</a:t>
            </a:r>
            <a:r>
              <a:rPr sz="2800" spc="32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</a:t>
            </a:r>
            <a:r>
              <a:rPr sz="2800" spc="32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adquirirlo</a:t>
            </a:r>
            <a:r>
              <a:rPr sz="2800" spc="33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(los</a:t>
            </a:r>
            <a:r>
              <a:rPr sz="2800" spc="32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que</a:t>
            </a:r>
            <a:r>
              <a:rPr sz="2800" spc="32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actualmente </a:t>
            </a:r>
            <a:r>
              <a:rPr sz="2800" spc="-59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</a:t>
            </a:r>
            <a:r>
              <a:rPr sz="2800" spc="-1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</a:t>
            </a:r>
            <a:r>
              <a:rPr sz="2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usan</a:t>
            </a:r>
            <a:r>
              <a:rPr sz="2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pero podrían</a:t>
            </a:r>
            <a:r>
              <a:rPr sz="2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hacerlo).</a:t>
            </a:r>
            <a:endParaRPr sz="28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00000"/>
              </a:lnSpc>
            </a:pPr>
            <a:endParaRPr sz="28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8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2700" marR="8890" algn="just">
              <a:lnSpc>
                <a:spcPct val="92600"/>
              </a:lnSpc>
            </a:pPr>
            <a:r>
              <a:rPr sz="2800" b="1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</a:t>
            </a:r>
            <a:r>
              <a:rPr sz="28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b="1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tamaño</a:t>
            </a:r>
            <a:r>
              <a:rPr sz="28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b="1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del</a:t>
            </a:r>
            <a:r>
              <a:rPr sz="28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b="1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mercado</a:t>
            </a:r>
            <a:r>
              <a:rPr sz="28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</a:t>
            </a:r>
            <a:r>
              <a:rPr sz="2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</a:t>
            </a:r>
            <a:r>
              <a:rPr sz="2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producto</a:t>
            </a:r>
            <a:r>
              <a:rPr sz="2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</a:t>
            </a:r>
            <a:r>
              <a:rPr sz="2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</a:t>
            </a:r>
            <a:r>
              <a:rPr sz="2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cantidad</a:t>
            </a:r>
            <a:r>
              <a:rPr sz="2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vendida </a:t>
            </a:r>
            <a:r>
              <a:rPr sz="2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durante</a:t>
            </a:r>
            <a:r>
              <a:rPr sz="2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un</a:t>
            </a:r>
            <a:r>
              <a:rPr sz="2800" spc="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periodo</a:t>
            </a:r>
            <a:r>
              <a:rPr sz="2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determinado</a:t>
            </a:r>
            <a:r>
              <a:rPr sz="2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</a:t>
            </a:r>
            <a:r>
              <a:rPr sz="2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</a:t>
            </a:r>
            <a:r>
              <a:rPr sz="2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área</a:t>
            </a:r>
            <a:r>
              <a:rPr sz="2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geográfica</a:t>
            </a:r>
            <a:r>
              <a:rPr sz="2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concreta, </a:t>
            </a:r>
            <a:r>
              <a:rPr sz="2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medida en</a:t>
            </a:r>
            <a:r>
              <a:rPr sz="2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unidades</a:t>
            </a:r>
            <a:r>
              <a:rPr sz="2800" spc="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físicas</a:t>
            </a:r>
            <a:r>
              <a:rPr sz="2800" spc="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 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económicas</a:t>
            </a:r>
            <a:r>
              <a:rPr sz="2800" spc="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=</a:t>
            </a:r>
            <a:r>
              <a:rPr sz="2800" spc="-3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spc="-4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Tamaño</a:t>
            </a:r>
            <a:r>
              <a:rPr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actual.</a:t>
            </a:r>
            <a:endParaRPr lang="es-ES" sz="2800" spc="-5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2700" marR="8890" algn="just">
              <a:lnSpc>
                <a:spcPct val="92600"/>
              </a:lnSpc>
            </a:pPr>
            <a:endParaRPr lang="es-ES" sz="2800" spc="-5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2700" marR="8890" algn="just">
              <a:lnSpc>
                <a:spcPct val="92600"/>
              </a:lnSpc>
            </a:pPr>
            <a:r>
              <a:rPr lang="es-ES" sz="2800" b="1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Mercado potencial: </a:t>
            </a:r>
            <a:r>
              <a:rPr lang="es-ES" sz="2800" spc="-5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los compradores reales más los compradores potenciales.</a:t>
            </a:r>
          </a:p>
          <a:p>
            <a:pPr marL="12700" marR="8890" algn="just">
              <a:lnSpc>
                <a:spcPct val="92600"/>
              </a:lnSpc>
            </a:pPr>
            <a:endParaRPr lang="es-ES" sz="2200" spc="-5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12700" marR="8890" algn="just">
              <a:lnSpc>
                <a:spcPct val="92600"/>
              </a:lnSpc>
            </a:pPr>
            <a:endParaRPr lang="es-ES" sz="2200" spc="-5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12700" marR="8890" algn="just">
              <a:lnSpc>
                <a:spcPct val="92600"/>
              </a:lnSpc>
            </a:pPr>
            <a:endParaRPr lang="es-ES" sz="2200" spc="-5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12700" marR="8890" algn="just">
              <a:lnSpc>
                <a:spcPct val="92600"/>
              </a:lnSpc>
            </a:pPr>
            <a:endParaRPr lang="es-ES" sz="2200" spc="-5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12700" marR="8890" algn="just">
              <a:lnSpc>
                <a:spcPct val="92600"/>
              </a:lnSpc>
            </a:pPr>
            <a:endParaRPr sz="2200" dirty="0">
              <a:solidFill>
                <a:schemeClr val="tx1"/>
              </a:solidFill>
              <a:latin typeface="Arial MT"/>
              <a:cs typeface="Arial MT"/>
            </a:endParaRPr>
          </a:p>
        </p:txBody>
      </p:sp>
      <p:pic>
        <p:nvPicPr>
          <p:cNvPr id="1026" name="Picture 2" descr="Conoce a tus compradores potenciales | Promocion PLV">
            <a:extLst>
              <a:ext uri="{FF2B5EF4-FFF2-40B4-BE49-F238E27FC236}">
                <a16:creationId xmlns:a16="http://schemas.microsoft.com/office/drawing/2014/main" id="{D1CFABCE-14B0-B421-073C-F0AD891F8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796" y="6344318"/>
            <a:ext cx="4784407" cy="3583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07E0214-A6A8-23AD-F16A-6E54A3AEA391}"/>
              </a:ext>
            </a:extLst>
          </p:cNvPr>
          <p:cNvSpPr txBox="1"/>
          <p:nvPr/>
        </p:nvSpPr>
        <p:spPr>
          <a:xfrm>
            <a:off x="338855" y="358995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000000"/>
              </a:buClr>
              <a:buSzPts val="1050"/>
              <a:buFont typeface="Arial"/>
              <a:buNone/>
              <a:tabLst/>
              <a:defRPr/>
            </a:pPr>
            <a:r>
              <a:rPr kumimoji="0" lang="es-ES" sz="4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Lucida Sans Unicode" panose="020B0602030504020204" pitchFamily="34" charset="0"/>
                <a:cs typeface="Poppins" panose="00000500000000000000" pitchFamily="2" charset="0"/>
                <a:sym typeface="Arial"/>
              </a:rPr>
              <a:t>2. ANÁLISIS DEL MERCADO</a:t>
            </a:r>
            <a:r>
              <a:rPr kumimoji="0" lang="es-E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Lucida Sans Unicode" panose="020B0602030504020204" pitchFamily="34" charset="0"/>
                <a:cs typeface="Poppins" panose="00000500000000000000" pitchFamily="2" charset="0"/>
                <a:sym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3724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3404027" y="6874137"/>
            <a:ext cx="2152490" cy="520224"/>
          </a:xfrm>
          <a:prstGeom prst="rect">
            <a:avLst/>
          </a:prstGeom>
        </p:spPr>
        <p:txBody>
          <a:bodyPr vert="horz" wrap="square" lIns="0" tIns="17289" rIns="0" bIns="0" rtlCol="0">
            <a:spAutoFit/>
          </a:bodyPr>
          <a:lstStyle/>
          <a:p>
            <a:pPr marL="17289">
              <a:spcBef>
                <a:spcPts val="136"/>
              </a:spcBef>
            </a:pPr>
            <a:r>
              <a:rPr sz="3267" b="1" spc="-20" dirty="0">
                <a:solidFill>
                  <a:srgbClr val="00007F"/>
                </a:solidFill>
              </a:rPr>
              <a:t>E</a:t>
            </a:r>
            <a:r>
              <a:rPr sz="3267" b="1" dirty="0">
                <a:solidFill>
                  <a:srgbClr val="00007F"/>
                </a:solidFill>
              </a:rPr>
              <a:t>J</a:t>
            </a:r>
            <a:r>
              <a:rPr sz="3267" b="1" spc="-20" dirty="0">
                <a:solidFill>
                  <a:srgbClr val="00007F"/>
                </a:solidFill>
              </a:rPr>
              <a:t>E</a:t>
            </a:r>
            <a:r>
              <a:rPr sz="3267" b="1" spc="7" dirty="0">
                <a:solidFill>
                  <a:srgbClr val="00007F"/>
                </a:solidFill>
              </a:rPr>
              <a:t>M</a:t>
            </a:r>
            <a:r>
              <a:rPr sz="3267" b="1" spc="-20" dirty="0">
                <a:solidFill>
                  <a:srgbClr val="00007F"/>
                </a:solidFill>
              </a:rPr>
              <a:t>P</a:t>
            </a:r>
            <a:r>
              <a:rPr sz="3267" b="1" dirty="0">
                <a:solidFill>
                  <a:srgbClr val="00007F"/>
                </a:solidFill>
              </a:rPr>
              <a:t>LO:</a:t>
            </a:r>
            <a:endParaRPr sz="3267"/>
          </a:p>
        </p:txBody>
      </p:sp>
      <p:sp>
        <p:nvSpPr>
          <p:cNvPr id="7" name="object 7"/>
          <p:cNvSpPr txBox="1"/>
          <p:nvPr/>
        </p:nvSpPr>
        <p:spPr>
          <a:xfrm>
            <a:off x="2734939" y="2100623"/>
            <a:ext cx="11740147" cy="1923364"/>
          </a:xfrm>
          <a:prstGeom prst="rect">
            <a:avLst/>
          </a:prstGeom>
        </p:spPr>
        <p:txBody>
          <a:bodyPr vert="horz" wrap="square" lIns="0" tIns="17289" rIns="0" bIns="0" rtlCol="0">
            <a:spAutoFit/>
          </a:bodyPr>
          <a:lstStyle/>
          <a:p>
            <a:pPr marL="34577">
              <a:spcBef>
                <a:spcPts val="136"/>
              </a:spcBef>
            </a:pPr>
            <a:r>
              <a:rPr sz="3267" spc="-7" dirty="0">
                <a:latin typeface="Arial MT"/>
                <a:cs typeface="Poppins" panose="00000500000000000000" pitchFamily="2" charset="0"/>
              </a:rPr>
              <a:t>Participación</a:t>
            </a:r>
            <a:r>
              <a:rPr sz="3267" spc="-14" dirty="0">
                <a:latin typeface="Arial MT"/>
                <a:cs typeface="Poppins" panose="00000500000000000000" pitchFamily="2" charset="0"/>
              </a:rPr>
              <a:t> </a:t>
            </a:r>
            <a:r>
              <a:rPr sz="3267" dirty="0">
                <a:latin typeface="Arial MT"/>
                <a:cs typeface="Poppins" panose="00000500000000000000" pitchFamily="2" charset="0"/>
              </a:rPr>
              <a:t>de</a:t>
            </a:r>
            <a:r>
              <a:rPr sz="3267" spc="-7" dirty="0">
                <a:latin typeface="Arial MT"/>
                <a:cs typeface="Poppins" panose="00000500000000000000" pitchFamily="2" charset="0"/>
              </a:rPr>
              <a:t> </a:t>
            </a:r>
            <a:r>
              <a:rPr sz="3267" spc="-14" dirty="0">
                <a:latin typeface="Arial MT"/>
                <a:cs typeface="Poppins" panose="00000500000000000000" pitchFamily="2" charset="0"/>
              </a:rPr>
              <a:t>una</a:t>
            </a:r>
            <a:r>
              <a:rPr sz="3267" spc="-7" dirty="0">
                <a:latin typeface="Arial MT"/>
                <a:cs typeface="Poppins" panose="00000500000000000000" pitchFamily="2" charset="0"/>
              </a:rPr>
              <a:t> empresa </a:t>
            </a:r>
            <a:r>
              <a:rPr sz="3267" dirty="0">
                <a:latin typeface="Arial MT"/>
                <a:cs typeface="Poppins" panose="00000500000000000000" pitchFamily="2" charset="0"/>
              </a:rPr>
              <a:t>en</a:t>
            </a:r>
            <a:r>
              <a:rPr sz="3267" spc="-14" dirty="0">
                <a:latin typeface="Arial MT"/>
                <a:cs typeface="Poppins" panose="00000500000000000000" pitchFamily="2" charset="0"/>
              </a:rPr>
              <a:t> </a:t>
            </a:r>
            <a:r>
              <a:rPr sz="3267" spc="-7" dirty="0">
                <a:latin typeface="Arial MT"/>
                <a:cs typeface="Poppins" panose="00000500000000000000" pitchFamily="2" charset="0"/>
              </a:rPr>
              <a:t>el total de </a:t>
            </a:r>
            <a:r>
              <a:rPr sz="3267" spc="-14" dirty="0">
                <a:latin typeface="Arial MT"/>
                <a:cs typeface="Poppins" panose="00000500000000000000" pitchFamily="2" charset="0"/>
              </a:rPr>
              <a:t>unidades</a:t>
            </a:r>
            <a:r>
              <a:rPr sz="3267" dirty="0">
                <a:latin typeface="Arial MT"/>
                <a:cs typeface="Poppins" panose="00000500000000000000" pitchFamily="2" charset="0"/>
              </a:rPr>
              <a:t> </a:t>
            </a:r>
            <a:r>
              <a:rPr sz="3267" spc="-7" dirty="0">
                <a:latin typeface="Arial MT"/>
                <a:cs typeface="Poppins" panose="00000500000000000000" pitchFamily="2" charset="0"/>
              </a:rPr>
              <a:t>vendidas.</a:t>
            </a:r>
            <a:endParaRPr sz="3267" dirty="0">
              <a:latin typeface="Arial MT"/>
              <a:cs typeface="Poppins" panose="00000500000000000000" pitchFamily="2" charset="0"/>
            </a:endParaRPr>
          </a:p>
          <a:p>
            <a:pPr marL="519520">
              <a:spcBef>
                <a:spcPts val="2640"/>
              </a:spcBef>
            </a:pPr>
            <a:r>
              <a:rPr sz="4901" spc="-10" baseline="-34722" dirty="0">
                <a:latin typeface="Arial MT"/>
                <a:cs typeface="Poppins" panose="00000500000000000000" pitchFamily="2" charset="0"/>
              </a:rPr>
              <a:t>Cuota</a:t>
            </a:r>
            <a:r>
              <a:rPr sz="4901" spc="-20" baseline="-34722" dirty="0">
                <a:latin typeface="Arial MT"/>
                <a:cs typeface="Poppins" panose="00000500000000000000" pitchFamily="2" charset="0"/>
              </a:rPr>
              <a:t> </a:t>
            </a:r>
            <a:r>
              <a:rPr sz="4901" baseline="-34722" dirty="0">
                <a:latin typeface="Arial MT"/>
                <a:cs typeface="Poppins" panose="00000500000000000000" pitchFamily="2" charset="0"/>
              </a:rPr>
              <a:t>de</a:t>
            </a:r>
            <a:r>
              <a:rPr sz="4901" spc="-20" baseline="-34722" dirty="0">
                <a:latin typeface="Arial MT"/>
                <a:cs typeface="Poppins" panose="00000500000000000000" pitchFamily="2" charset="0"/>
              </a:rPr>
              <a:t> </a:t>
            </a:r>
            <a:r>
              <a:rPr sz="4901" spc="-10" baseline="-34722" dirty="0">
                <a:latin typeface="Arial MT"/>
                <a:cs typeface="Poppins" panose="00000500000000000000" pitchFamily="2" charset="0"/>
              </a:rPr>
              <a:t>Mercado=</a:t>
            </a:r>
            <a:r>
              <a:rPr sz="4901" spc="295" baseline="-34722" dirty="0">
                <a:latin typeface="Arial MT"/>
                <a:cs typeface="Poppins" panose="00000500000000000000" pitchFamily="2" charset="0"/>
              </a:rPr>
              <a:t> </a:t>
            </a:r>
            <a:r>
              <a:rPr sz="3267" spc="-7" dirty="0">
                <a:latin typeface="Arial MT"/>
                <a:cs typeface="Poppins" panose="00000500000000000000" pitchFamily="2" charset="0"/>
              </a:rPr>
              <a:t>Mercado de</a:t>
            </a:r>
            <a:r>
              <a:rPr sz="3267" spc="-14" dirty="0">
                <a:latin typeface="Arial MT"/>
                <a:cs typeface="Poppins" panose="00000500000000000000" pitchFamily="2" charset="0"/>
              </a:rPr>
              <a:t> </a:t>
            </a:r>
            <a:r>
              <a:rPr sz="3267" spc="-7" dirty="0">
                <a:latin typeface="Arial MT"/>
                <a:cs typeface="Poppins" panose="00000500000000000000" pitchFamily="2" charset="0"/>
              </a:rPr>
              <a:t>una empresa</a:t>
            </a:r>
            <a:r>
              <a:rPr sz="3267" spc="-14" dirty="0">
                <a:latin typeface="Arial MT"/>
                <a:cs typeface="Poppins" panose="00000500000000000000" pitchFamily="2" charset="0"/>
              </a:rPr>
              <a:t> </a:t>
            </a:r>
            <a:r>
              <a:rPr sz="3267" dirty="0">
                <a:latin typeface="Arial MT"/>
                <a:cs typeface="Poppins" panose="00000500000000000000" pitchFamily="2" charset="0"/>
              </a:rPr>
              <a:t>x</a:t>
            </a:r>
            <a:r>
              <a:rPr sz="3267" spc="-20" dirty="0">
                <a:latin typeface="Arial MT"/>
                <a:cs typeface="Poppins" panose="00000500000000000000" pitchFamily="2" charset="0"/>
              </a:rPr>
              <a:t> </a:t>
            </a:r>
            <a:r>
              <a:rPr sz="3267" spc="-7" dirty="0">
                <a:latin typeface="Arial MT"/>
                <a:cs typeface="Poppins" panose="00000500000000000000" pitchFamily="2" charset="0"/>
              </a:rPr>
              <a:t>100</a:t>
            </a:r>
            <a:endParaRPr sz="3267" dirty="0">
              <a:latin typeface="Arial MT"/>
              <a:cs typeface="Poppins" panose="00000500000000000000" pitchFamily="2" charset="0"/>
            </a:endParaRPr>
          </a:p>
          <a:p>
            <a:pPr marL="6420953">
              <a:spcBef>
                <a:spcPts val="490"/>
              </a:spcBef>
            </a:pPr>
            <a:r>
              <a:rPr sz="3267" spc="-7" dirty="0">
                <a:latin typeface="Arial MT"/>
                <a:cs typeface="Poppins" panose="00000500000000000000" pitchFamily="2" charset="0"/>
              </a:rPr>
              <a:t>Mercado</a:t>
            </a:r>
            <a:r>
              <a:rPr sz="3267" spc="-48" dirty="0">
                <a:latin typeface="Arial MT"/>
                <a:cs typeface="Poppins" panose="00000500000000000000" pitchFamily="2" charset="0"/>
              </a:rPr>
              <a:t> </a:t>
            </a:r>
            <a:r>
              <a:rPr sz="3267" spc="-7" dirty="0">
                <a:latin typeface="Arial MT"/>
                <a:cs typeface="Poppins" panose="00000500000000000000" pitchFamily="2" charset="0"/>
              </a:rPr>
              <a:t>total</a:t>
            </a:r>
            <a:endParaRPr sz="3267" dirty="0">
              <a:latin typeface="Arial MT"/>
              <a:cs typeface="Poppins" panose="00000500000000000000" pitchFamily="2" charset="0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518828" y="431691"/>
            <a:ext cx="13034233" cy="8554635"/>
            <a:chOff x="215900" y="359409"/>
            <a:chExt cx="9109709" cy="6283960"/>
          </a:xfrm>
        </p:grpSpPr>
        <p:sp>
          <p:nvSpPr>
            <p:cNvPr id="9" name="object 9"/>
            <p:cNvSpPr/>
            <p:nvPr/>
          </p:nvSpPr>
          <p:spPr>
            <a:xfrm>
              <a:off x="3412489" y="2589530"/>
              <a:ext cx="5913120" cy="0"/>
            </a:xfrm>
            <a:custGeom>
              <a:avLst/>
              <a:gdLst/>
              <a:ahLst/>
              <a:cxnLst/>
              <a:rect l="l" t="t" r="r" b="b"/>
              <a:pathLst>
                <a:path w="5913120">
                  <a:moveTo>
                    <a:pt x="0" y="0"/>
                  </a:moveTo>
                  <a:lnTo>
                    <a:pt x="591312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906"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53753" y="3136900"/>
              <a:ext cx="3812426" cy="34670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499386" y="5969130"/>
              <a:ext cx="795020" cy="595630"/>
            </a:xfrm>
            <a:custGeom>
              <a:avLst/>
              <a:gdLst/>
              <a:ahLst/>
              <a:cxnLst/>
              <a:rect l="l" t="t" r="r" b="b"/>
              <a:pathLst>
                <a:path w="795020" h="595629">
                  <a:moveTo>
                    <a:pt x="595629" y="0"/>
                  </a:moveTo>
                  <a:lnTo>
                    <a:pt x="595629" y="148590"/>
                  </a:lnTo>
                  <a:lnTo>
                    <a:pt x="0" y="148590"/>
                  </a:lnTo>
                  <a:lnTo>
                    <a:pt x="0" y="447040"/>
                  </a:lnTo>
                  <a:lnTo>
                    <a:pt x="595629" y="447040"/>
                  </a:lnTo>
                  <a:lnTo>
                    <a:pt x="595629" y="595630"/>
                  </a:lnTo>
                  <a:lnTo>
                    <a:pt x="795019" y="298450"/>
                  </a:lnTo>
                  <a:lnTo>
                    <a:pt x="595629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 sz="1906"/>
            </a:p>
          </p:txBody>
        </p:sp>
        <p:sp>
          <p:nvSpPr>
            <p:cNvPr id="12" name="object 12"/>
            <p:cNvSpPr/>
            <p:nvPr/>
          </p:nvSpPr>
          <p:spPr>
            <a:xfrm>
              <a:off x="5471159" y="6047739"/>
              <a:ext cx="795020" cy="595630"/>
            </a:xfrm>
            <a:custGeom>
              <a:avLst/>
              <a:gdLst/>
              <a:ahLst/>
              <a:cxnLst/>
              <a:rect l="l" t="t" r="r" b="b"/>
              <a:pathLst>
                <a:path w="795020" h="595629">
                  <a:moveTo>
                    <a:pt x="0" y="148590"/>
                  </a:moveTo>
                  <a:lnTo>
                    <a:pt x="595629" y="148590"/>
                  </a:lnTo>
                  <a:lnTo>
                    <a:pt x="595629" y="0"/>
                  </a:lnTo>
                  <a:lnTo>
                    <a:pt x="795019" y="298450"/>
                  </a:lnTo>
                  <a:lnTo>
                    <a:pt x="595629" y="595630"/>
                  </a:lnTo>
                  <a:lnTo>
                    <a:pt x="595629" y="447040"/>
                  </a:lnTo>
                  <a:lnTo>
                    <a:pt x="0" y="447040"/>
                  </a:lnTo>
                  <a:lnTo>
                    <a:pt x="0" y="14859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906"/>
            </a:p>
          </p:txBody>
        </p:sp>
        <p:sp>
          <p:nvSpPr>
            <p:cNvPr id="13" name="object 13"/>
            <p:cNvSpPr/>
            <p:nvPr/>
          </p:nvSpPr>
          <p:spPr>
            <a:xfrm>
              <a:off x="215900" y="359409"/>
              <a:ext cx="8639810" cy="786130"/>
            </a:xfrm>
            <a:custGeom>
              <a:avLst/>
              <a:gdLst/>
              <a:ahLst/>
              <a:cxnLst/>
              <a:rect l="l" t="t" r="r" b="b"/>
              <a:pathLst>
                <a:path w="8639810" h="786130">
                  <a:moveTo>
                    <a:pt x="8639810" y="0"/>
                  </a:moveTo>
                  <a:lnTo>
                    <a:pt x="0" y="0"/>
                  </a:lnTo>
                  <a:lnTo>
                    <a:pt x="0" y="786130"/>
                  </a:lnTo>
                  <a:lnTo>
                    <a:pt x="4320540" y="786130"/>
                  </a:lnTo>
                  <a:lnTo>
                    <a:pt x="8639810" y="786130"/>
                  </a:lnTo>
                  <a:lnTo>
                    <a:pt x="8639810" y="0"/>
                  </a:lnTo>
                  <a:close/>
                </a:path>
              </a:pathLst>
            </a:custGeom>
            <a:solidFill>
              <a:srgbClr val="BFBFB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 sz="1906" dirty="0"/>
            </a:p>
          </p:txBody>
        </p:sp>
        <p:sp>
          <p:nvSpPr>
            <p:cNvPr id="14" name="object 14"/>
            <p:cNvSpPr/>
            <p:nvPr/>
          </p:nvSpPr>
          <p:spPr>
            <a:xfrm>
              <a:off x="215900" y="359409"/>
              <a:ext cx="8639810" cy="786130"/>
            </a:xfrm>
            <a:custGeom>
              <a:avLst/>
              <a:gdLst/>
              <a:ahLst/>
              <a:cxnLst/>
              <a:rect l="l" t="t" r="r" b="b"/>
              <a:pathLst>
                <a:path w="8639810" h="786130">
                  <a:moveTo>
                    <a:pt x="4320540" y="786130"/>
                  </a:moveTo>
                  <a:lnTo>
                    <a:pt x="0" y="786130"/>
                  </a:lnTo>
                  <a:lnTo>
                    <a:pt x="0" y="0"/>
                  </a:lnTo>
                  <a:lnTo>
                    <a:pt x="8639810" y="0"/>
                  </a:lnTo>
                  <a:lnTo>
                    <a:pt x="8639810" y="786130"/>
                  </a:lnTo>
                  <a:lnTo>
                    <a:pt x="4320540" y="78613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906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1500500" y="7029738"/>
            <a:ext cx="3840768" cy="352614"/>
          </a:xfrm>
          <a:prstGeom prst="rect">
            <a:avLst/>
          </a:prstGeom>
        </p:spPr>
        <p:txBody>
          <a:bodyPr vert="horz" wrap="square" lIns="0" tIns="17289" rIns="0" bIns="0" rtlCol="0">
            <a:spAutoFit/>
          </a:bodyPr>
          <a:lstStyle/>
          <a:p>
            <a:pPr marL="17289">
              <a:spcBef>
                <a:spcPts val="136"/>
              </a:spcBef>
              <a:tabLst>
                <a:tab pos="1048548" algn="l"/>
                <a:tab pos="1619933" algn="l"/>
                <a:tab pos="3019438" algn="l"/>
                <a:tab pos="3591688" algn="l"/>
              </a:tabLst>
            </a:pPr>
            <a:r>
              <a:rPr sz="2178" b="1" spc="-14" dirty="0">
                <a:solidFill>
                  <a:srgbClr val="00007F"/>
                </a:solidFill>
              </a:rPr>
              <a:t>C</a:t>
            </a:r>
            <a:r>
              <a:rPr sz="2178" b="1" dirty="0">
                <a:solidFill>
                  <a:srgbClr val="00007F"/>
                </a:solidFill>
              </a:rPr>
              <a:t>u</a:t>
            </a:r>
            <a:r>
              <a:rPr sz="2178" b="1" spc="-14" dirty="0">
                <a:solidFill>
                  <a:srgbClr val="00007F"/>
                </a:solidFill>
              </a:rPr>
              <a:t>o</a:t>
            </a:r>
            <a:r>
              <a:rPr sz="2178" b="1" spc="-7" dirty="0">
                <a:solidFill>
                  <a:srgbClr val="00007F"/>
                </a:solidFill>
              </a:rPr>
              <a:t>t</a:t>
            </a:r>
            <a:r>
              <a:rPr sz="2178" b="1" dirty="0">
                <a:solidFill>
                  <a:srgbClr val="00007F"/>
                </a:solidFill>
              </a:rPr>
              <a:t>a	</a:t>
            </a:r>
            <a:r>
              <a:rPr sz="2178" b="1" spc="-14" dirty="0">
                <a:solidFill>
                  <a:srgbClr val="00007F"/>
                </a:solidFill>
              </a:rPr>
              <a:t>d</a:t>
            </a:r>
            <a:r>
              <a:rPr sz="2178" b="1" dirty="0">
                <a:solidFill>
                  <a:srgbClr val="00007F"/>
                </a:solidFill>
              </a:rPr>
              <a:t>e	</a:t>
            </a:r>
            <a:r>
              <a:rPr sz="2178" b="1" spc="-7" dirty="0">
                <a:solidFill>
                  <a:srgbClr val="00007F"/>
                </a:solidFill>
              </a:rPr>
              <a:t>merca</a:t>
            </a:r>
            <a:r>
              <a:rPr sz="2178" b="1" spc="-14" dirty="0">
                <a:solidFill>
                  <a:srgbClr val="00007F"/>
                </a:solidFill>
              </a:rPr>
              <a:t>d</a:t>
            </a:r>
            <a:r>
              <a:rPr sz="2178" b="1" dirty="0">
                <a:solidFill>
                  <a:srgbClr val="00007F"/>
                </a:solidFill>
              </a:rPr>
              <a:t>o	</a:t>
            </a:r>
            <a:r>
              <a:rPr sz="2178" b="1" spc="-14" dirty="0">
                <a:solidFill>
                  <a:srgbClr val="00007F"/>
                </a:solidFill>
              </a:rPr>
              <a:t>d</a:t>
            </a:r>
            <a:r>
              <a:rPr sz="2178" b="1" dirty="0">
                <a:solidFill>
                  <a:srgbClr val="00007F"/>
                </a:solidFill>
              </a:rPr>
              <a:t>e	la</a:t>
            </a:r>
            <a:endParaRPr sz="2178"/>
          </a:p>
        </p:txBody>
      </p:sp>
      <p:sp>
        <p:nvSpPr>
          <p:cNvPr id="16" name="object 16"/>
          <p:cNvSpPr txBox="1"/>
          <p:nvPr/>
        </p:nvSpPr>
        <p:spPr>
          <a:xfrm>
            <a:off x="11500499" y="7346128"/>
            <a:ext cx="3843362" cy="1640198"/>
          </a:xfrm>
          <a:prstGeom prst="rect">
            <a:avLst/>
          </a:prstGeom>
        </p:spPr>
        <p:txBody>
          <a:bodyPr vert="horz" wrap="square" lIns="0" tIns="31120" rIns="0" bIns="0" rtlCol="0">
            <a:spAutoFit/>
          </a:bodyPr>
          <a:lstStyle/>
          <a:p>
            <a:pPr marL="17289" marR="6915" algn="just">
              <a:lnSpc>
                <a:spcPct val="95700"/>
              </a:lnSpc>
              <a:spcBef>
                <a:spcPts val="245"/>
              </a:spcBef>
              <a:tabLst>
                <a:tab pos="2638227" algn="l"/>
              </a:tabLst>
            </a:pPr>
            <a:r>
              <a:rPr sz="2178" b="1" spc="-7" dirty="0">
                <a:solidFill>
                  <a:srgbClr val="00007F"/>
                </a:solidFill>
              </a:rPr>
              <a:t>telefonía </a:t>
            </a:r>
            <a:r>
              <a:rPr sz="2178" b="1" spc="-20" dirty="0">
                <a:solidFill>
                  <a:srgbClr val="00007F"/>
                </a:solidFill>
              </a:rPr>
              <a:t>móvil </a:t>
            </a:r>
            <a:r>
              <a:rPr sz="2178" b="1" spc="-7" dirty="0">
                <a:solidFill>
                  <a:srgbClr val="00007F"/>
                </a:solidFill>
              </a:rPr>
              <a:t>en España en </a:t>
            </a:r>
            <a:r>
              <a:rPr sz="2178" b="1" spc="-585" dirty="0">
                <a:solidFill>
                  <a:srgbClr val="00007F"/>
                </a:solidFill>
              </a:rPr>
              <a:t> </a:t>
            </a:r>
            <a:r>
              <a:rPr sz="2178" b="1" spc="-7" dirty="0">
                <a:solidFill>
                  <a:srgbClr val="00007F"/>
                </a:solidFill>
              </a:rPr>
              <a:t>enero</a:t>
            </a:r>
            <a:r>
              <a:rPr sz="2178" b="1" dirty="0">
                <a:solidFill>
                  <a:srgbClr val="00007F"/>
                </a:solidFill>
              </a:rPr>
              <a:t> </a:t>
            </a:r>
            <a:r>
              <a:rPr sz="2178" b="1" spc="-7" dirty="0">
                <a:solidFill>
                  <a:srgbClr val="00007F"/>
                </a:solidFill>
              </a:rPr>
              <a:t>de</a:t>
            </a:r>
            <a:r>
              <a:rPr sz="2178" b="1" dirty="0">
                <a:solidFill>
                  <a:srgbClr val="00007F"/>
                </a:solidFill>
              </a:rPr>
              <a:t> </a:t>
            </a:r>
            <a:r>
              <a:rPr sz="2178" b="1" spc="-7" dirty="0">
                <a:solidFill>
                  <a:srgbClr val="00007F"/>
                </a:solidFill>
              </a:rPr>
              <a:t>2012.</a:t>
            </a:r>
            <a:r>
              <a:rPr sz="2178" b="1" dirty="0">
                <a:solidFill>
                  <a:srgbClr val="00007F"/>
                </a:solidFill>
              </a:rPr>
              <a:t> </a:t>
            </a:r>
            <a:r>
              <a:rPr sz="2178" b="1" spc="-14" dirty="0">
                <a:solidFill>
                  <a:srgbClr val="00007F"/>
                </a:solidFill>
              </a:rPr>
              <a:t>Datos </a:t>
            </a:r>
            <a:r>
              <a:rPr sz="2178" b="1" spc="-7" dirty="0">
                <a:solidFill>
                  <a:srgbClr val="00007F"/>
                </a:solidFill>
              </a:rPr>
              <a:t> </a:t>
            </a:r>
            <a:r>
              <a:rPr sz="2178" b="1" spc="-14" dirty="0">
                <a:solidFill>
                  <a:srgbClr val="00007F"/>
                </a:solidFill>
              </a:rPr>
              <a:t>obtenidos </a:t>
            </a:r>
            <a:r>
              <a:rPr sz="2178" b="1" spc="-7" dirty="0">
                <a:solidFill>
                  <a:srgbClr val="00007F"/>
                </a:solidFill>
              </a:rPr>
              <a:t>del blog de </a:t>
            </a:r>
            <a:r>
              <a:rPr sz="2178" b="1" spc="-14" dirty="0">
                <a:solidFill>
                  <a:srgbClr val="00007F"/>
                </a:solidFill>
              </a:rPr>
              <a:t>Rubén </a:t>
            </a:r>
            <a:r>
              <a:rPr sz="2178" b="1" spc="-585" dirty="0">
                <a:solidFill>
                  <a:srgbClr val="00007F"/>
                </a:solidFill>
              </a:rPr>
              <a:t> </a:t>
            </a:r>
            <a:r>
              <a:rPr sz="2178" b="1" spc="-7" dirty="0">
                <a:solidFill>
                  <a:srgbClr val="00007F"/>
                </a:solidFill>
              </a:rPr>
              <a:t>G</a:t>
            </a:r>
            <a:r>
              <a:rPr sz="2178" b="1" spc="-14" dirty="0">
                <a:solidFill>
                  <a:srgbClr val="00007F"/>
                </a:solidFill>
              </a:rPr>
              <a:t>on</a:t>
            </a:r>
            <a:r>
              <a:rPr sz="2178" b="1" spc="7" dirty="0">
                <a:solidFill>
                  <a:srgbClr val="00007F"/>
                </a:solidFill>
              </a:rPr>
              <a:t>z</a:t>
            </a:r>
            <a:r>
              <a:rPr sz="2178" b="1" spc="-7" dirty="0">
                <a:solidFill>
                  <a:srgbClr val="00007F"/>
                </a:solidFill>
              </a:rPr>
              <a:t>ále</a:t>
            </a:r>
            <a:r>
              <a:rPr sz="2178" b="1" dirty="0">
                <a:solidFill>
                  <a:srgbClr val="00007F"/>
                </a:solidFill>
              </a:rPr>
              <a:t>z	</a:t>
            </a:r>
            <a:r>
              <a:rPr sz="2178" b="1" spc="-68" dirty="0">
                <a:solidFill>
                  <a:srgbClr val="00007F"/>
                </a:solidFill>
              </a:rPr>
              <a:t>A</a:t>
            </a:r>
            <a:r>
              <a:rPr sz="2178" b="1" spc="-20" dirty="0">
                <a:solidFill>
                  <a:srgbClr val="00007F"/>
                </a:solidFill>
              </a:rPr>
              <a:t>m</a:t>
            </a:r>
            <a:r>
              <a:rPr sz="2178" b="1" dirty="0">
                <a:solidFill>
                  <a:srgbClr val="00007F"/>
                </a:solidFill>
              </a:rPr>
              <a:t>o</a:t>
            </a:r>
            <a:r>
              <a:rPr sz="2178" b="1" spc="-14" dirty="0">
                <a:solidFill>
                  <a:srgbClr val="00007F"/>
                </a:solidFill>
              </a:rPr>
              <a:t>e</a:t>
            </a:r>
            <a:r>
              <a:rPr sz="2178" b="1" dirty="0">
                <a:solidFill>
                  <a:srgbClr val="00007F"/>
                </a:solidFill>
              </a:rPr>
              <a:t>d</a:t>
            </a:r>
            <a:r>
              <a:rPr sz="2178" b="1" spc="-14" dirty="0">
                <a:solidFill>
                  <a:srgbClr val="00007F"/>
                </a:solidFill>
              </a:rPr>
              <a:t>o</a:t>
            </a:r>
            <a:r>
              <a:rPr sz="2178" b="1" dirty="0">
                <a:solidFill>
                  <a:srgbClr val="00007F"/>
                </a:solidFill>
              </a:rPr>
              <a:t>:  </a:t>
            </a:r>
            <a:r>
              <a:rPr sz="2178" b="1" spc="-14" dirty="0">
                <a:solidFill>
                  <a:srgbClr val="00007F"/>
                </a:solidFill>
              </a:rPr>
              <a:t>Actualidad</a:t>
            </a:r>
            <a:r>
              <a:rPr sz="2178" b="1" spc="-20" dirty="0">
                <a:solidFill>
                  <a:srgbClr val="00007F"/>
                </a:solidFill>
              </a:rPr>
              <a:t> </a:t>
            </a:r>
            <a:r>
              <a:rPr sz="2178" b="1" spc="-14" dirty="0">
                <a:solidFill>
                  <a:srgbClr val="00007F"/>
                </a:solidFill>
              </a:rPr>
              <a:t>Económica </a:t>
            </a:r>
            <a:r>
              <a:rPr sz="2178" b="1" spc="-7" dirty="0">
                <a:solidFill>
                  <a:srgbClr val="00007F"/>
                </a:solidFill>
              </a:rPr>
              <a:t>2.0</a:t>
            </a:r>
            <a:endParaRPr sz="2178" dirty="0"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3404027" y="716394"/>
            <a:ext cx="7398860" cy="584280"/>
          </a:xfrm>
          <a:prstGeom prst="rect">
            <a:avLst/>
          </a:prstGeom>
        </p:spPr>
        <p:txBody>
          <a:bodyPr spcFirstLastPara="1" vert="horz" wrap="square" lIns="0" tIns="17289" rIns="0" bIns="0" rtlCol="0" anchor="ctr" anchorCtr="0">
            <a:spAutoFit/>
          </a:bodyPr>
          <a:lstStyle/>
          <a:p>
            <a:pPr marL="17289" algn="r">
              <a:spcBef>
                <a:spcPts val="136"/>
              </a:spcBef>
            </a:pPr>
            <a:r>
              <a:rPr lang="es-ES" sz="3600" b="1" spc="-14" dirty="0">
                <a:latin typeface="Poppins" panose="00000500000000000000" pitchFamily="2" charset="0"/>
                <a:cs typeface="Poppins" panose="00000500000000000000" pitchFamily="2" charset="0"/>
              </a:rPr>
              <a:t>     CUOTA</a:t>
            </a:r>
            <a:r>
              <a:rPr lang="es-ES" sz="3600" b="1" spc="-4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ES" sz="3600" b="1" spc="-7" dirty="0">
                <a:latin typeface="Poppins" panose="00000500000000000000" pitchFamily="2" charset="0"/>
                <a:cs typeface="Poppins" panose="00000500000000000000" pitchFamily="2" charset="0"/>
              </a:rPr>
              <a:t>DE</a:t>
            </a:r>
            <a:r>
              <a:rPr lang="es-ES" sz="3600" b="1" spc="-27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ES" sz="3600" b="1" spc="-14" dirty="0">
                <a:latin typeface="Poppins" panose="00000500000000000000" pitchFamily="2" charset="0"/>
                <a:cs typeface="Poppins" panose="00000500000000000000" pitchFamily="2" charset="0"/>
              </a:rPr>
              <a:t>MERCADO</a:t>
            </a:r>
            <a:endParaRPr lang="es-ES" sz="36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193447" y="9981404"/>
            <a:ext cx="121024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83"/>
              </a:lnSpc>
            </a:pPr>
            <a:r>
              <a:rPr sz="1906" dirty="0">
                <a:latin typeface="Times New Roman"/>
                <a:cs typeface="Times New Roman"/>
              </a:rPr>
              <a:t>2</a:t>
            </a:r>
            <a:endParaRPr sz="1906">
              <a:latin typeface="Times New Roman"/>
              <a:cs typeface="Times New Roman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1BCA398-3502-1315-C84B-851A1A45E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52471" y="498303"/>
            <a:ext cx="1127858" cy="1030313"/>
          </a:xfrm>
          <a:prstGeom prst="rect">
            <a:avLst/>
          </a:prstGeom>
        </p:spPr>
      </p:pic>
    </p:spTree>
  </p:cSld>
  <p:clrMapOvr>
    <a:masterClrMapping/>
  </p:clrMapOvr>
  <p:transition>
    <p:dissolv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936C075-8A7F-609F-210F-0F0DC8CC3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55" y="8971431"/>
            <a:ext cx="4529721" cy="108518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E6C05F2-F65A-DE63-98C7-0FEBB2AED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9426" y="8936210"/>
            <a:ext cx="4499238" cy="1085182"/>
          </a:xfrm>
          <a:prstGeom prst="rect">
            <a:avLst/>
          </a:prstGeom>
        </p:spPr>
      </p:pic>
      <p:pic>
        <p:nvPicPr>
          <p:cNvPr id="2050" name="Picture 2" descr="Tipos De Clientes Reales">
            <a:extLst>
              <a:ext uri="{FF2B5EF4-FFF2-40B4-BE49-F238E27FC236}">
                <a16:creationId xmlns:a16="http://schemas.microsoft.com/office/drawing/2014/main" id="{F93C5FC3-6C48-DF9A-8883-20C05651E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947" y="20544"/>
            <a:ext cx="7653567" cy="5740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 49">
            <a:extLst>
              <a:ext uri="{FF2B5EF4-FFF2-40B4-BE49-F238E27FC236}">
                <a16:creationId xmlns:a16="http://schemas.microsoft.com/office/drawing/2014/main" id="{93E8E466-A401-C786-5F79-C3284252D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7287" y="20544"/>
            <a:ext cx="7862283" cy="5896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mage 50">
            <a:extLst>
              <a:ext uri="{FF2B5EF4-FFF2-40B4-BE49-F238E27FC236}">
                <a16:creationId xmlns:a16="http://schemas.microsoft.com/office/drawing/2014/main" id="{1A444BD7-85DB-CD09-40D5-E00DE7ACB7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5480" y="6087132"/>
            <a:ext cx="5572432" cy="4179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23FD1842-8950-8D05-632D-AE94339899DD}"/>
              </a:ext>
            </a:extLst>
          </p:cNvPr>
          <p:cNvSpPr txBox="1"/>
          <p:nvPr/>
        </p:nvSpPr>
        <p:spPr>
          <a:xfrm>
            <a:off x="12397570" y="8291179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latin typeface="Poppins" panose="00000500000000000000" pitchFamily="2" charset="0"/>
                <a:cs typeface="Poppins" panose="00000500000000000000" pitchFamily="2" charset="0"/>
              </a:rPr>
              <a:t>https://economipedia.com/definiciones/cliente-real.html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3B49B6E-A41A-74DF-119F-9911CAA701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69570" y="56989"/>
            <a:ext cx="1127858" cy="103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0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F3B49B6E-A41A-74DF-119F-9911CAA70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2471" y="498303"/>
            <a:ext cx="1127858" cy="103031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936C075-8A7F-609F-210F-0F0DC8CC3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855" y="8971431"/>
            <a:ext cx="4529721" cy="108518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E6C05F2-F65A-DE63-98C7-0FEBB2AED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19426" y="8971431"/>
            <a:ext cx="4499238" cy="1085182"/>
          </a:xfrm>
          <a:prstGeom prst="rect">
            <a:avLst/>
          </a:prstGeom>
        </p:spPr>
      </p:pic>
      <p:sp>
        <p:nvSpPr>
          <p:cNvPr id="3" name="object 12">
            <a:extLst>
              <a:ext uri="{FF2B5EF4-FFF2-40B4-BE49-F238E27FC236}">
                <a16:creationId xmlns:a16="http://schemas.microsoft.com/office/drawing/2014/main" id="{6CBC60A8-71D9-6A34-3505-B86610987E46}"/>
              </a:ext>
            </a:extLst>
          </p:cNvPr>
          <p:cNvSpPr txBox="1"/>
          <p:nvPr/>
        </p:nvSpPr>
        <p:spPr>
          <a:xfrm>
            <a:off x="3570425" y="498303"/>
            <a:ext cx="7141209" cy="8126584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 marR="5080">
              <a:lnSpc>
                <a:spcPts val="2910"/>
              </a:lnSpc>
              <a:spcBef>
                <a:spcPts val="370"/>
              </a:spcBef>
            </a:pPr>
            <a:r>
              <a:rPr lang="es-ES" sz="2800" b="1" dirty="0">
                <a:latin typeface="Poppins" panose="00000500000000000000" pitchFamily="2" charset="0"/>
                <a:cs typeface="Poppins" panose="00000500000000000000" pitchFamily="2" charset="0"/>
              </a:rPr>
              <a:t>¿QUÉ DEBEMOS SABER DE NUESTROS CLIENTES?</a:t>
            </a:r>
          </a:p>
          <a:p>
            <a:pPr marL="12700" marR="5080">
              <a:lnSpc>
                <a:spcPts val="2910"/>
              </a:lnSpc>
              <a:spcBef>
                <a:spcPts val="370"/>
              </a:spcBef>
            </a:pPr>
            <a:endParaRPr lang="es-ES" sz="28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2700" marR="5080">
              <a:lnSpc>
                <a:spcPts val="2910"/>
              </a:lnSpc>
              <a:spcBef>
                <a:spcPts val="370"/>
              </a:spcBef>
            </a:pPr>
            <a:r>
              <a:rPr sz="2800" dirty="0" err="1">
                <a:latin typeface="Poppins" panose="00000500000000000000" pitchFamily="2" charset="0"/>
                <a:cs typeface="Poppins" panose="00000500000000000000" pitchFamily="2" charset="0"/>
              </a:rPr>
              <a:t>Quién</a:t>
            </a:r>
            <a:r>
              <a:rPr sz="2800" dirty="0">
                <a:latin typeface="Poppins" panose="00000500000000000000" pitchFamily="2" charset="0"/>
                <a:cs typeface="Poppins" panose="00000500000000000000" pitchFamily="2" charset="0"/>
              </a:rPr>
              <a:t> decide, </a:t>
            </a:r>
            <a:r>
              <a:rPr sz="2800" spc="-5" dirty="0">
                <a:latin typeface="Poppins" panose="00000500000000000000" pitchFamily="2" charset="0"/>
                <a:cs typeface="Poppins" panose="00000500000000000000" pitchFamily="2" charset="0"/>
              </a:rPr>
              <a:t>quién </a:t>
            </a:r>
            <a:r>
              <a:rPr sz="2800" dirty="0">
                <a:latin typeface="Poppins" panose="00000500000000000000" pitchFamily="2" charset="0"/>
                <a:cs typeface="Poppins" panose="00000500000000000000" pitchFamily="2" charset="0"/>
              </a:rPr>
              <a:t>compra, </a:t>
            </a:r>
            <a:r>
              <a:rPr sz="2800" spc="-5" dirty="0">
                <a:latin typeface="Poppins" panose="00000500000000000000" pitchFamily="2" charset="0"/>
                <a:cs typeface="Poppins" panose="00000500000000000000" pitchFamily="2" charset="0"/>
              </a:rPr>
              <a:t>quién </a:t>
            </a:r>
            <a:r>
              <a:rPr sz="2800" dirty="0">
                <a:latin typeface="Poppins" panose="00000500000000000000" pitchFamily="2" charset="0"/>
                <a:cs typeface="Poppins" panose="00000500000000000000" pitchFamily="2" charset="0"/>
              </a:rPr>
              <a:t>paga y </a:t>
            </a:r>
            <a:r>
              <a:rPr sz="2800" spc="-5" dirty="0">
                <a:latin typeface="Poppins" panose="00000500000000000000" pitchFamily="2" charset="0"/>
                <a:cs typeface="Poppins" panose="00000500000000000000" pitchFamily="2" charset="0"/>
              </a:rPr>
              <a:t>quién </a:t>
            </a:r>
            <a:r>
              <a:rPr sz="2800" spc="-71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dirty="0">
                <a:latin typeface="Poppins" panose="00000500000000000000" pitchFamily="2" charset="0"/>
                <a:cs typeface="Poppins" panose="00000500000000000000" pitchFamily="2" charset="0"/>
              </a:rPr>
              <a:t>consume.</a:t>
            </a:r>
            <a:endParaRPr lang="es-ES" sz="2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2700" marR="5080">
              <a:lnSpc>
                <a:spcPts val="2910"/>
              </a:lnSpc>
              <a:spcBef>
                <a:spcPts val="370"/>
              </a:spcBef>
            </a:pPr>
            <a:endParaRPr sz="2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2800" dirty="0">
                <a:latin typeface="Poppins" panose="00000500000000000000" pitchFamily="2" charset="0"/>
                <a:cs typeface="Poppins" panose="00000500000000000000" pitchFamily="2" charset="0"/>
              </a:rPr>
              <a:t>Qué</a:t>
            </a:r>
            <a:r>
              <a:rPr sz="2800" spc="-5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dirty="0">
                <a:latin typeface="Poppins" panose="00000500000000000000" pitchFamily="2" charset="0"/>
                <a:cs typeface="Poppins" panose="00000500000000000000" pitchFamily="2" charset="0"/>
              </a:rPr>
              <a:t>se compra</a:t>
            </a:r>
            <a:r>
              <a:rPr sz="2800" spc="-1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dirty="0">
                <a:latin typeface="Poppins" panose="00000500000000000000" pitchFamily="2" charset="0"/>
                <a:cs typeface="Poppins" panose="00000500000000000000" pitchFamily="2" charset="0"/>
              </a:rPr>
              <a:t>y</a:t>
            </a:r>
            <a:r>
              <a:rPr sz="2800" spc="-15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dirty="0">
                <a:latin typeface="Poppins" panose="00000500000000000000" pitchFamily="2" charset="0"/>
                <a:cs typeface="Poppins" panose="00000500000000000000" pitchFamily="2" charset="0"/>
              </a:rPr>
              <a:t>por</a:t>
            </a:r>
            <a:r>
              <a:rPr sz="2800" spc="-2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dirty="0" err="1">
                <a:latin typeface="Poppins" panose="00000500000000000000" pitchFamily="2" charset="0"/>
                <a:cs typeface="Poppins" panose="00000500000000000000" pitchFamily="2" charset="0"/>
              </a:rPr>
              <a:t>qué</a:t>
            </a:r>
            <a:r>
              <a:rPr sz="28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  <a:endParaRPr lang="es-ES" sz="2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endParaRPr sz="2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2700" marR="1086485">
              <a:lnSpc>
                <a:spcPts val="4320"/>
              </a:lnSpc>
              <a:spcBef>
                <a:spcPts val="345"/>
              </a:spcBef>
            </a:pPr>
            <a:r>
              <a:rPr sz="2800" dirty="0">
                <a:latin typeface="Poppins" panose="00000500000000000000" pitchFamily="2" charset="0"/>
                <a:cs typeface="Poppins" panose="00000500000000000000" pitchFamily="2" charset="0"/>
              </a:rPr>
              <a:t>Cuándo se </a:t>
            </a:r>
            <a:r>
              <a:rPr sz="2800" spc="-5" dirty="0">
                <a:latin typeface="Poppins" panose="00000500000000000000" pitchFamily="2" charset="0"/>
                <a:cs typeface="Poppins" panose="00000500000000000000" pitchFamily="2" charset="0"/>
              </a:rPr>
              <a:t>compra </a:t>
            </a:r>
            <a:r>
              <a:rPr sz="2800" dirty="0">
                <a:latin typeface="Poppins" panose="00000500000000000000" pitchFamily="2" charset="0"/>
                <a:cs typeface="Poppins" panose="00000500000000000000" pitchFamily="2" charset="0"/>
              </a:rPr>
              <a:t>y con qué </a:t>
            </a:r>
            <a:r>
              <a:rPr sz="2800" dirty="0" err="1">
                <a:latin typeface="Poppins" panose="00000500000000000000" pitchFamily="2" charset="0"/>
                <a:cs typeface="Poppins" panose="00000500000000000000" pitchFamily="2" charset="0"/>
              </a:rPr>
              <a:t>frecuencia</a:t>
            </a:r>
            <a:r>
              <a:rPr sz="28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  <a:endParaRPr lang="es-ES" sz="2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2700" marR="1086485">
              <a:lnSpc>
                <a:spcPts val="4320"/>
              </a:lnSpc>
              <a:spcBef>
                <a:spcPts val="345"/>
              </a:spcBef>
            </a:pPr>
            <a:endParaRPr lang="es-ES" sz="2800" spc="-71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2700" marR="1086485">
              <a:lnSpc>
                <a:spcPts val="4320"/>
              </a:lnSpc>
              <a:spcBef>
                <a:spcPts val="345"/>
              </a:spcBef>
            </a:pPr>
            <a:r>
              <a:rPr sz="2800" spc="-71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dirty="0">
                <a:latin typeface="Poppins" panose="00000500000000000000" pitchFamily="2" charset="0"/>
                <a:cs typeface="Poppins" panose="00000500000000000000" pitchFamily="2" charset="0"/>
              </a:rPr>
              <a:t>Dónde</a:t>
            </a:r>
            <a:r>
              <a:rPr sz="2800" spc="5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dirty="0">
                <a:latin typeface="Poppins" panose="00000500000000000000" pitchFamily="2" charset="0"/>
                <a:cs typeface="Poppins" panose="00000500000000000000" pitchFamily="2" charset="0"/>
              </a:rPr>
              <a:t>se</a:t>
            </a:r>
            <a:r>
              <a:rPr sz="2800" spc="1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dirty="0" err="1">
                <a:latin typeface="Poppins" panose="00000500000000000000" pitchFamily="2" charset="0"/>
                <a:cs typeface="Poppins" panose="00000500000000000000" pitchFamily="2" charset="0"/>
              </a:rPr>
              <a:t>compra</a:t>
            </a:r>
            <a:r>
              <a:rPr sz="28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  <a:endParaRPr lang="es-ES" sz="2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2700" marR="1086485">
              <a:lnSpc>
                <a:spcPts val="4320"/>
              </a:lnSpc>
              <a:spcBef>
                <a:spcPts val="345"/>
              </a:spcBef>
            </a:pPr>
            <a:endParaRPr sz="2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2800" dirty="0">
                <a:latin typeface="Poppins" panose="00000500000000000000" pitchFamily="2" charset="0"/>
                <a:cs typeface="Poppins" panose="00000500000000000000" pitchFamily="2" charset="0"/>
              </a:rPr>
              <a:t>Cuánto</a:t>
            </a:r>
            <a:r>
              <a:rPr sz="2800" spc="-2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dirty="0">
                <a:latin typeface="Poppins" panose="00000500000000000000" pitchFamily="2" charset="0"/>
                <a:cs typeface="Poppins" panose="00000500000000000000" pitchFamily="2" charset="0"/>
              </a:rPr>
              <a:t>se</a:t>
            </a:r>
            <a:r>
              <a:rPr sz="2800" spc="-2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800" dirty="0" err="1">
                <a:latin typeface="Poppins" panose="00000500000000000000" pitchFamily="2" charset="0"/>
                <a:cs typeface="Poppins" panose="00000500000000000000" pitchFamily="2" charset="0"/>
              </a:rPr>
              <a:t>compra</a:t>
            </a:r>
            <a:r>
              <a:rPr sz="28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  <a:endParaRPr lang="es-ES" sz="2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endParaRPr lang="es-ES" sz="2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lang="es-ES" sz="2800" dirty="0">
                <a:latin typeface="Poppins" panose="00000500000000000000" pitchFamily="2" charset="0"/>
                <a:cs typeface="Poppins" panose="00000500000000000000" pitchFamily="2" charset="0"/>
              </a:rPr>
              <a:t>Qué gustos tienen.</a:t>
            </a:r>
            <a:endParaRPr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074" name="Picture 2" descr="Conocer A Los Clientes | Business Evolution">
            <a:extLst>
              <a:ext uri="{FF2B5EF4-FFF2-40B4-BE49-F238E27FC236}">
                <a16:creationId xmlns:a16="http://schemas.microsoft.com/office/drawing/2014/main" id="{1D3BB710-6059-6FA2-DB65-6F34E4B7F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6971" y="2545080"/>
            <a:ext cx="5769429" cy="3230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1828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80237" y="0"/>
            <a:ext cx="13722339" cy="10287000"/>
            <a:chOff x="0" y="0"/>
            <a:chExt cx="10079990" cy="7556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078720" cy="7061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21309" y="1430019"/>
              <a:ext cx="9432290" cy="1054100"/>
            </a:xfrm>
            <a:custGeom>
              <a:avLst/>
              <a:gdLst/>
              <a:ahLst/>
              <a:cxnLst/>
              <a:rect l="l" t="t" r="r" b="b"/>
              <a:pathLst>
                <a:path w="9432290" h="1054100">
                  <a:moveTo>
                    <a:pt x="9257030" y="0"/>
                  </a:moveTo>
                  <a:lnTo>
                    <a:pt x="175260" y="0"/>
                  </a:lnTo>
                  <a:lnTo>
                    <a:pt x="131850" y="6902"/>
                  </a:lnTo>
                  <a:lnTo>
                    <a:pt x="90875" y="26011"/>
                  </a:lnTo>
                  <a:lnTo>
                    <a:pt x="54768" y="54927"/>
                  </a:lnTo>
                  <a:lnTo>
                    <a:pt x="25964" y="91251"/>
                  </a:lnTo>
                  <a:lnTo>
                    <a:pt x="6896" y="132585"/>
                  </a:lnTo>
                  <a:lnTo>
                    <a:pt x="0" y="176529"/>
                  </a:lnTo>
                  <a:lnTo>
                    <a:pt x="0" y="878839"/>
                  </a:lnTo>
                  <a:lnTo>
                    <a:pt x="6896" y="921808"/>
                  </a:lnTo>
                  <a:lnTo>
                    <a:pt x="25964" y="962660"/>
                  </a:lnTo>
                  <a:lnTo>
                    <a:pt x="54768" y="998855"/>
                  </a:lnTo>
                  <a:lnTo>
                    <a:pt x="90875" y="1027853"/>
                  </a:lnTo>
                  <a:lnTo>
                    <a:pt x="131850" y="1047115"/>
                  </a:lnTo>
                  <a:lnTo>
                    <a:pt x="175260" y="1054100"/>
                  </a:lnTo>
                  <a:lnTo>
                    <a:pt x="9257030" y="1054100"/>
                  </a:lnTo>
                  <a:lnTo>
                    <a:pt x="9300439" y="1047114"/>
                  </a:lnTo>
                  <a:lnTo>
                    <a:pt x="9341414" y="1027853"/>
                  </a:lnTo>
                  <a:lnTo>
                    <a:pt x="9377521" y="998854"/>
                  </a:lnTo>
                  <a:lnTo>
                    <a:pt x="9406325" y="962659"/>
                  </a:lnTo>
                  <a:lnTo>
                    <a:pt x="9425393" y="921808"/>
                  </a:lnTo>
                  <a:lnTo>
                    <a:pt x="9432290" y="878839"/>
                  </a:lnTo>
                  <a:lnTo>
                    <a:pt x="9432290" y="176529"/>
                  </a:lnTo>
                  <a:lnTo>
                    <a:pt x="9425393" y="132585"/>
                  </a:lnTo>
                  <a:lnTo>
                    <a:pt x="9406325" y="91251"/>
                  </a:lnTo>
                  <a:lnTo>
                    <a:pt x="9377521" y="54927"/>
                  </a:lnTo>
                  <a:lnTo>
                    <a:pt x="9341414" y="26011"/>
                  </a:lnTo>
                  <a:lnTo>
                    <a:pt x="9300439" y="6902"/>
                  </a:lnTo>
                  <a:lnTo>
                    <a:pt x="9257030" y="0"/>
                  </a:lnTo>
                  <a:close/>
                </a:path>
              </a:pathLst>
            </a:custGeom>
            <a:solidFill>
              <a:srgbClr val="0000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 sz="1906"/>
            </a:p>
          </p:txBody>
        </p:sp>
        <p:sp>
          <p:nvSpPr>
            <p:cNvPr id="5" name="object 5"/>
            <p:cNvSpPr/>
            <p:nvPr/>
          </p:nvSpPr>
          <p:spPr>
            <a:xfrm>
              <a:off x="321309" y="1430019"/>
              <a:ext cx="9432290" cy="1054100"/>
            </a:xfrm>
            <a:custGeom>
              <a:avLst/>
              <a:gdLst/>
              <a:ahLst/>
              <a:cxnLst/>
              <a:rect l="l" t="t" r="r" b="b"/>
              <a:pathLst>
                <a:path w="9432290" h="1054100">
                  <a:moveTo>
                    <a:pt x="175260" y="0"/>
                  </a:moveTo>
                  <a:lnTo>
                    <a:pt x="131850" y="6902"/>
                  </a:lnTo>
                  <a:lnTo>
                    <a:pt x="90875" y="26011"/>
                  </a:lnTo>
                  <a:lnTo>
                    <a:pt x="54768" y="54927"/>
                  </a:lnTo>
                  <a:lnTo>
                    <a:pt x="25964" y="91251"/>
                  </a:lnTo>
                  <a:lnTo>
                    <a:pt x="6896" y="132585"/>
                  </a:lnTo>
                  <a:lnTo>
                    <a:pt x="0" y="176529"/>
                  </a:lnTo>
                  <a:lnTo>
                    <a:pt x="0" y="878839"/>
                  </a:lnTo>
                  <a:lnTo>
                    <a:pt x="6896" y="921808"/>
                  </a:lnTo>
                  <a:lnTo>
                    <a:pt x="25964" y="962660"/>
                  </a:lnTo>
                  <a:lnTo>
                    <a:pt x="54768" y="998855"/>
                  </a:lnTo>
                  <a:lnTo>
                    <a:pt x="90875" y="1027853"/>
                  </a:lnTo>
                  <a:lnTo>
                    <a:pt x="131850" y="1047115"/>
                  </a:lnTo>
                  <a:lnTo>
                    <a:pt x="175260" y="1054100"/>
                  </a:lnTo>
                  <a:lnTo>
                    <a:pt x="9257030" y="1054100"/>
                  </a:lnTo>
                  <a:lnTo>
                    <a:pt x="9300439" y="1047114"/>
                  </a:lnTo>
                  <a:lnTo>
                    <a:pt x="9341414" y="1027853"/>
                  </a:lnTo>
                  <a:lnTo>
                    <a:pt x="9377521" y="998854"/>
                  </a:lnTo>
                  <a:lnTo>
                    <a:pt x="9406325" y="962659"/>
                  </a:lnTo>
                  <a:lnTo>
                    <a:pt x="9425393" y="921808"/>
                  </a:lnTo>
                  <a:lnTo>
                    <a:pt x="9432290" y="878839"/>
                  </a:lnTo>
                  <a:lnTo>
                    <a:pt x="9432290" y="176529"/>
                  </a:lnTo>
                  <a:lnTo>
                    <a:pt x="9425393" y="132585"/>
                  </a:lnTo>
                  <a:lnTo>
                    <a:pt x="9406325" y="91251"/>
                  </a:lnTo>
                  <a:lnTo>
                    <a:pt x="9377521" y="54927"/>
                  </a:lnTo>
                  <a:lnTo>
                    <a:pt x="9341414" y="26011"/>
                  </a:lnTo>
                  <a:lnTo>
                    <a:pt x="9300439" y="6902"/>
                  </a:lnTo>
                  <a:lnTo>
                    <a:pt x="9257030" y="0"/>
                  </a:lnTo>
                  <a:lnTo>
                    <a:pt x="175260" y="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906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935493" y="2102353"/>
            <a:ext cx="12392809" cy="1106563"/>
          </a:xfrm>
          <a:prstGeom prst="rect">
            <a:avLst/>
          </a:prstGeom>
        </p:spPr>
        <p:txBody>
          <a:bodyPr vert="horz" wrap="square" lIns="0" tIns="54461" rIns="0" bIns="0" rtlCol="0">
            <a:spAutoFit/>
          </a:bodyPr>
          <a:lstStyle/>
          <a:p>
            <a:pPr marL="4023901" marR="6915" indent="-4007477">
              <a:lnSpc>
                <a:spcPts val="4057"/>
              </a:lnSpc>
              <a:spcBef>
                <a:spcPts val="429"/>
              </a:spcBef>
            </a:pPr>
            <a:r>
              <a:rPr lang="es-ES" sz="3539" b="1" spc="-7" dirty="0">
                <a:solidFill>
                  <a:srgbClr val="FFFFFF"/>
                </a:solidFill>
              </a:rPr>
              <a:t>No s</a:t>
            </a:r>
            <a:r>
              <a:rPr sz="3539" b="1" spc="-7" dirty="0" err="1">
                <a:solidFill>
                  <a:srgbClr val="FFFFFF"/>
                </a:solidFill>
              </a:rPr>
              <a:t>iempre</a:t>
            </a:r>
            <a:r>
              <a:rPr sz="3539" b="1" spc="7" dirty="0">
                <a:solidFill>
                  <a:srgbClr val="FFFFFF"/>
                </a:solidFill>
              </a:rPr>
              <a:t>  </a:t>
            </a:r>
            <a:r>
              <a:rPr sz="3539" b="1" dirty="0">
                <a:solidFill>
                  <a:srgbClr val="FFFFFF"/>
                </a:solidFill>
              </a:rPr>
              <a:t>es</a:t>
            </a:r>
            <a:r>
              <a:rPr sz="3539" b="1" spc="-7" dirty="0">
                <a:solidFill>
                  <a:srgbClr val="FFFFFF"/>
                </a:solidFill>
              </a:rPr>
              <a:t> la</a:t>
            </a:r>
            <a:r>
              <a:rPr sz="3539" b="1" dirty="0">
                <a:solidFill>
                  <a:srgbClr val="FFFFFF"/>
                </a:solidFill>
              </a:rPr>
              <a:t> </a:t>
            </a:r>
            <a:r>
              <a:rPr sz="3539" b="1" spc="-7" dirty="0">
                <a:solidFill>
                  <a:srgbClr val="FFFFFF"/>
                </a:solidFill>
              </a:rPr>
              <a:t>misma </a:t>
            </a:r>
            <a:r>
              <a:rPr sz="3539" b="1" dirty="0">
                <a:solidFill>
                  <a:srgbClr val="FFFFFF"/>
                </a:solidFill>
              </a:rPr>
              <a:t>persona </a:t>
            </a:r>
            <a:r>
              <a:rPr sz="3539" b="1" spc="-7" dirty="0">
                <a:solidFill>
                  <a:srgbClr val="FFFFFF"/>
                </a:solidFill>
              </a:rPr>
              <a:t>la </a:t>
            </a:r>
            <a:r>
              <a:rPr sz="3539" b="1" dirty="0">
                <a:solidFill>
                  <a:srgbClr val="FFFFFF"/>
                </a:solidFill>
              </a:rPr>
              <a:t>que decide</a:t>
            </a:r>
            <a:r>
              <a:rPr sz="3539" b="1" spc="7" dirty="0">
                <a:solidFill>
                  <a:srgbClr val="FFFFFF"/>
                </a:solidFill>
              </a:rPr>
              <a:t> </a:t>
            </a:r>
            <a:r>
              <a:rPr sz="3539" b="1" spc="-7" dirty="0">
                <a:solidFill>
                  <a:srgbClr val="FFFFFF"/>
                </a:solidFill>
              </a:rPr>
              <a:t>la</a:t>
            </a:r>
            <a:r>
              <a:rPr sz="3539" b="1" dirty="0">
                <a:solidFill>
                  <a:srgbClr val="FFFFFF"/>
                </a:solidFill>
              </a:rPr>
              <a:t> compra, </a:t>
            </a:r>
            <a:r>
              <a:rPr sz="3539" b="1" spc="-967" dirty="0">
                <a:solidFill>
                  <a:srgbClr val="FFFFFF"/>
                </a:solidFill>
              </a:rPr>
              <a:t> </a:t>
            </a:r>
            <a:r>
              <a:rPr sz="3539" b="1" dirty="0">
                <a:solidFill>
                  <a:srgbClr val="FFFFFF"/>
                </a:solidFill>
              </a:rPr>
              <a:t>compra</a:t>
            </a:r>
            <a:r>
              <a:rPr sz="3539" b="1" spc="-7" dirty="0">
                <a:solidFill>
                  <a:srgbClr val="FFFFFF"/>
                </a:solidFill>
              </a:rPr>
              <a:t> </a:t>
            </a:r>
            <a:r>
              <a:rPr sz="3539" b="1" dirty="0">
                <a:solidFill>
                  <a:srgbClr val="FFFFFF"/>
                </a:solidFill>
              </a:rPr>
              <a:t>y</a:t>
            </a:r>
            <a:r>
              <a:rPr sz="3539" b="1" spc="-27" dirty="0">
                <a:solidFill>
                  <a:srgbClr val="FFFFFF"/>
                </a:solidFill>
              </a:rPr>
              <a:t> </a:t>
            </a:r>
            <a:r>
              <a:rPr sz="3539" b="1" dirty="0">
                <a:solidFill>
                  <a:srgbClr val="FFFFFF"/>
                </a:solidFill>
              </a:rPr>
              <a:t>consume.</a:t>
            </a:r>
            <a:endParaRPr sz="3539" dirty="0"/>
          </a:p>
        </p:txBody>
      </p:sp>
      <p:grpSp>
        <p:nvGrpSpPr>
          <p:cNvPr id="7" name="object 7"/>
          <p:cNvGrpSpPr/>
          <p:nvPr/>
        </p:nvGrpSpPr>
        <p:grpSpPr>
          <a:xfrm>
            <a:off x="2670970" y="6566390"/>
            <a:ext cx="4116529" cy="1225795"/>
            <a:chOff x="287020" y="4823459"/>
            <a:chExt cx="3023870" cy="900430"/>
          </a:xfrm>
        </p:grpSpPr>
        <p:sp>
          <p:nvSpPr>
            <p:cNvPr id="8" name="object 8"/>
            <p:cNvSpPr/>
            <p:nvPr/>
          </p:nvSpPr>
          <p:spPr>
            <a:xfrm>
              <a:off x="287020" y="4823459"/>
              <a:ext cx="3023870" cy="900430"/>
            </a:xfrm>
            <a:custGeom>
              <a:avLst/>
              <a:gdLst/>
              <a:ahLst/>
              <a:cxnLst/>
              <a:rect l="l" t="t" r="r" b="b"/>
              <a:pathLst>
                <a:path w="3023870" h="900429">
                  <a:moveTo>
                    <a:pt x="2874010" y="0"/>
                  </a:moveTo>
                  <a:lnTo>
                    <a:pt x="149859" y="0"/>
                  </a:lnTo>
                  <a:lnTo>
                    <a:pt x="105501" y="8392"/>
                  </a:lnTo>
                  <a:lnTo>
                    <a:pt x="64739" y="31170"/>
                  </a:lnTo>
                  <a:lnTo>
                    <a:pt x="31170" y="64739"/>
                  </a:lnTo>
                  <a:lnTo>
                    <a:pt x="8392" y="105501"/>
                  </a:lnTo>
                  <a:lnTo>
                    <a:pt x="0" y="149859"/>
                  </a:lnTo>
                  <a:lnTo>
                    <a:pt x="0" y="750569"/>
                  </a:lnTo>
                  <a:lnTo>
                    <a:pt x="8392" y="794928"/>
                  </a:lnTo>
                  <a:lnTo>
                    <a:pt x="31170" y="835690"/>
                  </a:lnTo>
                  <a:lnTo>
                    <a:pt x="64739" y="869259"/>
                  </a:lnTo>
                  <a:lnTo>
                    <a:pt x="105501" y="892037"/>
                  </a:lnTo>
                  <a:lnTo>
                    <a:pt x="149859" y="900429"/>
                  </a:lnTo>
                  <a:lnTo>
                    <a:pt x="2874010" y="900429"/>
                  </a:lnTo>
                  <a:lnTo>
                    <a:pt x="2918368" y="892037"/>
                  </a:lnTo>
                  <a:lnTo>
                    <a:pt x="2959130" y="869259"/>
                  </a:lnTo>
                  <a:lnTo>
                    <a:pt x="2992699" y="835690"/>
                  </a:lnTo>
                  <a:lnTo>
                    <a:pt x="3015477" y="794928"/>
                  </a:lnTo>
                  <a:lnTo>
                    <a:pt x="3023870" y="750569"/>
                  </a:lnTo>
                  <a:lnTo>
                    <a:pt x="3023870" y="149859"/>
                  </a:lnTo>
                  <a:lnTo>
                    <a:pt x="3015477" y="105501"/>
                  </a:lnTo>
                  <a:lnTo>
                    <a:pt x="2992699" y="64739"/>
                  </a:lnTo>
                  <a:lnTo>
                    <a:pt x="2959130" y="31170"/>
                  </a:lnTo>
                  <a:lnTo>
                    <a:pt x="2918368" y="8392"/>
                  </a:lnTo>
                  <a:lnTo>
                    <a:pt x="2874010" y="0"/>
                  </a:lnTo>
                  <a:close/>
                </a:path>
              </a:pathLst>
            </a:custGeom>
            <a:solidFill>
              <a:srgbClr val="007F00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 sz="1906"/>
            </a:p>
          </p:txBody>
        </p:sp>
        <p:sp>
          <p:nvSpPr>
            <p:cNvPr id="9" name="object 9"/>
            <p:cNvSpPr/>
            <p:nvPr/>
          </p:nvSpPr>
          <p:spPr>
            <a:xfrm>
              <a:off x="287020" y="4823459"/>
              <a:ext cx="3023870" cy="900430"/>
            </a:xfrm>
            <a:custGeom>
              <a:avLst/>
              <a:gdLst/>
              <a:ahLst/>
              <a:cxnLst/>
              <a:rect l="l" t="t" r="r" b="b"/>
              <a:pathLst>
                <a:path w="3023870" h="900429">
                  <a:moveTo>
                    <a:pt x="149859" y="0"/>
                  </a:moveTo>
                  <a:lnTo>
                    <a:pt x="105501" y="8392"/>
                  </a:lnTo>
                  <a:lnTo>
                    <a:pt x="64739" y="31170"/>
                  </a:lnTo>
                  <a:lnTo>
                    <a:pt x="31170" y="64739"/>
                  </a:lnTo>
                  <a:lnTo>
                    <a:pt x="8392" y="105501"/>
                  </a:lnTo>
                  <a:lnTo>
                    <a:pt x="0" y="149859"/>
                  </a:lnTo>
                  <a:lnTo>
                    <a:pt x="0" y="750569"/>
                  </a:lnTo>
                  <a:lnTo>
                    <a:pt x="8392" y="794928"/>
                  </a:lnTo>
                  <a:lnTo>
                    <a:pt x="31170" y="835690"/>
                  </a:lnTo>
                  <a:lnTo>
                    <a:pt x="64739" y="869259"/>
                  </a:lnTo>
                  <a:lnTo>
                    <a:pt x="105501" y="892037"/>
                  </a:lnTo>
                  <a:lnTo>
                    <a:pt x="149859" y="900429"/>
                  </a:lnTo>
                  <a:lnTo>
                    <a:pt x="2874010" y="900429"/>
                  </a:lnTo>
                  <a:lnTo>
                    <a:pt x="2918368" y="892037"/>
                  </a:lnTo>
                  <a:lnTo>
                    <a:pt x="2959130" y="869259"/>
                  </a:lnTo>
                  <a:lnTo>
                    <a:pt x="2992699" y="835690"/>
                  </a:lnTo>
                  <a:lnTo>
                    <a:pt x="3015477" y="794928"/>
                  </a:lnTo>
                  <a:lnTo>
                    <a:pt x="3023870" y="750569"/>
                  </a:lnTo>
                  <a:lnTo>
                    <a:pt x="3023870" y="149859"/>
                  </a:lnTo>
                  <a:lnTo>
                    <a:pt x="3015477" y="105501"/>
                  </a:lnTo>
                  <a:lnTo>
                    <a:pt x="2992699" y="64739"/>
                  </a:lnTo>
                  <a:lnTo>
                    <a:pt x="2959130" y="31170"/>
                  </a:lnTo>
                  <a:lnTo>
                    <a:pt x="2918368" y="8392"/>
                  </a:lnTo>
                  <a:lnTo>
                    <a:pt x="2874010" y="0"/>
                  </a:lnTo>
                  <a:lnTo>
                    <a:pt x="149859" y="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906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540611" y="6600968"/>
            <a:ext cx="2376382" cy="394484"/>
          </a:xfrm>
          <a:prstGeom prst="rect">
            <a:avLst/>
          </a:prstGeom>
        </p:spPr>
        <p:txBody>
          <a:bodyPr vert="horz" wrap="square" lIns="0" tIns="17289" rIns="0" bIns="0" rtlCol="0">
            <a:spAutoFit/>
          </a:bodyPr>
          <a:lstStyle/>
          <a:p>
            <a:pPr marL="17289">
              <a:spcBef>
                <a:spcPts val="136"/>
              </a:spcBef>
            </a:pPr>
            <a:r>
              <a:rPr sz="2450" b="1" spc="-14" dirty="0">
                <a:solidFill>
                  <a:srgbClr val="FFFFFF"/>
                </a:solidFill>
              </a:rPr>
              <a:t>PRESCRIPTOR:</a:t>
            </a:r>
            <a:endParaRPr sz="2450"/>
          </a:p>
        </p:txBody>
      </p:sp>
      <p:sp>
        <p:nvSpPr>
          <p:cNvPr id="11" name="object 11"/>
          <p:cNvSpPr txBox="1"/>
          <p:nvPr/>
        </p:nvSpPr>
        <p:spPr>
          <a:xfrm>
            <a:off x="4073113" y="7318465"/>
            <a:ext cx="1312241" cy="394484"/>
          </a:xfrm>
          <a:prstGeom prst="rect">
            <a:avLst/>
          </a:prstGeom>
        </p:spPr>
        <p:txBody>
          <a:bodyPr vert="horz" wrap="square" lIns="0" tIns="17289" rIns="0" bIns="0" rtlCol="0">
            <a:spAutoFit/>
          </a:bodyPr>
          <a:lstStyle/>
          <a:p>
            <a:pPr marL="17289">
              <a:spcBef>
                <a:spcPts val="136"/>
              </a:spcBef>
            </a:pPr>
            <a:r>
              <a:rPr sz="2450" b="1" spc="-7" dirty="0">
                <a:solidFill>
                  <a:srgbClr val="FFFFFF"/>
                </a:solidFill>
              </a:rPr>
              <a:t>Profe</a:t>
            </a:r>
            <a:r>
              <a:rPr sz="2450" b="1" spc="-20" dirty="0">
                <a:solidFill>
                  <a:srgbClr val="FFFFFF"/>
                </a:solidFill>
              </a:rPr>
              <a:t>s</a:t>
            </a:r>
            <a:r>
              <a:rPr sz="2450" b="1" spc="7" dirty="0">
                <a:solidFill>
                  <a:srgbClr val="FFFFFF"/>
                </a:solidFill>
              </a:rPr>
              <a:t>o</a:t>
            </a:r>
            <a:r>
              <a:rPr sz="2450" b="1" dirty="0">
                <a:solidFill>
                  <a:srgbClr val="FFFFFF"/>
                </a:solidFill>
              </a:rPr>
              <a:t>r</a:t>
            </a:r>
            <a:endParaRPr sz="2450"/>
          </a:p>
        </p:txBody>
      </p:sp>
      <p:grpSp>
        <p:nvGrpSpPr>
          <p:cNvPr id="12" name="object 12"/>
          <p:cNvGrpSpPr/>
          <p:nvPr/>
        </p:nvGrpSpPr>
        <p:grpSpPr>
          <a:xfrm>
            <a:off x="7105618" y="6566390"/>
            <a:ext cx="4068119" cy="1225795"/>
            <a:chOff x="3544570" y="4823459"/>
            <a:chExt cx="2988310" cy="900430"/>
          </a:xfrm>
        </p:grpSpPr>
        <p:sp>
          <p:nvSpPr>
            <p:cNvPr id="13" name="object 13"/>
            <p:cNvSpPr/>
            <p:nvPr/>
          </p:nvSpPr>
          <p:spPr>
            <a:xfrm>
              <a:off x="3544570" y="4823459"/>
              <a:ext cx="2988310" cy="900430"/>
            </a:xfrm>
            <a:custGeom>
              <a:avLst/>
              <a:gdLst/>
              <a:ahLst/>
              <a:cxnLst/>
              <a:rect l="l" t="t" r="r" b="b"/>
              <a:pathLst>
                <a:path w="2988309" h="900429">
                  <a:moveTo>
                    <a:pt x="2838450" y="0"/>
                  </a:moveTo>
                  <a:lnTo>
                    <a:pt x="149859" y="0"/>
                  </a:lnTo>
                  <a:lnTo>
                    <a:pt x="105501" y="8392"/>
                  </a:lnTo>
                  <a:lnTo>
                    <a:pt x="64739" y="31170"/>
                  </a:lnTo>
                  <a:lnTo>
                    <a:pt x="31170" y="64739"/>
                  </a:lnTo>
                  <a:lnTo>
                    <a:pt x="8392" y="105501"/>
                  </a:lnTo>
                  <a:lnTo>
                    <a:pt x="0" y="149859"/>
                  </a:lnTo>
                  <a:lnTo>
                    <a:pt x="0" y="750569"/>
                  </a:lnTo>
                  <a:lnTo>
                    <a:pt x="8392" y="794928"/>
                  </a:lnTo>
                  <a:lnTo>
                    <a:pt x="31170" y="835690"/>
                  </a:lnTo>
                  <a:lnTo>
                    <a:pt x="64739" y="869259"/>
                  </a:lnTo>
                  <a:lnTo>
                    <a:pt x="105501" y="892037"/>
                  </a:lnTo>
                  <a:lnTo>
                    <a:pt x="149859" y="900429"/>
                  </a:lnTo>
                  <a:lnTo>
                    <a:pt x="2838450" y="900429"/>
                  </a:lnTo>
                  <a:lnTo>
                    <a:pt x="2882808" y="892037"/>
                  </a:lnTo>
                  <a:lnTo>
                    <a:pt x="2923570" y="869259"/>
                  </a:lnTo>
                  <a:lnTo>
                    <a:pt x="2957139" y="835690"/>
                  </a:lnTo>
                  <a:lnTo>
                    <a:pt x="2979917" y="794928"/>
                  </a:lnTo>
                  <a:lnTo>
                    <a:pt x="2988309" y="750569"/>
                  </a:lnTo>
                  <a:lnTo>
                    <a:pt x="2988309" y="149859"/>
                  </a:lnTo>
                  <a:lnTo>
                    <a:pt x="2979917" y="105501"/>
                  </a:lnTo>
                  <a:lnTo>
                    <a:pt x="2957139" y="64739"/>
                  </a:lnTo>
                  <a:lnTo>
                    <a:pt x="2923570" y="31170"/>
                  </a:lnTo>
                  <a:lnTo>
                    <a:pt x="2882808" y="8392"/>
                  </a:lnTo>
                  <a:lnTo>
                    <a:pt x="2838450" y="0"/>
                  </a:lnTo>
                  <a:close/>
                </a:path>
              </a:pathLst>
            </a:custGeom>
            <a:solidFill>
              <a:srgbClr val="7F0000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 sz="1906"/>
            </a:p>
          </p:txBody>
        </p:sp>
        <p:sp>
          <p:nvSpPr>
            <p:cNvPr id="14" name="object 14"/>
            <p:cNvSpPr/>
            <p:nvPr/>
          </p:nvSpPr>
          <p:spPr>
            <a:xfrm>
              <a:off x="3544570" y="4823459"/>
              <a:ext cx="2988310" cy="900430"/>
            </a:xfrm>
            <a:custGeom>
              <a:avLst/>
              <a:gdLst/>
              <a:ahLst/>
              <a:cxnLst/>
              <a:rect l="l" t="t" r="r" b="b"/>
              <a:pathLst>
                <a:path w="2988309" h="900429">
                  <a:moveTo>
                    <a:pt x="149859" y="0"/>
                  </a:moveTo>
                  <a:lnTo>
                    <a:pt x="105501" y="8392"/>
                  </a:lnTo>
                  <a:lnTo>
                    <a:pt x="64739" y="31170"/>
                  </a:lnTo>
                  <a:lnTo>
                    <a:pt x="31170" y="64739"/>
                  </a:lnTo>
                  <a:lnTo>
                    <a:pt x="8392" y="105501"/>
                  </a:lnTo>
                  <a:lnTo>
                    <a:pt x="0" y="149859"/>
                  </a:lnTo>
                  <a:lnTo>
                    <a:pt x="0" y="750569"/>
                  </a:lnTo>
                  <a:lnTo>
                    <a:pt x="8392" y="794928"/>
                  </a:lnTo>
                  <a:lnTo>
                    <a:pt x="31170" y="835690"/>
                  </a:lnTo>
                  <a:lnTo>
                    <a:pt x="64739" y="869259"/>
                  </a:lnTo>
                  <a:lnTo>
                    <a:pt x="105501" y="892037"/>
                  </a:lnTo>
                  <a:lnTo>
                    <a:pt x="149859" y="900429"/>
                  </a:lnTo>
                  <a:lnTo>
                    <a:pt x="2838450" y="900429"/>
                  </a:lnTo>
                  <a:lnTo>
                    <a:pt x="2882808" y="892037"/>
                  </a:lnTo>
                  <a:lnTo>
                    <a:pt x="2923570" y="869259"/>
                  </a:lnTo>
                  <a:lnTo>
                    <a:pt x="2957139" y="835690"/>
                  </a:lnTo>
                  <a:lnTo>
                    <a:pt x="2979917" y="794928"/>
                  </a:lnTo>
                  <a:lnTo>
                    <a:pt x="2988309" y="750569"/>
                  </a:lnTo>
                  <a:lnTo>
                    <a:pt x="2988309" y="149859"/>
                  </a:lnTo>
                  <a:lnTo>
                    <a:pt x="2979917" y="105501"/>
                  </a:lnTo>
                  <a:lnTo>
                    <a:pt x="2957139" y="64739"/>
                  </a:lnTo>
                  <a:lnTo>
                    <a:pt x="2923570" y="31170"/>
                  </a:lnTo>
                  <a:lnTo>
                    <a:pt x="2882808" y="8392"/>
                  </a:lnTo>
                  <a:lnTo>
                    <a:pt x="2838450" y="0"/>
                  </a:lnTo>
                  <a:lnTo>
                    <a:pt x="149859" y="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906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039228" y="6600968"/>
            <a:ext cx="2202628" cy="394484"/>
          </a:xfrm>
          <a:prstGeom prst="rect">
            <a:avLst/>
          </a:prstGeom>
        </p:spPr>
        <p:txBody>
          <a:bodyPr vert="horz" wrap="square" lIns="0" tIns="17289" rIns="0" bIns="0" rtlCol="0">
            <a:spAutoFit/>
          </a:bodyPr>
          <a:lstStyle/>
          <a:p>
            <a:pPr marL="17289">
              <a:spcBef>
                <a:spcPts val="136"/>
              </a:spcBef>
            </a:pPr>
            <a:r>
              <a:rPr sz="2450" b="1" spc="-14" dirty="0">
                <a:solidFill>
                  <a:srgbClr val="FFFFFF"/>
                </a:solidFill>
              </a:rPr>
              <a:t>C</a:t>
            </a:r>
            <a:r>
              <a:rPr sz="2450" b="1" spc="7" dirty="0">
                <a:solidFill>
                  <a:srgbClr val="FFFFFF"/>
                </a:solidFill>
              </a:rPr>
              <a:t>O</a:t>
            </a:r>
            <a:r>
              <a:rPr sz="2450" b="1" dirty="0">
                <a:solidFill>
                  <a:srgbClr val="FFFFFF"/>
                </a:solidFill>
              </a:rPr>
              <a:t>MP</a:t>
            </a:r>
            <a:r>
              <a:rPr sz="2450" b="1" spc="-14" dirty="0">
                <a:solidFill>
                  <a:srgbClr val="FFFFFF"/>
                </a:solidFill>
              </a:rPr>
              <a:t>R</a:t>
            </a:r>
            <a:r>
              <a:rPr sz="2450" b="1" spc="-75" dirty="0">
                <a:solidFill>
                  <a:srgbClr val="FFFFFF"/>
                </a:solidFill>
              </a:rPr>
              <a:t>A</a:t>
            </a:r>
            <a:r>
              <a:rPr sz="2450" b="1" spc="-7" dirty="0">
                <a:solidFill>
                  <a:srgbClr val="FFFFFF"/>
                </a:solidFill>
              </a:rPr>
              <a:t>DOR:</a:t>
            </a:r>
            <a:endParaRPr sz="2450"/>
          </a:p>
        </p:txBody>
      </p:sp>
      <p:sp>
        <p:nvSpPr>
          <p:cNvPr id="16" name="object 16"/>
          <p:cNvSpPr txBox="1"/>
          <p:nvPr/>
        </p:nvSpPr>
        <p:spPr>
          <a:xfrm>
            <a:off x="8604580" y="7318465"/>
            <a:ext cx="1069329" cy="394484"/>
          </a:xfrm>
          <a:prstGeom prst="rect">
            <a:avLst/>
          </a:prstGeom>
        </p:spPr>
        <p:txBody>
          <a:bodyPr vert="horz" wrap="square" lIns="0" tIns="17289" rIns="0" bIns="0" rtlCol="0">
            <a:spAutoFit/>
          </a:bodyPr>
          <a:lstStyle/>
          <a:p>
            <a:pPr marL="17289">
              <a:spcBef>
                <a:spcPts val="136"/>
              </a:spcBef>
            </a:pPr>
            <a:r>
              <a:rPr sz="2450" b="1" spc="-14" dirty="0">
                <a:solidFill>
                  <a:srgbClr val="FFFFFF"/>
                </a:solidFill>
              </a:rPr>
              <a:t>Padres</a:t>
            </a:r>
            <a:endParaRPr sz="2450"/>
          </a:p>
        </p:txBody>
      </p:sp>
      <p:grpSp>
        <p:nvGrpSpPr>
          <p:cNvPr id="17" name="object 17"/>
          <p:cNvGrpSpPr/>
          <p:nvPr/>
        </p:nvGrpSpPr>
        <p:grpSpPr>
          <a:xfrm>
            <a:off x="11467652" y="6566390"/>
            <a:ext cx="4080222" cy="1225795"/>
            <a:chOff x="6748780" y="4823459"/>
            <a:chExt cx="2997200" cy="900430"/>
          </a:xfrm>
        </p:grpSpPr>
        <p:sp>
          <p:nvSpPr>
            <p:cNvPr id="18" name="object 18"/>
            <p:cNvSpPr/>
            <p:nvPr/>
          </p:nvSpPr>
          <p:spPr>
            <a:xfrm>
              <a:off x="6748780" y="4823459"/>
              <a:ext cx="2997200" cy="900430"/>
            </a:xfrm>
            <a:custGeom>
              <a:avLst/>
              <a:gdLst/>
              <a:ahLst/>
              <a:cxnLst/>
              <a:rect l="l" t="t" r="r" b="b"/>
              <a:pathLst>
                <a:path w="2997200" h="900429">
                  <a:moveTo>
                    <a:pt x="2847340" y="0"/>
                  </a:moveTo>
                  <a:lnTo>
                    <a:pt x="151129" y="0"/>
                  </a:lnTo>
                  <a:lnTo>
                    <a:pt x="106151" y="8392"/>
                  </a:lnTo>
                  <a:lnTo>
                    <a:pt x="65013" y="31170"/>
                  </a:lnTo>
                  <a:lnTo>
                    <a:pt x="31252" y="64739"/>
                  </a:lnTo>
                  <a:lnTo>
                    <a:pt x="8402" y="105501"/>
                  </a:lnTo>
                  <a:lnTo>
                    <a:pt x="0" y="149859"/>
                  </a:lnTo>
                  <a:lnTo>
                    <a:pt x="0" y="750569"/>
                  </a:lnTo>
                  <a:lnTo>
                    <a:pt x="8402" y="794928"/>
                  </a:lnTo>
                  <a:lnTo>
                    <a:pt x="31252" y="835690"/>
                  </a:lnTo>
                  <a:lnTo>
                    <a:pt x="65013" y="869259"/>
                  </a:lnTo>
                  <a:lnTo>
                    <a:pt x="106151" y="892037"/>
                  </a:lnTo>
                  <a:lnTo>
                    <a:pt x="151129" y="900429"/>
                  </a:lnTo>
                  <a:lnTo>
                    <a:pt x="2847340" y="900429"/>
                  </a:lnTo>
                  <a:lnTo>
                    <a:pt x="2891698" y="892037"/>
                  </a:lnTo>
                  <a:lnTo>
                    <a:pt x="2932460" y="869259"/>
                  </a:lnTo>
                  <a:lnTo>
                    <a:pt x="2966029" y="835690"/>
                  </a:lnTo>
                  <a:lnTo>
                    <a:pt x="2988807" y="794928"/>
                  </a:lnTo>
                  <a:lnTo>
                    <a:pt x="2997200" y="750569"/>
                  </a:lnTo>
                  <a:lnTo>
                    <a:pt x="2997200" y="149859"/>
                  </a:lnTo>
                  <a:lnTo>
                    <a:pt x="2988807" y="105501"/>
                  </a:lnTo>
                  <a:lnTo>
                    <a:pt x="2966029" y="64739"/>
                  </a:lnTo>
                  <a:lnTo>
                    <a:pt x="2932460" y="31170"/>
                  </a:lnTo>
                  <a:lnTo>
                    <a:pt x="2891698" y="8392"/>
                  </a:lnTo>
                  <a:lnTo>
                    <a:pt x="2847340" y="0"/>
                  </a:lnTo>
                  <a:close/>
                </a:path>
              </a:pathLst>
            </a:custGeom>
            <a:solidFill>
              <a:srgbClr val="4A1E6E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 sz="1906"/>
            </a:p>
          </p:txBody>
        </p:sp>
        <p:sp>
          <p:nvSpPr>
            <p:cNvPr id="19" name="object 19"/>
            <p:cNvSpPr/>
            <p:nvPr/>
          </p:nvSpPr>
          <p:spPr>
            <a:xfrm>
              <a:off x="6748780" y="4823459"/>
              <a:ext cx="2997200" cy="900430"/>
            </a:xfrm>
            <a:custGeom>
              <a:avLst/>
              <a:gdLst/>
              <a:ahLst/>
              <a:cxnLst/>
              <a:rect l="l" t="t" r="r" b="b"/>
              <a:pathLst>
                <a:path w="2997200" h="900429">
                  <a:moveTo>
                    <a:pt x="151129" y="0"/>
                  </a:moveTo>
                  <a:lnTo>
                    <a:pt x="106151" y="8392"/>
                  </a:lnTo>
                  <a:lnTo>
                    <a:pt x="65013" y="31170"/>
                  </a:lnTo>
                  <a:lnTo>
                    <a:pt x="31252" y="64739"/>
                  </a:lnTo>
                  <a:lnTo>
                    <a:pt x="8402" y="105501"/>
                  </a:lnTo>
                  <a:lnTo>
                    <a:pt x="0" y="149859"/>
                  </a:lnTo>
                  <a:lnTo>
                    <a:pt x="0" y="750569"/>
                  </a:lnTo>
                  <a:lnTo>
                    <a:pt x="8402" y="794928"/>
                  </a:lnTo>
                  <a:lnTo>
                    <a:pt x="31252" y="835690"/>
                  </a:lnTo>
                  <a:lnTo>
                    <a:pt x="65013" y="869259"/>
                  </a:lnTo>
                  <a:lnTo>
                    <a:pt x="106151" y="892037"/>
                  </a:lnTo>
                  <a:lnTo>
                    <a:pt x="151129" y="900429"/>
                  </a:lnTo>
                  <a:lnTo>
                    <a:pt x="2847340" y="900429"/>
                  </a:lnTo>
                  <a:lnTo>
                    <a:pt x="2891698" y="892037"/>
                  </a:lnTo>
                  <a:lnTo>
                    <a:pt x="2932460" y="869259"/>
                  </a:lnTo>
                  <a:lnTo>
                    <a:pt x="2966029" y="835690"/>
                  </a:lnTo>
                  <a:lnTo>
                    <a:pt x="2988807" y="794928"/>
                  </a:lnTo>
                  <a:lnTo>
                    <a:pt x="2997200" y="750569"/>
                  </a:lnTo>
                  <a:lnTo>
                    <a:pt x="2997200" y="149859"/>
                  </a:lnTo>
                  <a:lnTo>
                    <a:pt x="2988807" y="105501"/>
                  </a:lnTo>
                  <a:lnTo>
                    <a:pt x="2966029" y="64739"/>
                  </a:lnTo>
                  <a:lnTo>
                    <a:pt x="2932460" y="31170"/>
                  </a:lnTo>
                  <a:lnTo>
                    <a:pt x="2891698" y="8392"/>
                  </a:lnTo>
                  <a:lnTo>
                    <a:pt x="2847340" y="0"/>
                  </a:lnTo>
                  <a:lnTo>
                    <a:pt x="151129" y="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906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2359769" y="6600968"/>
            <a:ext cx="2295125" cy="394484"/>
          </a:xfrm>
          <a:prstGeom prst="rect">
            <a:avLst/>
          </a:prstGeom>
        </p:spPr>
        <p:txBody>
          <a:bodyPr vert="horz" wrap="square" lIns="0" tIns="17289" rIns="0" bIns="0" rtlCol="0">
            <a:spAutoFit/>
          </a:bodyPr>
          <a:lstStyle/>
          <a:p>
            <a:pPr marL="17289">
              <a:spcBef>
                <a:spcPts val="136"/>
              </a:spcBef>
            </a:pPr>
            <a:r>
              <a:rPr sz="2450" b="1" spc="-14" dirty="0">
                <a:solidFill>
                  <a:srgbClr val="FFFFFF"/>
                </a:solidFill>
              </a:rPr>
              <a:t>C</a:t>
            </a:r>
            <a:r>
              <a:rPr sz="2450" b="1" spc="7" dirty="0">
                <a:solidFill>
                  <a:srgbClr val="FFFFFF"/>
                </a:solidFill>
              </a:rPr>
              <a:t>O</a:t>
            </a:r>
            <a:r>
              <a:rPr sz="2450" b="1" spc="-14" dirty="0">
                <a:solidFill>
                  <a:srgbClr val="FFFFFF"/>
                </a:solidFill>
              </a:rPr>
              <a:t>N</a:t>
            </a:r>
            <a:r>
              <a:rPr sz="2450" b="1" spc="-7" dirty="0">
                <a:solidFill>
                  <a:srgbClr val="FFFFFF"/>
                </a:solidFill>
              </a:rPr>
              <a:t>SUMIDOR:</a:t>
            </a:r>
            <a:endParaRPr sz="2450"/>
          </a:p>
        </p:txBody>
      </p:sp>
      <p:sp>
        <p:nvSpPr>
          <p:cNvPr id="21" name="object 21"/>
          <p:cNvSpPr txBox="1"/>
          <p:nvPr/>
        </p:nvSpPr>
        <p:spPr>
          <a:xfrm>
            <a:off x="12914747" y="7318465"/>
            <a:ext cx="1185166" cy="394484"/>
          </a:xfrm>
          <a:prstGeom prst="rect">
            <a:avLst/>
          </a:prstGeom>
        </p:spPr>
        <p:txBody>
          <a:bodyPr vert="horz" wrap="square" lIns="0" tIns="17289" rIns="0" bIns="0" rtlCol="0">
            <a:spAutoFit/>
          </a:bodyPr>
          <a:lstStyle/>
          <a:p>
            <a:pPr marL="17289">
              <a:spcBef>
                <a:spcPts val="136"/>
              </a:spcBef>
            </a:pPr>
            <a:r>
              <a:rPr sz="2450" b="1" spc="-20" dirty="0">
                <a:solidFill>
                  <a:srgbClr val="FFFFFF"/>
                </a:solidFill>
              </a:rPr>
              <a:t>Alumno</a:t>
            </a:r>
            <a:endParaRPr sz="2450"/>
          </a:p>
        </p:txBody>
      </p:sp>
      <p:grpSp>
        <p:nvGrpSpPr>
          <p:cNvPr id="22" name="object 22"/>
          <p:cNvGrpSpPr/>
          <p:nvPr/>
        </p:nvGrpSpPr>
        <p:grpSpPr>
          <a:xfrm>
            <a:off x="2721109" y="4348203"/>
            <a:ext cx="12840596" cy="797026"/>
            <a:chOff x="323850" y="3194050"/>
            <a:chExt cx="9432290" cy="585470"/>
          </a:xfrm>
        </p:grpSpPr>
        <p:sp>
          <p:nvSpPr>
            <p:cNvPr id="23" name="object 23"/>
            <p:cNvSpPr/>
            <p:nvPr/>
          </p:nvSpPr>
          <p:spPr>
            <a:xfrm>
              <a:off x="323850" y="3194050"/>
              <a:ext cx="9432290" cy="585470"/>
            </a:xfrm>
            <a:custGeom>
              <a:avLst/>
              <a:gdLst/>
              <a:ahLst/>
              <a:cxnLst/>
              <a:rect l="l" t="t" r="r" b="b"/>
              <a:pathLst>
                <a:path w="9432290" h="585470">
                  <a:moveTo>
                    <a:pt x="9334500" y="0"/>
                  </a:moveTo>
                  <a:lnTo>
                    <a:pt x="97790" y="0"/>
                  </a:lnTo>
                  <a:lnTo>
                    <a:pt x="61614" y="8314"/>
                  </a:lnTo>
                  <a:lnTo>
                    <a:pt x="30321" y="30321"/>
                  </a:lnTo>
                  <a:lnTo>
                    <a:pt x="8314" y="61614"/>
                  </a:lnTo>
                  <a:lnTo>
                    <a:pt x="0" y="97789"/>
                  </a:lnTo>
                  <a:lnTo>
                    <a:pt x="0" y="487679"/>
                  </a:lnTo>
                  <a:lnTo>
                    <a:pt x="8314" y="523855"/>
                  </a:lnTo>
                  <a:lnTo>
                    <a:pt x="30321" y="555148"/>
                  </a:lnTo>
                  <a:lnTo>
                    <a:pt x="61614" y="577155"/>
                  </a:lnTo>
                  <a:lnTo>
                    <a:pt x="97790" y="585470"/>
                  </a:lnTo>
                  <a:lnTo>
                    <a:pt x="9334500" y="585470"/>
                  </a:lnTo>
                  <a:lnTo>
                    <a:pt x="9370139" y="577155"/>
                  </a:lnTo>
                  <a:lnTo>
                    <a:pt x="9401492" y="555148"/>
                  </a:lnTo>
                  <a:lnTo>
                    <a:pt x="9423796" y="523855"/>
                  </a:lnTo>
                  <a:lnTo>
                    <a:pt x="9432290" y="487679"/>
                  </a:lnTo>
                  <a:lnTo>
                    <a:pt x="9432290" y="97789"/>
                  </a:lnTo>
                  <a:lnTo>
                    <a:pt x="9423796" y="61614"/>
                  </a:lnTo>
                  <a:lnTo>
                    <a:pt x="9401492" y="30321"/>
                  </a:lnTo>
                  <a:lnTo>
                    <a:pt x="9370139" y="8314"/>
                  </a:lnTo>
                  <a:lnTo>
                    <a:pt x="9334500" y="0"/>
                  </a:lnTo>
                  <a:close/>
                </a:path>
              </a:pathLst>
            </a:custGeom>
            <a:solidFill>
              <a:srgbClr val="FFFF00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 sz="1906"/>
            </a:p>
          </p:txBody>
        </p:sp>
        <p:sp>
          <p:nvSpPr>
            <p:cNvPr id="24" name="object 24"/>
            <p:cNvSpPr/>
            <p:nvPr/>
          </p:nvSpPr>
          <p:spPr>
            <a:xfrm>
              <a:off x="323850" y="3194050"/>
              <a:ext cx="9432290" cy="585470"/>
            </a:xfrm>
            <a:custGeom>
              <a:avLst/>
              <a:gdLst/>
              <a:ahLst/>
              <a:cxnLst/>
              <a:rect l="l" t="t" r="r" b="b"/>
              <a:pathLst>
                <a:path w="9432290" h="585470">
                  <a:moveTo>
                    <a:pt x="97790" y="0"/>
                  </a:moveTo>
                  <a:lnTo>
                    <a:pt x="61614" y="8314"/>
                  </a:lnTo>
                  <a:lnTo>
                    <a:pt x="30321" y="30321"/>
                  </a:lnTo>
                  <a:lnTo>
                    <a:pt x="8314" y="61614"/>
                  </a:lnTo>
                  <a:lnTo>
                    <a:pt x="0" y="97789"/>
                  </a:lnTo>
                  <a:lnTo>
                    <a:pt x="0" y="487679"/>
                  </a:lnTo>
                  <a:lnTo>
                    <a:pt x="8314" y="523855"/>
                  </a:lnTo>
                  <a:lnTo>
                    <a:pt x="30321" y="555148"/>
                  </a:lnTo>
                  <a:lnTo>
                    <a:pt x="61614" y="577155"/>
                  </a:lnTo>
                  <a:lnTo>
                    <a:pt x="97790" y="585470"/>
                  </a:lnTo>
                  <a:lnTo>
                    <a:pt x="9334500" y="585470"/>
                  </a:lnTo>
                  <a:lnTo>
                    <a:pt x="9370139" y="577155"/>
                  </a:lnTo>
                  <a:lnTo>
                    <a:pt x="9401492" y="555148"/>
                  </a:lnTo>
                  <a:lnTo>
                    <a:pt x="9423796" y="523855"/>
                  </a:lnTo>
                  <a:lnTo>
                    <a:pt x="9432290" y="487679"/>
                  </a:lnTo>
                  <a:lnTo>
                    <a:pt x="9432290" y="97789"/>
                  </a:lnTo>
                  <a:lnTo>
                    <a:pt x="9423796" y="61614"/>
                  </a:lnTo>
                  <a:lnTo>
                    <a:pt x="9401492" y="30321"/>
                  </a:lnTo>
                  <a:lnTo>
                    <a:pt x="9370139" y="8314"/>
                  </a:lnTo>
                  <a:lnTo>
                    <a:pt x="9334500" y="0"/>
                  </a:lnTo>
                  <a:lnTo>
                    <a:pt x="97790" y="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906"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719033" y="4441563"/>
            <a:ext cx="6837829" cy="562094"/>
          </a:xfrm>
          <a:prstGeom prst="rect">
            <a:avLst/>
          </a:prstGeom>
        </p:spPr>
        <p:txBody>
          <a:bodyPr vert="horz" wrap="square" lIns="0" tIns="17289" rIns="0" bIns="0" rtlCol="0">
            <a:spAutoFit/>
          </a:bodyPr>
          <a:lstStyle/>
          <a:p>
            <a:pPr marL="17289">
              <a:spcBef>
                <a:spcPts val="136"/>
              </a:spcBef>
            </a:pPr>
            <a:r>
              <a:rPr sz="3539" b="1" spc="-7" dirty="0"/>
              <a:t>Ejemplo </a:t>
            </a:r>
            <a:r>
              <a:rPr sz="3539" b="1" dirty="0"/>
              <a:t>con </a:t>
            </a:r>
            <a:r>
              <a:rPr sz="3539" b="1" spc="-7" dirty="0"/>
              <a:t>los</a:t>
            </a:r>
            <a:r>
              <a:rPr sz="3539" b="1" spc="7" dirty="0"/>
              <a:t> </a:t>
            </a:r>
            <a:r>
              <a:rPr sz="3539" b="1" spc="-7" dirty="0"/>
              <a:t>libros</a:t>
            </a:r>
            <a:r>
              <a:rPr sz="3539" b="1" spc="7" dirty="0"/>
              <a:t> </a:t>
            </a:r>
            <a:r>
              <a:rPr sz="3539" b="1" dirty="0"/>
              <a:t>de</a:t>
            </a:r>
            <a:r>
              <a:rPr sz="3539" b="1" spc="14" dirty="0"/>
              <a:t> </a:t>
            </a:r>
            <a:r>
              <a:rPr sz="3539" b="1" spc="-7" dirty="0"/>
              <a:t>texto:</a:t>
            </a:r>
            <a:endParaRPr sz="3539"/>
          </a:p>
        </p:txBody>
      </p:sp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xfrm>
            <a:off x="7466960" y="452385"/>
            <a:ext cx="3670471" cy="952073"/>
          </a:xfrm>
          <a:prstGeom prst="rect">
            <a:avLst/>
          </a:prstGeom>
        </p:spPr>
        <p:txBody>
          <a:bodyPr spcFirstLastPara="1" vert="horz" wrap="square" lIns="0" tIns="17289" rIns="0" bIns="0" rtlCol="0" anchor="ctr" anchorCtr="0">
            <a:spAutoFit/>
          </a:bodyPr>
          <a:lstStyle/>
          <a:p>
            <a:pPr marL="17289">
              <a:spcBef>
                <a:spcPts val="136"/>
              </a:spcBef>
            </a:pPr>
            <a:r>
              <a:rPr sz="5990" dirty="0">
                <a:solidFill>
                  <a:srgbClr val="FFFFFF"/>
                </a:solidFill>
              </a:rPr>
              <a:t>E</a:t>
            </a:r>
            <a:r>
              <a:rPr sz="5990" spc="-7" dirty="0">
                <a:solidFill>
                  <a:srgbClr val="FFFFFF"/>
                </a:solidFill>
              </a:rPr>
              <a:t>J</a:t>
            </a:r>
            <a:r>
              <a:rPr sz="5990" dirty="0">
                <a:solidFill>
                  <a:srgbClr val="FFFFFF"/>
                </a:solidFill>
              </a:rPr>
              <a:t>EMP</a:t>
            </a:r>
            <a:r>
              <a:rPr sz="5990" spc="-7" dirty="0">
                <a:solidFill>
                  <a:srgbClr val="FFFFFF"/>
                </a:solidFill>
              </a:rPr>
              <a:t>LO</a:t>
            </a:r>
            <a:endParaRPr sz="5990"/>
          </a:p>
        </p:txBody>
      </p:sp>
      <p:sp>
        <p:nvSpPr>
          <p:cNvPr id="35" name="object 35"/>
          <p:cNvSpPr txBox="1"/>
          <p:nvPr/>
        </p:nvSpPr>
        <p:spPr>
          <a:xfrm>
            <a:off x="15193447" y="9981404"/>
            <a:ext cx="121024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83"/>
              </a:lnSpc>
            </a:pPr>
            <a:r>
              <a:rPr sz="1906" dirty="0">
                <a:latin typeface="Times New Roman"/>
                <a:cs typeface="Times New Roman"/>
              </a:rPr>
              <a:t>2</a:t>
            </a:r>
            <a:endParaRPr sz="1906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>
    <p:dissolv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F3B49B6E-A41A-74DF-119F-9911CAA70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2471" y="498303"/>
            <a:ext cx="1127858" cy="103031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936C075-8A7F-609F-210F-0F0DC8CC3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855" y="8971431"/>
            <a:ext cx="4529721" cy="108518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E6C05F2-F65A-DE63-98C7-0FEBB2AED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19426" y="8971431"/>
            <a:ext cx="4499238" cy="1085182"/>
          </a:xfrm>
          <a:prstGeom prst="rect">
            <a:avLst/>
          </a:prstGeom>
        </p:spPr>
      </p:pic>
      <p:pic>
        <p:nvPicPr>
          <p:cNvPr id="4098" name="Picture 2" descr="Segmentación de Mercados">
            <a:extLst>
              <a:ext uri="{FF2B5EF4-FFF2-40B4-BE49-F238E27FC236}">
                <a16:creationId xmlns:a16="http://schemas.microsoft.com/office/drawing/2014/main" id="{786F8755-9940-9EA3-A655-79D634F4C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2320" y="1237449"/>
            <a:ext cx="11618264" cy="8363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EBCB3BB3-38C1-694A-C0A4-69ECBAC9BC33}"/>
              </a:ext>
            </a:extLst>
          </p:cNvPr>
          <p:cNvSpPr txBox="1"/>
          <p:nvPr/>
        </p:nvSpPr>
        <p:spPr>
          <a:xfrm>
            <a:off x="338855" y="498303"/>
            <a:ext cx="9515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latin typeface="Poppins" panose="00000500000000000000" pitchFamily="2" charset="0"/>
                <a:cs typeface="Poppins" panose="00000500000000000000" pitchFamily="2" charset="0"/>
              </a:rPr>
              <a:t>SEGMENTACIÓN DE MERCADOS  versus…….</a:t>
            </a:r>
          </a:p>
        </p:txBody>
      </p:sp>
    </p:spTree>
    <p:extLst>
      <p:ext uri="{BB962C8B-B14F-4D97-AF65-F5344CB8AC3E}">
        <p14:creationId xmlns:p14="http://schemas.microsoft.com/office/powerpoint/2010/main" val="1076687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F3B49B6E-A41A-74DF-119F-9911CAA70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2471" y="498303"/>
            <a:ext cx="1127858" cy="103031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936C075-8A7F-609F-210F-0F0DC8CC3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855" y="8971431"/>
            <a:ext cx="4529721" cy="108518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E6C05F2-F65A-DE63-98C7-0FEBB2AED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19426" y="8971431"/>
            <a:ext cx="4499238" cy="1085182"/>
          </a:xfrm>
          <a:prstGeom prst="rect">
            <a:avLst/>
          </a:prstGeom>
        </p:spPr>
      </p:pic>
      <p:pic>
        <p:nvPicPr>
          <p:cNvPr id="5122" name="Picture 2" descr="Factores en la Segmentación de Mercados">
            <a:extLst>
              <a:ext uri="{FF2B5EF4-FFF2-40B4-BE49-F238E27FC236}">
                <a16:creationId xmlns:a16="http://schemas.microsoft.com/office/drawing/2014/main" id="{C88089B2-E219-2567-7653-C9C0C7E4E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8443" y="790180"/>
            <a:ext cx="11851989" cy="8067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848FDF85-181D-15E3-FFB4-7D9AD9E4BAA1}"/>
              </a:ext>
            </a:extLst>
          </p:cNvPr>
          <p:cNvSpPr txBox="1"/>
          <p:nvPr/>
        </p:nvSpPr>
        <p:spPr>
          <a:xfrm>
            <a:off x="338855" y="498303"/>
            <a:ext cx="9515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latin typeface="Poppins" panose="00000500000000000000" pitchFamily="2" charset="0"/>
                <a:cs typeface="Poppins" panose="00000500000000000000" pitchFamily="2" charset="0"/>
              </a:rPr>
              <a:t>SEGMENTACIÓN DE CLIENTES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48EA291-7683-2BF9-8E25-A36A40AE8324}"/>
              </a:ext>
            </a:extLst>
          </p:cNvPr>
          <p:cNvSpPr txBox="1"/>
          <p:nvPr/>
        </p:nvSpPr>
        <p:spPr>
          <a:xfrm>
            <a:off x="5775960" y="9634808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https://www.iedge.eu/eduardo-liberos-segmentacion-de-mercados-clientes</a:t>
            </a:r>
          </a:p>
        </p:txBody>
      </p:sp>
    </p:spTree>
    <p:extLst>
      <p:ext uri="{BB962C8B-B14F-4D97-AF65-F5344CB8AC3E}">
        <p14:creationId xmlns:p14="http://schemas.microsoft.com/office/powerpoint/2010/main" val="856885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69241" y="1407331"/>
            <a:ext cx="12840596" cy="1092670"/>
            <a:chOff x="285750" y="1033780"/>
            <a:chExt cx="9432290" cy="802640"/>
          </a:xfrm>
        </p:grpSpPr>
        <p:sp>
          <p:nvSpPr>
            <p:cNvPr id="3" name="object 3"/>
            <p:cNvSpPr/>
            <p:nvPr/>
          </p:nvSpPr>
          <p:spPr>
            <a:xfrm>
              <a:off x="285750" y="1033780"/>
              <a:ext cx="9432290" cy="802640"/>
            </a:xfrm>
            <a:custGeom>
              <a:avLst/>
              <a:gdLst/>
              <a:ahLst/>
              <a:cxnLst/>
              <a:rect l="l" t="t" r="r" b="b"/>
              <a:pathLst>
                <a:path w="9432290" h="802639">
                  <a:moveTo>
                    <a:pt x="9297670" y="0"/>
                  </a:moveTo>
                  <a:lnTo>
                    <a:pt x="133350" y="0"/>
                  </a:lnTo>
                  <a:lnTo>
                    <a:pt x="93634" y="7538"/>
                  </a:lnTo>
                  <a:lnTo>
                    <a:pt x="57332" y="28000"/>
                  </a:lnTo>
                  <a:lnTo>
                    <a:pt x="27553" y="58155"/>
                  </a:lnTo>
                  <a:lnTo>
                    <a:pt x="7406" y="94772"/>
                  </a:lnTo>
                  <a:lnTo>
                    <a:pt x="0" y="134620"/>
                  </a:lnTo>
                  <a:lnTo>
                    <a:pt x="0" y="668020"/>
                  </a:lnTo>
                  <a:lnTo>
                    <a:pt x="7406" y="707867"/>
                  </a:lnTo>
                  <a:lnTo>
                    <a:pt x="27553" y="744484"/>
                  </a:lnTo>
                  <a:lnTo>
                    <a:pt x="57332" y="774639"/>
                  </a:lnTo>
                  <a:lnTo>
                    <a:pt x="93634" y="795101"/>
                  </a:lnTo>
                  <a:lnTo>
                    <a:pt x="133350" y="802640"/>
                  </a:lnTo>
                  <a:lnTo>
                    <a:pt x="9297670" y="802640"/>
                  </a:lnTo>
                  <a:lnTo>
                    <a:pt x="9337517" y="795101"/>
                  </a:lnTo>
                  <a:lnTo>
                    <a:pt x="9374134" y="774639"/>
                  </a:lnTo>
                  <a:lnTo>
                    <a:pt x="9404289" y="744484"/>
                  </a:lnTo>
                  <a:lnTo>
                    <a:pt x="9424751" y="707867"/>
                  </a:lnTo>
                  <a:lnTo>
                    <a:pt x="9432290" y="668020"/>
                  </a:lnTo>
                  <a:lnTo>
                    <a:pt x="9432290" y="134620"/>
                  </a:lnTo>
                  <a:lnTo>
                    <a:pt x="9424751" y="94772"/>
                  </a:lnTo>
                  <a:lnTo>
                    <a:pt x="9404289" y="58155"/>
                  </a:lnTo>
                  <a:lnTo>
                    <a:pt x="9374134" y="28000"/>
                  </a:lnTo>
                  <a:lnTo>
                    <a:pt x="9337517" y="7538"/>
                  </a:lnTo>
                  <a:lnTo>
                    <a:pt x="9297670" y="0"/>
                  </a:lnTo>
                  <a:close/>
                </a:path>
              </a:pathLst>
            </a:custGeom>
            <a:solidFill>
              <a:srgbClr val="0000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 sz="1906"/>
            </a:p>
          </p:txBody>
        </p:sp>
        <p:sp>
          <p:nvSpPr>
            <p:cNvPr id="4" name="object 4"/>
            <p:cNvSpPr/>
            <p:nvPr/>
          </p:nvSpPr>
          <p:spPr>
            <a:xfrm>
              <a:off x="285750" y="1033780"/>
              <a:ext cx="9432290" cy="802640"/>
            </a:xfrm>
            <a:custGeom>
              <a:avLst/>
              <a:gdLst/>
              <a:ahLst/>
              <a:cxnLst/>
              <a:rect l="l" t="t" r="r" b="b"/>
              <a:pathLst>
                <a:path w="9432290" h="802639">
                  <a:moveTo>
                    <a:pt x="133350" y="0"/>
                  </a:moveTo>
                  <a:lnTo>
                    <a:pt x="93634" y="7538"/>
                  </a:lnTo>
                  <a:lnTo>
                    <a:pt x="57332" y="28000"/>
                  </a:lnTo>
                  <a:lnTo>
                    <a:pt x="27553" y="58155"/>
                  </a:lnTo>
                  <a:lnTo>
                    <a:pt x="7406" y="94772"/>
                  </a:lnTo>
                  <a:lnTo>
                    <a:pt x="0" y="134620"/>
                  </a:lnTo>
                  <a:lnTo>
                    <a:pt x="0" y="668020"/>
                  </a:lnTo>
                  <a:lnTo>
                    <a:pt x="7406" y="707867"/>
                  </a:lnTo>
                  <a:lnTo>
                    <a:pt x="27553" y="744484"/>
                  </a:lnTo>
                  <a:lnTo>
                    <a:pt x="57332" y="774639"/>
                  </a:lnTo>
                  <a:lnTo>
                    <a:pt x="93634" y="795101"/>
                  </a:lnTo>
                  <a:lnTo>
                    <a:pt x="133350" y="802640"/>
                  </a:lnTo>
                  <a:lnTo>
                    <a:pt x="9297670" y="802640"/>
                  </a:lnTo>
                  <a:lnTo>
                    <a:pt x="9337517" y="795101"/>
                  </a:lnTo>
                  <a:lnTo>
                    <a:pt x="9374134" y="774639"/>
                  </a:lnTo>
                  <a:lnTo>
                    <a:pt x="9404289" y="744484"/>
                  </a:lnTo>
                  <a:lnTo>
                    <a:pt x="9424751" y="707867"/>
                  </a:lnTo>
                  <a:lnTo>
                    <a:pt x="9432290" y="668020"/>
                  </a:lnTo>
                  <a:lnTo>
                    <a:pt x="9432290" y="134620"/>
                  </a:lnTo>
                  <a:lnTo>
                    <a:pt x="9424751" y="94772"/>
                  </a:lnTo>
                  <a:lnTo>
                    <a:pt x="9404289" y="58155"/>
                  </a:lnTo>
                  <a:lnTo>
                    <a:pt x="9374134" y="28000"/>
                  </a:lnTo>
                  <a:lnTo>
                    <a:pt x="9337517" y="7538"/>
                  </a:lnTo>
                  <a:lnTo>
                    <a:pt x="9297670" y="0"/>
                  </a:lnTo>
                  <a:lnTo>
                    <a:pt x="133350" y="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906"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2586254" y="2614152"/>
            <a:ext cx="4118258" cy="1225795"/>
            <a:chOff x="287020" y="1943100"/>
            <a:chExt cx="3025140" cy="900430"/>
          </a:xfrm>
        </p:grpSpPr>
        <p:sp>
          <p:nvSpPr>
            <p:cNvPr id="6" name="object 6"/>
            <p:cNvSpPr/>
            <p:nvPr/>
          </p:nvSpPr>
          <p:spPr>
            <a:xfrm>
              <a:off x="287020" y="1943100"/>
              <a:ext cx="3025140" cy="900430"/>
            </a:xfrm>
            <a:custGeom>
              <a:avLst/>
              <a:gdLst/>
              <a:ahLst/>
              <a:cxnLst/>
              <a:rect l="l" t="t" r="r" b="b"/>
              <a:pathLst>
                <a:path w="3025140" h="900430">
                  <a:moveTo>
                    <a:pt x="2874010" y="0"/>
                  </a:moveTo>
                  <a:lnTo>
                    <a:pt x="149859" y="0"/>
                  </a:lnTo>
                  <a:lnTo>
                    <a:pt x="105501" y="8392"/>
                  </a:lnTo>
                  <a:lnTo>
                    <a:pt x="64739" y="31170"/>
                  </a:lnTo>
                  <a:lnTo>
                    <a:pt x="31170" y="64739"/>
                  </a:lnTo>
                  <a:lnTo>
                    <a:pt x="8392" y="105501"/>
                  </a:lnTo>
                  <a:lnTo>
                    <a:pt x="0" y="149860"/>
                  </a:lnTo>
                  <a:lnTo>
                    <a:pt x="0" y="750570"/>
                  </a:lnTo>
                  <a:lnTo>
                    <a:pt x="8392" y="794928"/>
                  </a:lnTo>
                  <a:lnTo>
                    <a:pt x="31170" y="835690"/>
                  </a:lnTo>
                  <a:lnTo>
                    <a:pt x="64739" y="869259"/>
                  </a:lnTo>
                  <a:lnTo>
                    <a:pt x="105501" y="892037"/>
                  </a:lnTo>
                  <a:lnTo>
                    <a:pt x="149859" y="900429"/>
                  </a:lnTo>
                  <a:lnTo>
                    <a:pt x="2874010" y="900429"/>
                  </a:lnTo>
                  <a:lnTo>
                    <a:pt x="2918500" y="892037"/>
                  </a:lnTo>
                  <a:lnTo>
                    <a:pt x="2959577" y="869259"/>
                  </a:lnTo>
                  <a:lnTo>
                    <a:pt x="2993522" y="835690"/>
                  </a:lnTo>
                  <a:lnTo>
                    <a:pt x="3016615" y="794928"/>
                  </a:lnTo>
                  <a:lnTo>
                    <a:pt x="3025140" y="750570"/>
                  </a:lnTo>
                  <a:lnTo>
                    <a:pt x="3025140" y="149860"/>
                  </a:lnTo>
                  <a:lnTo>
                    <a:pt x="3016615" y="105501"/>
                  </a:lnTo>
                  <a:lnTo>
                    <a:pt x="2993522" y="64739"/>
                  </a:lnTo>
                  <a:lnTo>
                    <a:pt x="2959577" y="31170"/>
                  </a:lnTo>
                  <a:lnTo>
                    <a:pt x="2918500" y="8392"/>
                  </a:lnTo>
                  <a:lnTo>
                    <a:pt x="2874010" y="0"/>
                  </a:lnTo>
                  <a:close/>
                </a:path>
              </a:pathLst>
            </a:custGeom>
            <a:solidFill>
              <a:srgbClr val="007F00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 sz="1906"/>
            </a:p>
          </p:txBody>
        </p:sp>
        <p:sp>
          <p:nvSpPr>
            <p:cNvPr id="7" name="object 7"/>
            <p:cNvSpPr/>
            <p:nvPr/>
          </p:nvSpPr>
          <p:spPr>
            <a:xfrm>
              <a:off x="287020" y="1943100"/>
              <a:ext cx="3025140" cy="900430"/>
            </a:xfrm>
            <a:custGeom>
              <a:avLst/>
              <a:gdLst/>
              <a:ahLst/>
              <a:cxnLst/>
              <a:rect l="l" t="t" r="r" b="b"/>
              <a:pathLst>
                <a:path w="3025140" h="900430">
                  <a:moveTo>
                    <a:pt x="149859" y="0"/>
                  </a:moveTo>
                  <a:lnTo>
                    <a:pt x="105501" y="8392"/>
                  </a:lnTo>
                  <a:lnTo>
                    <a:pt x="64739" y="31170"/>
                  </a:lnTo>
                  <a:lnTo>
                    <a:pt x="31170" y="64739"/>
                  </a:lnTo>
                  <a:lnTo>
                    <a:pt x="8392" y="105501"/>
                  </a:lnTo>
                  <a:lnTo>
                    <a:pt x="0" y="149860"/>
                  </a:lnTo>
                  <a:lnTo>
                    <a:pt x="0" y="750570"/>
                  </a:lnTo>
                  <a:lnTo>
                    <a:pt x="8392" y="794928"/>
                  </a:lnTo>
                  <a:lnTo>
                    <a:pt x="31170" y="835690"/>
                  </a:lnTo>
                  <a:lnTo>
                    <a:pt x="64739" y="869259"/>
                  </a:lnTo>
                  <a:lnTo>
                    <a:pt x="105501" y="892037"/>
                  </a:lnTo>
                  <a:lnTo>
                    <a:pt x="149859" y="900429"/>
                  </a:lnTo>
                  <a:lnTo>
                    <a:pt x="2874010" y="900429"/>
                  </a:lnTo>
                  <a:lnTo>
                    <a:pt x="2918500" y="892037"/>
                  </a:lnTo>
                  <a:lnTo>
                    <a:pt x="2959577" y="869259"/>
                  </a:lnTo>
                  <a:lnTo>
                    <a:pt x="2993522" y="835690"/>
                  </a:lnTo>
                  <a:lnTo>
                    <a:pt x="3016615" y="794928"/>
                  </a:lnTo>
                  <a:lnTo>
                    <a:pt x="3025140" y="750570"/>
                  </a:lnTo>
                  <a:lnTo>
                    <a:pt x="3025140" y="149860"/>
                  </a:lnTo>
                  <a:lnTo>
                    <a:pt x="3016615" y="105501"/>
                  </a:lnTo>
                  <a:lnTo>
                    <a:pt x="2993522" y="64739"/>
                  </a:lnTo>
                  <a:lnTo>
                    <a:pt x="2959577" y="31170"/>
                  </a:lnTo>
                  <a:lnTo>
                    <a:pt x="2918500" y="8392"/>
                  </a:lnTo>
                  <a:lnTo>
                    <a:pt x="2874010" y="0"/>
                  </a:lnTo>
                  <a:lnTo>
                    <a:pt x="149859" y="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906"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7105618" y="2645229"/>
            <a:ext cx="4069848" cy="1225795"/>
            <a:chOff x="3544570" y="1943100"/>
            <a:chExt cx="2989580" cy="900430"/>
          </a:xfrm>
        </p:grpSpPr>
        <p:sp>
          <p:nvSpPr>
            <p:cNvPr id="9" name="object 9"/>
            <p:cNvSpPr/>
            <p:nvPr/>
          </p:nvSpPr>
          <p:spPr>
            <a:xfrm>
              <a:off x="3544570" y="1943100"/>
              <a:ext cx="2989580" cy="900430"/>
            </a:xfrm>
            <a:custGeom>
              <a:avLst/>
              <a:gdLst/>
              <a:ahLst/>
              <a:cxnLst/>
              <a:rect l="l" t="t" r="r" b="b"/>
              <a:pathLst>
                <a:path w="2989579" h="900430">
                  <a:moveTo>
                    <a:pt x="2838450" y="0"/>
                  </a:moveTo>
                  <a:lnTo>
                    <a:pt x="149859" y="0"/>
                  </a:lnTo>
                  <a:lnTo>
                    <a:pt x="105501" y="8392"/>
                  </a:lnTo>
                  <a:lnTo>
                    <a:pt x="64739" y="31170"/>
                  </a:lnTo>
                  <a:lnTo>
                    <a:pt x="31170" y="64739"/>
                  </a:lnTo>
                  <a:lnTo>
                    <a:pt x="8392" y="105501"/>
                  </a:lnTo>
                  <a:lnTo>
                    <a:pt x="0" y="149860"/>
                  </a:lnTo>
                  <a:lnTo>
                    <a:pt x="0" y="750570"/>
                  </a:lnTo>
                  <a:lnTo>
                    <a:pt x="8392" y="794928"/>
                  </a:lnTo>
                  <a:lnTo>
                    <a:pt x="31170" y="835690"/>
                  </a:lnTo>
                  <a:lnTo>
                    <a:pt x="64739" y="869259"/>
                  </a:lnTo>
                  <a:lnTo>
                    <a:pt x="105501" y="892037"/>
                  </a:lnTo>
                  <a:lnTo>
                    <a:pt x="149859" y="900429"/>
                  </a:lnTo>
                  <a:lnTo>
                    <a:pt x="2838450" y="900429"/>
                  </a:lnTo>
                  <a:lnTo>
                    <a:pt x="2882940" y="892037"/>
                  </a:lnTo>
                  <a:lnTo>
                    <a:pt x="2924017" y="869259"/>
                  </a:lnTo>
                  <a:lnTo>
                    <a:pt x="2957962" y="835690"/>
                  </a:lnTo>
                  <a:lnTo>
                    <a:pt x="2981055" y="794928"/>
                  </a:lnTo>
                  <a:lnTo>
                    <a:pt x="2989579" y="750570"/>
                  </a:lnTo>
                  <a:lnTo>
                    <a:pt x="2989579" y="149860"/>
                  </a:lnTo>
                  <a:lnTo>
                    <a:pt x="2981055" y="105501"/>
                  </a:lnTo>
                  <a:lnTo>
                    <a:pt x="2957962" y="64739"/>
                  </a:lnTo>
                  <a:lnTo>
                    <a:pt x="2924017" y="31170"/>
                  </a:lnTo>
                  <a:lnTo>
                    <a:pt x="2882940" y="8392"/>
                  </a:lnTo>
                  <a:lnTo>
                    <a:pt x="2838450" y="0"/>
                  </a:lnTo>
                  <a:close/>
                </a:path>
              </a:pathLst>
            </a:custGeom>
            <a:solidFill>
              <a:srgbClr val="7F0000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 sz="1906"/>
            </a:p>
          </p:txBody>
        </p:sp>
        <p:sp>
          <p:nvSpPr>
            <p:cNvPr id="10" name="object 10"/>
            <p:cNvSpPr/>
            <p:nvPr/>
          </p:nvSpPr>
          <p:spPr>
            <a:xfrm>
              <a:off x="3544570" y="1943100"/>
              <a:ext cx="2989580" cy="900430"/>
            </a:xfrm>
            <a:custGeom>
              <a:avLst/>
              <a:gdLst/>
              <a:ahLst/>
              <a:cxnLst/>
              <a:rect l="l" t="t" r="r" b="b"/>
              <a:pathLst>
                <a:path w="2989579" h="900430">
                  <a:moveTo>
                    <a:pt x="149859" y="0"/>
                  </a:moveTo>
                  <a:lnTo>
                    <a:pt x="105501" y="8392"/>
                  </a:lnTo>
                  <a:lnTo>
                    <a:pt x="64739" y="31170"/>
                  </a:lnTo>
                  <a:lnTo>
                    <a:pt x="31170" y="64739"/>
                  </a:lnTo>
                  <a:lnTo>
                    <a:pt x="8392" y="105501"/>
                  </a:lnTo>
                  <a:lnTo>
                    <a:pt x="0" y="149860"/>
                  </a:lnTo>
                  <a:lnTo>
                    <a:pt x="0" y="750570"/>
                  </a:lnTo>
                  <a:lnTo>
                    <a:pt x="8392" y="794928"/>
                  </a:lnTo>
                  <a:lnTo>
                    <a:pt x="31170" y="835690"/>
                  </a:lnTo>
                  <a:lnTo>
                    <a:pt x="64739" y="869259"/>
                  </a:lnTo>
                  <a:lnTo>
                    <a:pt x="105501" y="892037"/>
                  </a:lnTo>
                  <a:lnTo>
                    <a:pt x="149859" y="900429"/>
                  </a:lnTo>
                  <a:lnTo>
                    <a:pt x="2838450" y="900429"/>
                  </a:lnTo>
                  <a:lnTo>
                    <a:pt x="2882940" y="892037"/>
                  </a:lnTo>
                  <a:lnTo>
                    <a:pt x="2924017" y="869259"/>
                  </a:lnTo>
                  <a:lnTo>
                    <a:pt x="2957962" y="835690"/>
                  </a:lnTo>
                  <a:lnTo>
                    <a:pt x="2981055" y="794928"/>
                  </a:lnTo>
                  <a:lnTo>
                    <a:pt x="2989579" y="750570"/>
                  </a:lnTo>
                  <a:lnTo>
                    <a:pt x="2989579" y="149860"/>
                  </a:lnTo>
                  <a:lnTo>
                    <a:pt x="2981055" y="105501"/>
                  </a:lnTo>
                  <a:lnTo>
                    <a:pt x="2957962" y="64739"/>
                  </a:lnTo>
                  <a:lnTo>
                    <a:pt x="2924017" y="31170"/>
                  </a:lnTo>
                  <a:lnTo>
                    <a:pt x="2882940" y="8392"/>
                  </a:lnTo>
                  <a:lnTo>
                    <a:pt x="2838450" y="0"/>
                  </a:lnTo>
                  <a:lnTo>
                    <a:pt x="149859" y="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906"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1469381" y="2645229"/>
            <a:ext cx="4080222" cy="1225795"/>
            <a:chOff x="6750050" y="1943100"/>
            <a:chExt cx="2997200" cy="900430"/>
          </a:xfrm>
        </p:grpSpPr>
        <p:sp>
          <p:nvSpPr>
            <p:cNvPr id="12" name="object 12"/>
            <p:cNvSpPr/>
            <p:nvPr/>
          </p:nvSpPr>
          <p:spPr>
            <a:xfrm>
              <a:off x="6750050" y="1943100"/>
              <a:ext cx="2997200" cy="900430"/>
            </a:xfrm>
            <a:custGeom>
              <a:avLst/>
              <a:gdLst/>
              <a:ahLst/>
              <a:cxnLst/>
              <a:rect l="l" t="t" r="r" b="b"/>
              <a:pathLst>
                <a:path w="2997200" h="900430">
                  <a:moveTo>
                    <a:pt x="2846070" y="0"/>
                  </a:moveTo>
                  <a:lnTo>
                    <a:pt x="149859" y="0"/>
                  </a:lnTo>
                  <a:lnTo>
                    <a:pt x="105501" y="8392"/>
                  </a:lnTo>
                  <a:lnTo>
                    <a:pt x="64739" y="31170"/>
                  </a:lnTo>
                  <a:lnTo>
                    <a:pt x="31170" y="64739"/>
                  </a:lnTo>
                  <a:lnTo>
                    <a:pt x="8392" y="105501"/>
                  </a:lnTo>
                  <a:lnTo>
                    <a:pt x="0" y="149860"/>
                  </a:lnTo>
                  <a:lnTo>
                    <a:pt x="0" y="750570"/>
                  </a:lnTo>
                  <a:lnTo>
                    <a:pt x="8392" y="794928"/>
                  </a:lnTo>
                  <a:lnTo>
                    <a:pt x="31170" y="835690"/>
                  </a:lnTo>
                  <a:lnTo>
                    <a:pt x="64739" y="869259"/>
                  </a:lnTo>
                  <a:lnTo>
                    <a:pt x="105501" y="892037"/>
                  </a:lnTo>
                  <a:lnTo>
                    <a:pt x="149859" y="900429"/>
                  </a:lnTo>
                  <a:lnTo>
                    <a:pt x="2846070" y="900429"/>
                  </a:lnTo>
                  <a:lnTo>
                    <a:pt x="2890560" y="892037"/>
                  </a:lnTo>
                  <a:lnTo>
                    <a:pt x="2931637" y="869259"/>
                  </a:lnTo>
                  <a:lnTo>
                    <a:pt x="2965582" y="835690"/>
                  </a:lnTo>
                  <a:lnTo>
                    <a:pt x="2988675" y="794928"/>
                  </a:lnTo>
                  <a:lnTo>
                    <a:pt x="2997200" y="750570"/>
                  </a:lnTo>
                  <a:lnTo>
                    <a:pt x="2997200" y="149860"/>
                  </a:lnTo>
                  <a:lnTo>
                    <a:pt x="2988675" y="105501"/>
                  </a:lnTo>
                  <a:lnTo>
                    <a:pt x="2965582" y="64739"/>
                  </a:lnTo>
                  <a:lnTo>
                    <a:pt x="2931637" y="31170"/>
                  </a:lnTo>
                  <a:lnTo>
                    <a:pt x="2890560" y="8392"/>
                  </a:lnTo>
                  <a:lnTo>
                    <a:pt x="2846070" y="0"/>
                  </a:lnTo>
                  <a:close/>
                </a:path>
              </a:pathLst>
            </a:custGeom>
            <a:solidFill>
              <a:srgbClr val="4A1E6E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 sz="1906"/>
            </a:p>
          </p:txBody>
        </p:sp>
        <p:sp>
          <p:nvSpPr>
            <p:cNvPr id="13" name="object 13"/>
            <p:cNvSpPr/>
            <p:nvPr/>
          </p:nvSpPr>
          <p:spPr>
            <a:xfrm>
              <a:off x="6750050" y="1943100"/>
              <a:ext cx="2997200" cy="900430"/>
            </a:xfrm>
            <a:custGeom>
              <a:avLst/>
              <a:gdLst/>
              <a:ahLst/>
              <a:cxnLst/>
              <a:rect l="l" t="t" r="r" b="b"/>
              <a:pathLst>
                <a:path w="2997200" h="900430">
                  <a:moveTo>
                    <a:pt x="149859" y="0"/>
                  </a:moveTo>
                  <a:lnTo>
                    <a:pt x="105501" y="8392"/>
                  </a:lnTo>
                  <a:lnTo>
                    <a:pt x="64739" y="31170"/>
                  </a:lnTo>
                  <a:lnTo>
                    <a:pt x="31170" y="64739"/>
                  </a:lnTo>
                  <a:lnTo>
                    <a:pt x="8392" y="105501"/>
                  </a:lnTo>
                  <a:lnTo>
                    <a:pt x="0" y="149860"/>
                  </a:lnTo>
                  <a:lnTo>
                    <a:pt x="0" y="750570"/>
                  </a:lnTo>
                  <a:lnTo>
                    <a:pt x="8392" y="794928"/>
                  </a:lnTo>
                  <a:lnTo>
                    <a:pt x="31170" y="835690"/>
                  </a:lnTo>
                  <a:lnTo>
                    <a:pt x="64739" y="869259"/>
                  </a:lnTo>
                  <a:lnTo>
                    <a:pt x="105501" y="892037"/>
                  </a:lnTo>
                  <a:lnTo>
                    <a:pt x="149859" y="900429"/>
                  </a:lnTo>
                  <a:lnTo>
                    <a:pt x="2846070" y="900429"/>
                  </a:lnTo>
                  <a:lnTo>
                    <a:pt x="2890560" y="892037"/>
                  </a:lnTo>
                  <a:lnTo>
                    <a:pt x="2931637" y="869259"/>
                  </a:lnTo>
                  <a:lnTo>
                    <a:pt x="2965582" y="835690"/>
                  </a:lnTo>
                  <a:lnTo>
                    <a:pt x="2988675" y="794928"/>
                  </a:lnTo>
                  <a:lnTo>
                    <a:pt x="2997200" y="750570"/>
                  </a:lnTo>
                  <a:lnTo>
                    <a:pt x="2997200" y="149860"/>
                  </a:lnTo>
                  <a:lnTo>
                    <a:pt x="2988675" y="105501"/>
                  </a:lnTo>
                  <a:lnTo>
                    <a:pt x="2965582" y="64739"/>
                  </a:lnTo>
                  <a:lnTo>
                    <a:pt x="2931637" y="31170"/>
                  </a:lnTo>
                  <a:lnTo>
                    <a:pt x="2890560" y="8392"/>
                  </a:lnTo>
                  <a:lnTo>
                    <a:pt x="2846070" y="0"/>
                  </a:lnTo>
                  <a:lnTo>
                    <a:pt x="149859" y="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906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391925" y="1474757"/>
            <a:ext cx="11352007" cy="2333304"/>
          </a:xfrm>
          <a:prstGeom prst="rect">
            <a:avLst/>
          </a:prstGeom>
        </p:spPr>
        <p:txBody>
          <a:bodyPr vert="horz" wrap="square" lIns="0" tIns="50138" rIns="0" bIns="0" rtlCol="0">
            <a:spAutoFit/>
          </a:bodyPr>
          <a:lstStyle/>
          <a:p>
            <a:pPr marL="2145504" marR="89036" indent="-2008925">
              <a:lnSpc>
                <a:spcPts val="3417"/>
              </a:lnSpc>
              <a:spcBef>
                <a:spcPts val="395"/>
              </a:spcBef>
            </a:pPr>
            <a:r>
              <a:rPr sz="2723" b="1" spc="-7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Una</a:t>
            </a:r>
            <a:r>
              <a:rPr sz="2723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723" b="1" spc="-7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vez</a:t>
            </a:r>
            <a:r>
              <a:rPr sz="2723" b="1" spc="7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723" b="1" spc="-7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definidos </a:t>
            </a:r>
            <a:r>
              <a:rPr sz="2723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los</a:t>
            </a:r>
            <a:r>
              <a:rPr sz="2723" b="1" spc="-7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segmentos,</a:t>
            </a:r>
            <a:r>
              <a:rPr sz="2723" b="1" spc="-14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723" b="1" spc="-7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podemos</a:t>
            </a:r>
            <a:r>
              <a:rPr sz="2723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723" b="1" spc="-7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aplicar</a:t>
            </a:r>
            <a:r>
              <a:rPr sz="2723" b="1" spc="-14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723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 </a:t>
            </a:r>
            <a:r>
              <a:rPr sz="2723" b="1" spc="-7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tipos</a:t>
            </a:r>
            <a:r>
              <a:rPr sz="2723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723" b="1" spc="-7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 </a:t>
            </a:r>
            <a:r>
              <a:rPr sz="2723" b="1" spc="-81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723" b="1" spc="-7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Estrategia de</a:t>
            </a:r>
            <a:r>
              <a:rPr sz="2723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723" b="1" spc="-7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segmentación</a:t>
            </a:r>
            <a:r>
              <a:rPr sz="2723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723" b="1" spc="-7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diferentes:</a:t>
            </a:r>
            <a:endParaRPr sz="2723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289">
              <a:lnSpc>
                <a:spcPts val="2879"/>
              </a:lnSpc>
              <a:spcBef>
                <a:spcPts val="2396"/>
              </a:spcBef>
            </a:pPr>
            <a:r>
              <a:rPr sz="2450" b="1" spc="-14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INDIFERENCIADA</a:t>
            </a:r>
            <a:endParaRPr sz="245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753779" marR="6915" indent="463332">
              <a:lnSpc>
                <a:spcPts val="2832"/>
              </a:lnSpc>
              <a:spcBef>
                <a:spcPts val="123"/>
              </a:spcBef>
              <a:tabLst>
                <a:tab pos="4582320" algn="l"/>
                <a:tab pos="8906176" algn="l"/>
              </a:tabLst>
            </a:pPr>
            <a:r>
              <a:rPr sz="2450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	</a:t>
            </a:r>
            <a:r>
              <a:rPr sz="2450" b="1" spc="-14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</a:t>
            </a:r>
            <a:r>
              <a:rPr sz="2450" b="1" spc="7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</a:t>
            </a:r>
            <a:r>
              <a:rPr sz="2450" b="1" spc="-7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FER</a:t>
            </a:r>
            <a:r>
              <a:rPr sz="2450" b="1" spc="-2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</a:t>
            </a:r>
            <a:r>
              <a:rPr sz="2450" b="1" spc="-7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NCI</a:t>
            </a:r>
            <a:r>
              <a:rPr sz="2450" b="1" spc="-75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</a:t>
            </a:r>
            <a:r>
              <a:rPr sz="2450" b="1" spc="-7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</a:t>
            </a:r>
            <a:r>
              <a:rPr sz="2450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	</a:t>
            </a:r>
            <a:r>
              <a:rPr sz="2450" b="1" spc="-7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</a:t>
            </a:r>
            <a:r>
              <a:rPr sz="2450" b="1" spc="7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</a:t>
            </a:r>
            <a:r>
              <a:rPr sz="2450" b="1" spc="-14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</a:t>
            </a:r>
            <a:r>
              <a:rPr sz="2450" b="1" spc="-7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CE</a:t>
            </a:r>
            <a:r>
              <a:rPr sz="2450" b="1" spc="-14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</a:t>
            </a:r>
            <a:r>
              <a:rPr sz="2450" b="1" spc="7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</a:t>
            </a:r>
            <a:r>
              <a:rPr sz="2450" b="1" spc="-14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</a:t>
            </a:r>
            <a:r>
              <a:rPr sz="2450" b="1" spc="-75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</a:t>
            </a:r>
            <a:r>
              <a:rPr sz="2450" b="1" spc="-7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  </a:t>
            </a:r>
            <a:r>
              <a:rPr sz="2450" b="1" spc="-48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MASIVA</a:t>
            </a:r>
            <a:endParaRPr sz="24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620663" y="3764041"/>
            <a:ext cx="4118258" cy="3872753"/>
            <a:chOff x="287020" y="2914650"/>
            <a:chExt cx="3025140" cy="2844800"/>
          </a:xfrm>
        </p:grpSpPr>
        <p:sp>
          <p:nvSpPr>
            <p:cNvPr id="16" name="object 16"/>
            <p:cNvSpPr/>
            <p:nvPr/>
          </p:nvSpPr>
          <p:spPr>
            <a:xfrm>
              <a:off x="287020" y="2914650"/>
              <a:ext cx="3025140" cy="2844800"/>
            </a:xfrm>
            <a:custGeom>
              <a:avLst/>
              <a:gdLst/>
              <a:ahLst/>
              <a:cxnLst/>
              <a:rect l="l" t="t" r="r" b="b"/>
              <a:pathLst>
                <a:path w="3025140" h="2844800">
                  <a:moveTo>
                    <a:pt x="2677160" y="0"/>
                  </a:moveTo>
                  <a:lnTo>
                    <a:pt x="347980" y="0"/>
                  </a:lnTo>
                  <a:lnTo>
                    <a:pt x="304583" y="3523"/>
                  </a:lnTo>
                  <a:lnTo>
                    <a:pt x="261790" y="13687"/>
                  </a:lnTo>
                  <a:lnTo>
                    <a:pt x="220206" y="29884"/>
                  </a:lnTo>
                  <a:lnTo>
                    <a:pt x="180434" y="51505"/>
                  </a:lnTo>
                  <a:lnTo>
                    <a:pt x="143078" y="77941"/>
                  </a:lnTo>
                  <a:lnTo>
                    <a:pt x="108743" y="108585"/>
                  </a:lnTo>
                  <a:lnTo>
                    <a:pt x="78033" y="142826"/>
                  </a:lnTo>
                  <a:lnTo>
                    <a:pt x="51552" y="180057"/>
                  </a:lnTo>
                  <a:lnTo>
                    <a:pt x="29904" y="219670"/>
                  </a:lnTo>
                  <a:lnTo>
                    <a:pt x="13693" y="261055"/>
                  </a:lnTo>
                  <a:lnTo>
                    <a:pt x="3524" y="303604"/>
                  </a:lnTo>
                  <a:lnTo>
                    <a:pt x="0" y="346710"/>
                  </a:lnTo>
                  <a:lnTo>
                    <a:pt x="0" y="2498090"/>
                  </a:lnTo>
                  <a:lnTo>
                    <a:pt x="3524" y="2541461"/>
                  </a:lnTo>
                  <a:lnTo>
                    <a:pt x="13693" y="2584185"/>
                  </a:lnTo>
                  <a:lnTo>
                    <a:pt x="29904" y="2625665"/>
                  </a:lnTo>
                  <a:lnTo>
                    <a:pt x="51552" y="2665306"/>
                  </a:lnTo>
                  <a:lnTo>
                    <a:pt x="78033" y="2702513"/>
                  </a:lnTo>
                  <a:lnTo>
                    <a:pt x="108743" y="2736691"/>
                  </a:lnTo>
                  <a:lnTo>
                    <a:pt x="143078" y="2767244"/>
                  </a:lnTo>
                  <a:lnTo>
                    <a:pt x="180434" y="2793576"/>
                  </a:lnTo>
                  <a:lnTo>
                    <a:pt x="220206" y="2815093"/>
                  </a:lnTo>
                  <a:lnTo>
                    <a:pt x="261790" y="2831200"/>
                  </a:lnTo>
                  <a:lnTo>
                    <a:pt x="304583" y="2841300"/>
                  </a:lnTo>
                  <a:lnTo>
                    <a:pt x="347980" y="2844800"/>
                  </a:lnTo>
                  <a:lnTo>
                    <a:pt x="2677160" y="2844800"/>
                  </a:lnTo>
                  <a:lnTo>
                    <a:pt x="2720556" y="2841300"/>
                  </a:lnTo>
                  <a:lnTo>
                    <a:pt x="2763349" y="2831200"/>
                  </a:lnTo>
                  <a:lnTo>
                    <a:pt x="2804933" y="2815093"/>
                  </a:lnTo>
                  <a:lnTo>
                    <a:pt x="2844705" y="2793576"/>
                  </a:lnTo>
                  <a:lnTo>
                    <a:pt x="2882061" y="2767244"/>
                  </a:lnTo>
                  <a:lnTo>
                    <a:pt x="2916396" y="2736691"/>
                  </a:lnTo>
                  <a:lnTo>
                    <a:pt x="2947106" y="2702513"/>
                  </a:lnTo>
                  <a:lnTo>
                    <a:pt x="2973587" y="2665306"/>
                  </a:lnTo>
                  <a:lnTo>
                    <a:pt x="2995235" y="2625665"/>
                  </a:lnTo>
                  <a:lnTo>
                    <a:pt x="3011446" y="2584185"/>
                  </a:lnTo>
                  <a:lnTo>
                    <a:pt x="3021615" y="2541461"/>
                  </a:lnTo>
                  <a:lnTo>
                    <a:pt x="3025140" y="2498090"/>
                  </a:lnTo>
                  <a:lnTo>
                    <a:pt x="3025140" y="346710"/>
                  </a:lnTo>
                  <a:lnTo>
                    <a:pt x="3021615" y="303604"/>
                  </a:lnTo>
                  <a:lnTo>
                    <a:pt x="3011446" y="261055"/>
                  </a:lnTo>
                  <a:lnTo>
                    <a:pt x="2995235" y="219670"/>
                  </a:lnTo>
                  <a:lnTo>
                    <a:pt x="2973587" y="180057"/>
                  </a:lnTo>
                  <a:lnTo>
                    <a:pt x="2947106" y="142826"/>
                  </a:lnTo>
                  <a:lnTo>
                    <a:pt x="2916396" y="108584"/>
                  </a:lnTo>
                  <a:lnTo>
                    <a:pt x="2882061" y="77941"/>
                  </a:lnTo>
                  <a:lnTo>
                    <a:pt x="2844705" y="51505"/>
                  </a:lnTo>
                  <a:lnTo>
                    <a:pt x="2804933" y="29884"/>
                  </a:lnTo>
                  <a:lnTo>
                    <a:pt x="2763349" y="13687"/>
                  </a:lnTo>
                  <a:lnTo>
                    <a:pt x="2720556" y="3523"/>
                  </a:lnTo>
                  <a:lnTo>
                    <a:pt x="2677160" y="0"/>
                  </a:lnTo>
                  <a:close/>
                </a:path>
              </a:pathLst>
            </a:custGeom>
            <a:solidFill>
              <a:srgbClr val="00FF00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 sz="1906"/>
            </a:p>
          </p:txBody>
        </p:sp>
        <p:sp>
          <p:nvSpPr>
            <p:cNvPr id="17" name="object 17"/>
            <p:cNvSpPr/>
            <p:nvPr/>
          </p:nvSpPr>
          <p:spPr>
            <a:xfrm>
              <a:off x="287020" y="2914650"/>
              <a:ext cx="3025140" cy="2844800"/>
            </a:xfrm>
            <a:custGeom>
              <a:avLst/>
              <a:gdLst/>
              <a:ahLst/>
              <a:cxnLst/>
              <a:rect l="l" t="t" r="r" b="b"/>
              <a:pathLst>
                <a:path w="3025140" h="2844800">
                  <a:moveTo>
                    <a:pt x="347980" y="0"/>
                  </a:moveTo>
                  <a:lnTo>
                    <a:pt x="304583" y="3523"/>
                  </a:lnTo>
                  <a:lnTo>
                    <a:pt x="261790" y="13687"/>
                  </a:lnTo>
                  <a:lnTo>
                    <a:pt x="220206" y="29884"/>
                  </a:lnTo>
                  <a:lnTo>
                    <a:pt x="180434" y="51505"/>
                  </a:lnTo>
                  <a:lnTo>
                    <a:pt x="143078" y="77941"/>
                  </a:lnTo>
                  <a:lnTo>
                    <a:pt x="108743" y="108585"/>
                  </a:lnTo>
                  <a:lnTo>
                    <a:pt x="78033" y="142826"/>
                  </a:lnTo>
                  <a:lnTo>
                    <a:pt x="51552" y="180057"/>
                  </a:lnTo>
                  <a:lnTo>
                    <a:pt x="29904" y="219670"/>
                  </a:lnTo>
                  <a:lnTo>
                    <a:pt x="13693" y="261055"/>
                  </a:lnTo>
                  <a:lnTo>
                    <a:pt x="3524" y="303604"/>
                  </a:lnTo>
                  <a:lnTo>
                    <a:pt x="0" y="346710"/>
                  </a:lnTo>
                  <a:lnTo>
                    <a:pt x="0" y="2498090"/>
                  </a:lnTo>
                  <a:lnTo>
                    <a:pt x="3524" y="2541461"/>
                  </a:lnTo>
                  <a:lnTo>
                    <a:pt x="13693" y="2584185"/>
                  </a:lnTo>
                  <a:lnTo>
                    <a:pt x="29904" y="2625665"/>
                  </a:lnTo>
                  <a:lnTo>
                    <a:pt x="51552" y="2665306"/>
                  </a:lnTo>
                  <a:lnTo>
                    <a:pt x="78033" y="2702513"/>
                  </a:lnTo>
                  <a:lnTo>
                    <a:pt x="108743" y="2736691"/>
                  </a:lnTo>
                  <a:lnTo>
                    <a:pt x="143078" y="2767244"/>
                  </a:lnTo>
                  <a:lnTo>
                    <a:pt x="180434" y="2793576"/>
                  </a:lnTo>
                  <a:lnTo>
                    <a:pt x="220206" y="2815093"/>
                  </a:lnTo>
                  <a:lnTo>
                    <a:pt x="261790" y="2831200"/>
                  </a:lnTo>
                  <a:lnTo>
                    <a:pt x="304583" y="2841300"/>
                  </a:lnTo>
                  <a:lnTo>
                    <a:pt x="347980" y="2844800"/>
                  </a:lnTo>
                  <a:lnTo>
                    <a:pt x="2677160" y="2844800"/>
                  </a:lnTo>
                  <a:lnTo>
                    <a:pt x="2720556" y="2841300"/>
                  </a:lnTo>
                  <a:lnTo>
                    <a:pt x="2763349" y="2831200"/>
                  </a:lnTo>
                  <a:lnTo>
                    <a:pt x="2804933" y="2815093"/>
                  </a:lnTo>
                  <a:lnTo>
                    <a:pt x="2844705" y="2793576"/>
                  </a:lnTo>
                  <a:lnTo>
                    <a:pt x="2882061" y="2767244"/>
                  </a:lnTo>
                  <a:lnTo>
                    <a:pt x="2916396" y="2736691"/>
                  </a:lnTo>
                  <a:lnTo>
                    <a:pt x="2947106" y="2702513"/>
                  </a:lnTo>
                  <a:lnTo>
                    <a:pt x="2973587" y="2665306"/>
                  </a:lnTo>
                  <a:lnTo>
                    <a:pt x="2995235" y="2625665"/>
                  </a:lnTo>
                  <a:lnTo>
                    <a:pt x="3011446" y="2584185"/>
                  </a:lnTo>
                  <a:lnTo>
                    <a:pt x="3021615" y="2541461"/>
                  </a:lnTo>
                  <a:lnTo>
                    <a:pt x="3025140" y="2498090"/>
                  </a:lnTo>
                  <a:lnTo>
                    <a:pt x="3025140" y="346710"/>
                  </a:lnTo>
                  <a:lnTo>
                    <a:pt x="3021615" y="303604"/>
                  </a:lnTo>
                  <a:lnTo>
                    <a:pt x="3011446" y="261055"/>
                  </a:lnTo>
                  <a:lnTo>
                    <a:pt x="2995235" y="219670"/>
                  </a:lnTo>
                  <a:lnTo>
                    <a:pt x="2973587" y="180057"/>
                  </a:lnTo>
                  <a:lnTo>
                    <a:pt x="2947106" y="142826"/>
                  </a:lnTo>
                  <a:lnTo>
                    <a:pt x="2916396" y="108584"/>
                  </a:lnTo>
                  <a:lnTo>
                    <a:pt x="2882061" y="77941"/>
                  </a:lnTo>
                  <a:lnTo>
                    <a:pt x="2844705" y="51505"/>
                  </a:lnTo>
                  <a:lnTo>
                    <a:pt x="2804933" y="29884"/>
                  </a:lnTo>
                  <a:lnTo>
                    <a:pt x="2763349" y="13687"/>
                  </a:lnTo>
                  <a:lnTo>
                    <a:pt x="2720556" y="3523"/>
                  </a:lnTo>
                  <a:lnTo>
                    <a:pt x="2677160" y="0"/>
                  </a:lnTo>
                  <a:lnTo>
                    <a:pt x="347980" y="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906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698633" y="4119986"/>
            <a:ext cx="4062068" cy="1002828"/>
          </a:xfrm>
          <a:prstGeom prst="rect">
            <a:avLst/>
          </a:prstGeom>
        </p:spPr>
        <p:txBody>
          <a:bodyPr vert="horz" wrap="square" lIns="0" tIns="40629" rIns="0" bIns="0" rtlCol="0">
            <a:spAutoFit/>
          </a:bodyPr>
          <a:lstStyle/>
          <a:p>
            <a:pPr marL="17289" marR="6915">
              <a:lnSpc>
                <a:spcPts val="2491"/>
              </a:lnSpc>
              <a:spcBef>
                <a:spcPts val="320"/>
              </a:spcBef>
            </a:pPr>
            <a:r>
              <a:rPr sz="2178" b="1" spc="-7" dirty="0">
                <a:latin typeface="Poppins" panose="00000500000000000000" pitchFamily="2" charset="0"/>
                <a:cs typeface="Poppins" panose="00000500000000000000" pitchFamily="2" charset="0"/>
              </a:rPr>
              <a:t>No </a:t>
            </a:r>
            <a:r>
              <a:rPr sz="2178" b="1" spc="-14" dirty="0">
                <a:latin typeface="Poppins" panose="00000500000000000000" pitchFamily="2" charset="0"/>
                <a:cs typeface="Poppins" panose="00000500000000000000" pitchFamily="2" charset="0"/>
              </a:rPr>
              <a:t>diferencia </a:t>
            </a:r>
            <a:r>
              <a:rPr sz="2178" b="1" spc="-7" dirty="0">
                <a:latin typeface="Poppins" panose="00000500000000000000" pitchFamily="2" charset="0"/>
                <a:cs typeface="Poppins" panose="00000500000000000000" pitchFamily="2" charset="0"/>
              </a:rPr>
              <a:t>entre </a:t>
            </a:r>
            <a:r>
              <a:rPr sz="2178" b="1" spc="-14" dirty="0">
                <a:latin typeface="Poppins" panose="00000500000000000000" pitchFamily="2" charset="0"/>
                <a:cs typeface="Poppins" panose="00000500000000000000" pitchFamily="2" charset="0"/>
              </a:rPr>
              <a:t>segmentos </a:t>
            </a:r>
            <a:r>
              <a:rPr sz="2178" b="1" spc="-585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178" b="1" dirty="0">
                <a:latin typeface="Poppins" panose="00000500000000000000" pitchFamily="2" charset="0"/>
                <a:cs typeface="Poppins" panose="00000500000000000000" pitchFamily="2" charset="0"/>
              </a:rPr>
              <a:t>y</a:t>
            </a:r>
            <a:r>
              <a:rPr sz="2178" b="1" spc="-68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178" b="1" spc="-7" dirty="0">
                <a:latin typeface="Poppins" panose="00000500000000000000" pitchFamily="2" charset="0"/>
                <a:cs typeface="Poppins" panose="00000500000000000000" pitchFamily="2" charset="0"/>
              </a:rPr>
              <a:t>ofrece el</a:t>
            </a:r>
            <a:r>
              <a:rPr sz="2178" b="1" spc="-14" dirty="0">
                <a:latin typeface="Poppins" panose="00000500000000000000" pitchFamily="2" charset="0"/>
                <a:cs typeface="Poppins" panose="00000500000000000000" pitchFamily="2" charset="0"/>
              </a:rPr>
              <a:t> mismo producto</a:t>
            </a:r>
            <a:r>
              <a:rPr sz="2178" b="1" spc="-14" dirty="0"/>
              <a:t>.</a:t>
            </a:r>
            <a:endParaRPr sz="2178" dirty="0"/>
          </a:p>
        </p:txBody>
      </p:sp>
      <p:sp>
        <p:nvSpPr>
          <p:cNvPr id="19" name="object 19"/>
          <p:cNvSpPr txBox="1"/>
          <p:nvPr/>
        </p:nvSpPr>
        <p:spPr>
          <a:xfrm>
            <a:off x="2698633" y="5072614"/>
            <a:ext cx="3126729" cy="1658933"/>
          </a:xfrm>
          <a:prstGeom prst="rect">
            <a:avLst/>
          </a:prstGeom>
        </p:spPr>
        <p:txBody>
          <a:bodyPr vert="horz" wrap="square" lIns="0" tIns="17289" rIns="0" bIns="0" rtlCol="0">
            <a:spAutoFit/>
          </a:bodyPr>
          <a:lstStyle/>
          <a:p>
            <a:pPr marL="17289">
              <a:lnSpc>
                <a:spcPts val="2552"/>
              </a:lnSpc>
              <a:spcBef>
                <a:spcPts val="136"/>
              </a:spcBef>
            </a:pPr>
            <a:r>
              <a:rPr sz="2178" b="1" dirty="0"/>
              <a:t>+</a:t>
            </a:r>
            <a:r>
              <a:rPr sz="2178" b="1" spc="-102" dirty="0"/>
              <a:t> </a:t>
            </a:r>
            <a:r>
              <a:rPr sz="2178" b="1" spc="-20" dirty="0">
                <a:latin typeface="Poppins" panose="00000500000000000000" pitchFamily="2" charset="0"/>
                <a:cs typeface="Poppins" panose="00000500000000000000" pitchFamily="2" charset="0"/>
              </a:rPr>
              <a:t>Ahorro</a:t>
            </a:r>
            <a:r>
              <a:rPr sz="2178" b="1" spc="-27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178" b="1" spc="-7" dirty="0">
                <a:latin typeface="Poppins" panose="00000500000000000000" pitchFamily="2" charset="0"/>
                <a:cs typeface="Poppins" panose="00000500000000000000" pitchFamily="2" charset="0"/>
              </a:rPr>
              <a:t>en</a:t>
            </a:r>
            <a:r>
              <a:rPr sz="2178" b="1" spc="-4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178" b="1" spc="-14" dirty="0">
                <a:latin typeface="Poppins" panose="00000500000000000000" pitchFamily="2" charset="0"/>
                <a:cs typeface="Poppins" panose="00000500000000000000" pitchFamily="2" charset="0"/>
              </a:rPr>
              <a:t>costes</a:t>
            </a:r>
            <a:endParaRPr sz="2178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84123" indent="-167697">
              <a:lnSpc>
                <a:spcPts val="2498"/>
              </a:lnSpc>
              <a:buChar char="-"/>
              <a:tabLst>
                <a:tab pos="184987" algn="l"/>
              </a:tabLst>
            </a:pPr>
            <a:r>
              <a:rPr sz="2178" b="1" spc="-14" dirty="0">
                <a:latin typeface="Poppins" panose="00000500000000000000" pitchFamily="2" charset="0"/>
                <a:cs typeface="Poppins" panose="00000500000000000000" pitchFamily="2" charset="0"/>
              </a:rPr>
              <a:t>Necesidades</a:t>
            </a:r>
            <a:r>
              <a:rPr sz="2178" b="1" spc="-48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178" b="1" spc="-14" dirty="0">
                <a:latin typeface="Poppins" panose="00000500000000000000" pitchFamily="2" charset="0"/>
                <a:cs typeface="Poppins" panose="00000500000000000000" pitchFamily="2" charset="0"/>
              </a:rPr>
              <a:t>diversas</a:t>
            </a:r>
            <a:endParaRPr sz="2178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84123" indent="-167697">
              <a:lnSpc>
                <a:spcPts val="2559"/>
              </a:lnSpc>
              <a:buChar char="-"/>
              <a:tabLst>
                <a:tab pos="184987" algn="l"/>
              </a:tabLst>
            </a:pPr>
            <a:r>
              <a:rPr sz="2178" b="1" spc="-7" dirty="0">
                <a:latin typeface="Poppins" panose="00000500000000000000" pitchFamily="2" charset="0"/>
                <a:cs typeface="Poppins" panose="00000500000000000000" pitchFamily="2" charset="0"/>
              </a:rPr>
              <a:t>Muchos</a:t>
            </a:r>
            <a:r>
              <a:rPr sz="2178" b="1" spc="-75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178" b="1" spc="-14" dirty="0">
                <a:latin typeface="Poppins" panose="00000500000000000000" pitchFamily="2" charset="0"/>
                <a:cs typeface="Poppins" panose="00000500000000000000" pitchFamily="2" charset="0"/>
              </a:rPr>
              <a:t>competidores</a:t>
            </a:r>
            <a:endParaRPr sz="217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669241" y="8072268"/>
            <a:ext cx="12838868" cy="1092670"/>
            <a:chOff x="285750" y="5929629"/>
            <a:chExt cx="9431020" cy="802640"/>
          </a:xfrm>
        </p:grpSpPr>
        <p:sp>
          <p:nvSpPr>
            <p:cNvPr id="21" name="object 21"/>
            <p:cNvSpPr/>
            <p:nvPr/>
          </p:nvSpPr>
          <p:spPr>
            <a:xfrm>
              <a:off x="285750" y="5929629"/>
              <a:ext cx="9431020" cy="802640"/>
            </a:xfrm>
            <a:custGeom>
              <a:avLst/>
              <a:gdLst/>
              <a:ahLst/>
              <a:cxnLst/>
              <a:rect l="l" t="t" r="r" b="b"/>
              <a:pathLst>
                <a:path w="9431020" h="802640">
                  <a:moveTo>
                    <a:pt x="9297670" y="0"/>
                  </a:moveTo>
                  <a:lnTo>
                    <a:pt x="133350" y="0"/>
                  </a:lnTo>
                  <a:lnTo>
                    <a:pt x="84117" y="11370"/>
                  </a:lnTo>
                  <a:lnTo>
                    <a:pt x="41433" y="41433"/>
                  </a:lnTo>
                  <a:lnTo>
                    <a:pt x="11370" y="84117"/>
                  </a:lnTo>
                  <a:lnTo>
                    <a:pt x="0" y="133350"/>
                  </a:lnTo>
                  <a:lnTo>
                    <a:pt x="0" y="668020"/>
                  </a:lnTo>
                  <a:lnTo>
                    <a:pt x="7406" y="707867"/>
                  </a:lnTo>
                  <a:lnTo>
                    <a:pt x="27553" y="744484"/>
                  </a:lnTo>
                  <a:lnTo>
                    <a:pt x="57332" y="774639"/>
                  </a:lnTo>
                  <a:lnTo>
                    <a:pt x="93634" y="795101"/>
                  </a:lnTo>
                  <a:lnTo>
                    <a:pt x="133350" y="802640"/>
                  </a:lnTo>
                  <a:lnTo>
                    <a:pt x="9297670" y="802640"/>
                  </a:lnTo>
                  <a:lnTo>
                    <a:pt x="9337385" y="795101"/>
                  </a:lnTo>
                  <a:lnTo>
                    <a:pt x="9373687" y="774639"/>
                  </a:lnTo>
                  <a:lnTo>
                    <a:pt x="9403466" y="744484"/>
                  </a:lnTo>
                  <a:lnTo>
                    <a:pt x="9423613" y="707867"/>
                  </a:lnTo>
                  <a:lnTo>
                    <a:pt x="9431020" y="668020"/>
                  </a:lnTo>
                  <a:lnTo>
                    <a:pt x="9431020" y="133350"/>
                  </a:lnTo>
                  <a:lnTo>
                    <a:pt x="9419649" y="84117"/>
                  </a:lnTo>
                  <a:lnTo>
                    <a:pt x="9389586" y="41433"/>
                  </a:lnTo>
                  <a:lnTo>
                    <a:pt x="9346902" y="11370"/>
                  </a:lnTo>
                  <a:lnTo>
                    <a:pt x="9297670" y="0"/>
                  </a:lnTo>
                  <a:close/>
                </a:path>
              </a:pathLst>
            </a:custGeom>
            <a:solidFill>
              <a:srgbClr val="FFFF00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 sz="1906"/>
            </a:p>
          </p:txBody>
        </p:sp>
        <p:sp>
          <p:nvSpPr>
            <p:cNvPr id="22" name="object 22"/>
            <p:cNvSpPr/>
            <p:nvPr/>
          </p:nvSpPr>
          <p:spPr>
            <a:xfrm>
              <a:off x="285750" y="5929629"/>
              <a:ext cx="9431020" cy="802640"/>
            </a:xfrm>
            <a:custGeom>
              <a:avLst/>
              <a:gdLst/>
              <a:ahLst/>
              <a:cxnLst/>
              <a:rect l="l" t="t" r="r" b="b"/>
              <a:pathLst>
                <a:path w="9431020" h="802640">
                  <a:moveTo>
                    <a:pt x="133350" y="0"/>
                  </a:moveTo>
                  <a:lnTo>
                    <a:pt x="84117" y="11370"/>
                  </a:lnTo>
                  <a:lnTo>
                    <a:pt x="41433" y="41433"/>
                  </a:lnTo>
                  <a:lnTo>
                    <a:pt x="11370" y="84117"/>
                  </a:lnTo>
                  <a:lnTo>
                    <a:pt x="0" y="133350"/>
                  </a:lnTo>
                  <a:lnTo>
                    <a:pt x="0" y="668020"/>
                  </a:lnTo>
                  <a:lnTo>
                    <a:pt x="7406" y="707867"/>
                  </a:lnTo>
                  <a:lnTo>
                    <a:pt x="27553" y="744484"/>
                  </a:lnTo>
                  <a:lnTo>
                    <a:pt x="57332" y="774639"/>
                  </a:lnTo>
                  <a:lnTo>
                    <a:pt x="93634" y="795101"/>
                  </a:lnTo>
                  <a:lnTo>
                    <a:pt x="133350" y="802640"/>
                  </a:lnTo>
                  <a:lnTo>
                    <a:pt x="9297670" y="802640"/>
                  </a:lnTo>
                  <a:lnTo>
                    <a:pt x="9337385" y="795101"/>
                  </a:lnTo>
                  <a:lnTo>
                    <a:pt x="9373687" y="774639"/>
                  </a:lnTo>
                  <a:lnTo>
                    <a:pt x="9403466" y="744484"/>
                  </a:lnTo>
                  <a:lnTo>
                    <a:pt x="9423613" y="707867"/>
                  </a:lnTo>
                  <a:lnTo>
                    <a:pt x="9431020" y="668020"/>
                  </a:lnTo>
                  <a:lnTo>
                    <a:pt x="9431020" y="133350"/>
                  </a:lnTo>
                  <a:lnTo>
                    <a:pt x="9419649" y="84117"/>
                  </a:lnTo>
                  <a:lnTo>
                    <a:pt x="9389586" y="41433"/>
                  </a:lnTo>
                  <a:lnTo>
                    <a:pt x="9346902" y="11370"/>
                  </a:lnTo>
                  <a:lnTo>
                    <a:pt x="9297670" y="0"/>
                  </a:lnTo>
                  <a:lnTo>
                    <a:pt x="133350" y="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906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779890" y="8181191"/>
            <a:ext cx="12605465" cy="843099"/>
          </a:xfrm>
          <a:prstGeom prst="rect">
            <a:avLst/>
          </a:prstGeom>
        </p:spPr>
        <p:txBody>
          <a:bodyPr vert="horz" wrap="square" lIns="0" tIns="47545" rIns="0" bIns="0" rtlCol="0">
            <a:spAutoFit/>
          </a:bodyPr>
          <a:lstStyle/>
          <a:p>
            <a:pPr marL="4048969" marR="6915" indent="-4031681">
              <a:lnSpc>
                <a:spcPts val="3104"/>
              </a:lnSpc>
              <a:spcBef>
                <a:spcPts val="374"/>
              </a:spcBef>
            </a:pPr>
            <a:r>
              <a:rPr sz="2723" b="1" spc="-7" dirty="0">
                <a:solidFill>
                  <a:srgbClr val="0000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Público</a:t>
            </a:r>
            <a:r>
              <a:rPr sz="2723" b="1" spc="7" dirty="0">
                <a:solidFill>
                  <a:srgbClr val="0000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723" b="1" spc="-7" dirty="0">
                <a:solidFill>
                  <a:srgbClr val="0000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objetivo</a:t>
            </a:r>
            <a:r>
              <a:rPr sz="2723" b="1" spc="14" dirty="0">
                <a:solidFill>
                  <a:srgbClr val="0000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723" b="1" dirty="0">
                <a:solidFill>
                  <a:srgbClr val="0000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 target</a:t>
            </a:r>
            <a:r>
              <a:rPr sz="2723" b="1" dirty="0"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  <a:r>
              <a:rPr sz="2723" b="1" spc="2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723" b="1" spc="-7" dirty="0">
                <a:latin typeface="Poppins" panose="00000500000000000000" pitchFamily="2" charset="0"/>
                <a:cs typeface="Poppins" panose="00000500000000000000" pitchFamily="2" charset="0"/>
              </a:rPr>
              <a:t>conjunto</a:t>
            </a:r>
            <a:r>
              <a:rPr sz="2723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723" b="1" spc="-7" dirty="0">
                <a:latin typeface="Poppins" panose="00000500000000000000" pitchFamily="2" charset="0"/>
                <a:cs typeface="Poppins" panose="00000500000000000000" pitchFamily="2" charset="0"/>
              </a:rPr>
              <a:t>de</a:t>
            </a:r>
            <a:r>
              <a:rPr sz="2723" b="1" spc="14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723" b="1" spc="-7" dirty="0">
                <a:latin typeface="Poppins" panose="00000500000000000000" pitchFamily="2" charset="0"/>
                <a:cs typeface="Poppins" panose="00000500000000000000" pitchFamily="2" charset="0"/>
              </a:rPr>
              <a:t>consumidores(segmento</a:t>
            </a:r>
            <a:r>
              <a:rPr sz="2723" b="1" dirty="0">
                <a:latin typeface="Poppins" panose="00000500000000000000" pitchFamily="2" charset="0"/>
                <a:cs typeface="Poppins" panose="00000500000000000000" pitchFamily="2" charset="0"/>
              </a:rPr>
              <a:t> de</a:t>
            </a:r>
            <a:r>
              <a:rPr sz="2723" b="1" spc="14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723" b="1" spc="-7" dirty="0">
                <a:latin typeface="Poppins" panose="00000500000000000000" pitchFamily="2" charset="0"/>
                <a:cs typeface="Poppins" panose="00000500000000000000" pitchFamily="2" charset="0"/>
              </a:rPr>
              <a:t>mercado) </a:t>
            </a:r>
            <a:r>
              <a:rPr sz="2723" b="1" spc="-735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723" b="1" dirty="0">
                <a:latin typeface="Poppins" panose="00000500000000000000" pitchFamily="2" charset="0"/>
                <a:cs typeface="Poppins" panose="00000500000000000000" pitchFamily="2" charset="0"/>
              </a:rPr>
              <a:t>al</a:t>
            </a:r>
            <a:r>
              <a:rPr sz="2723" b="1" spc="-27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723" b="1" dirty="0">
                <a:latin typeface="Poppins" panose="00000500000000000000" pitchFamily="2" charset="0"/>
                <a:cs typeface="Poppins" panose="00000500000000000000" pitchFamily="2" charset="0"/>
              </a:rPr>
              <a:t>que </a:t>
            </a:r>
            <a:r>
              <a:rPr sz="2723" b="1" spc="-7" dirty="0">
                <a:latin typeface="Poppins" panose="00000500000000000000" pitchFamily="2" charset="0"/>
                <a:cs typeface="Poppins" panose="00000500000000000000" pitchFamily="2" charset="0"/>
              </a:rPr>
              <a:t>se</a:t>
            </a:r>
            <a:r>
              <a:rPr sz="2723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723" b="1" spc="-7" dirty="0">
                <a:latin typeface="Poppins" panose="00000500000000000000" pitchFamily="2" charset="0"/>
                <a:cs typeface="Poppins" panose="00000500000000000000" pitchFamily="2" charset="0"/>
              </a:rPr>
              <a:t>dirige</a:t>
            </a:r>
            <a:r>
              <a:rPr sz="2723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723" b="1" spc="-7" dirty="0">
                <a:latin typeface="Poppins" panose="00000500000000000000" pitchFamily="2" charset="0"/>
                <a:cs typeface="Poppins" panose="00000500000000000000" pitchFamily="2" charset="0"/>
              </a:rPr>
              <a:t>la empresa</a:t>
            </a:r>
            <a:r>
              <a:rPr sz="2723" b="1" spc="-7" dirty="0"/>
              <a:t>.</a:t>
            </a:r>
            <a:endParaRPr sz="2723" dirty="0"/>
          </a:p>
        </p:txBody>
      </p:sp>
      <p:grpSp>
        <p:nvGrpSpPr>
          <p:cNvPr id="24" name="object 24"/>
          <p:cNvGrpSpPr/>
          <p:nvPr/>
        </p:nvGrpSpPr>
        <p:grpSpPr>
          <a:xfrm>
            <a:off x="7081413" y="3967843"/>
            <a:ext cx="4118258" cy="3909060"/>
            <a:chOff x="3526790" y="2914650"/>
            <a:chExt cx="3025140" cy="2871470"/>
          </a:xfrm>
        </p:grpSpPr>
        <p:sp>
          <p:nvSpPr>
            <p:cNvPr id="25" name="object 25"/>
            <p:cNvSpPr/>
            <p:nvPr/>
          </p:nvSpPr>
          <p:spPr>
            <a:xfrm>
              <a:off x="3526790" y="2914650"/>
              <a:ext cx="3025140" cy="2871470"/>
            </a:xfrm>
            <a:custGeom>
              <a:avLst/>
              <a:gdLst/>
              <a:ahLst/>
              <a:cxnLst/>
              <a:rect l="l" t="t" r="r" b="b"/>
              <a:pathLst>
                <a:path w="3025140" h="2871470">
                  <a:moveTo>
                    <a:pt x="2716530" y="0"/>
                  </a:moveTo>
                  <a:lnTo>
                    <a:pt x="307339" y="0"/>
                  </a:lnTo>
                  <a:lnTo>
                    <a:pt x="261392" y="4456"/>
                  </a:lnTo>
                  <a:lnTo>
                    <a:pt x="216367" y="17211"/>
                  </a:lnTo>
                  <a:lnTo>
                    <a:pt x="173186" y="37341"/>
                  </a:lnTo>
                  <a:lnTo>
                    <a:pt x="132770" y="63926"/>
                  </a:lnTo>
                  <a:lnTo>
                    <a:pt x="96043" y="96043"/>
                  </a:lnTo>
                  <a:lnTo>
                    <a:pt x="63926" y="132770"/>
                  </a:lnTo>
                  <a:lnTo>
                    <a:pt x="37341" y="173186"/>
                  </a:lnTo>
                  <a:lnTo>
                    <a:pt x="17211" y="216367"/>
                  </a:lnTo>
                  <a:lnTo>
                    <a:pt x="4456" y="261392"/>
                  </a:lnTo>
                  <a:lnTo>
                    <a:pt x="0" y="307339"/>
                  </a:lnTo>
                  <a:lnTo>
                    <a:pt x="0" y="2564130"/>
                  </a:lnTo>
                  <a:lnTo>
                    <a:pt x="4456" y="2610077"/>
                  </a:lnTo>
                  <a:lnTo>
                    <a:pt x="17211" y="2655102"/>
                  </a:lnTo>
                  <a:lnTo>
                    <a:pt x="37341" y="2698283"/>
                  </a:lnTo>
                  <a:lnTo>
                    <a:pt x="63926" y="2738699"/>
                  </a:lnTo>
                  <a:lnTo>
                    <a:pt x="96043" y="2775426"/>
                  </a:lnTo>
                  <a:lnTo>
                    <a:pt x="132770" y="2807543"/>
                  </a:lnTo>
                  <a:lnTo>
                    <a:pt x="173186" y="2834128"/>
                  </a:lnTo>
                  <a:lnTo>
                    <a:pt x="216367" y="2854258"/>
                  </a:lnTo>
                  <a:lnTo>
                    <a:pt x="261392" y="2867013"/>
                  </a:lnTo>
                  <a:lnTo>
                    <a:pt x="307339" y="2871470"/>
                  </a:lnTo>
                  <a:lnTo>
                    <a:pt x="2716530" y="2871470"/>
                  </a:lnTo>
                  <a:lnTo>
                    <a:pt x="2762512" y="2867013"/>
                  </a:lnTo>
                  <a:lnTo>
                    <a:pt x="2807634" y="2854258"/>
                  </a:lnTo>
                  <a:lnTo>
                    <a:pt x="2850958" y="2834128"/>
                  </a:lnTo>
                  <a:lnTo>
                    <a:pt x="2891546" y="2807543"/>
                  </a:lnTo>
                  <a:lnTo>
                    <a:pt x="2928461" y="2775426"/>
                  </a:lnTo>
                  <a:lnTo>
                    <a:pt x="2960766" y="2738699"/>
                  </a:lnTo>
                  <a:lnTo>
                    <a:pt x="2987523" y="2698283"/>
                  </a:lnTo>
                  <a:lnTo>
                    <a:pt x="3007796" y="2655102"/>
                  </a:lnTo>
                  <a:lnTo>
                    <a:pt x="3020648" y="2610077"/>
                  </a:lnTo>
                  <a:lnTo>
                    <a:pt x="3025140" y="2564130"/>
                  </a:lnTo>
                  <a:lnTo>
                    <a:pt x="3025140" y="307339"/>
                  </a:lnTo>
                  <a:lnTo>
                    <a:pt x="3020648" y="261392"/>
                  </a:lnTo>
                  <a:lnTo>
                    <a:pt x="3007796" y="216367"/>
                  </a:lnTo>
                  <a:lnTo>
                    <a:pt x="2987523" y="173186"/>
                  </a:lnTo>
                  <a:lnTo>
                    <a:pt x="2960766" y="132770"/>
                  </a:lnTo>
                  <a:lnTo>
                    <a:pt x="2928461" y="96043"/>
                  </a:lnTo>
                  <a:lnTo>
                    <a:pt x="2891546" y="63926"/>
                  </a:lnTo>
                  <a:lnTo>
                    <a:pt x="2850958" y="37341"/>
                  </a:lnTo>
                  <a:lnTo>
                    <a:pt x="2807634" y="17211"/>
                  </a:lnTo>
                  <a:lnTo>
                    <a:pt x="2762512" y="4456"/>
                  </a:lnTo>
                  <a:lnTo>
                    <a:pt x="2716530" y="0"/>
                  </a:lnTo>
                  <a:close/>
                </a:path>
              </a:pathLst>
            </a:custGeom>
            <a:solidFill>
              <a:srgbClr val="FF0000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 sz="1906"/>
            </a:p>
          </p:txBody>
        </p:sp>
        <p:sp>
          <p:nvSpPr>
            <p:cNvPr id="26" name="object 26"/>
            <p:cNvSpPr/>
            <p:nvPr/>
          </p:nvSpPr>
          <p:spPr>
            <a:xfrm>
              <a:off x="3526790" y="2914650"/>
              <a:ext cx="3025140" cy="2871470"/>
            </a:xfrm>
            <a:custGeom>
              <a:avLst/>
              <a:gdLst/>
              <a:ahLst/>
              <a:cxnLst/>
              <a:rect l="l" t="t" r="r" b="b"/>
              <a:pathLst>
                <a:path w="3025140" h="2871470">
                  <a:moveTo>
                    <a:pt x="307339" y="0"/>
                  </a:moveTo>
                  <a:lnTo>
                    <a:pt x="261392" y="4456"/>
                  </a:lnTo>
                  <a:lnTo>
                    <a:pt x="216367" y="17211"/>
                  </a:lnTo>
                  <a:lnTo>
                    <a:pt x="173186" y="37341"/>
                  </a:lnTo>
                  <a:lnTo>
                    <a:pt x="132770" y="63926"/>
                  </a:lnTo>
                  <a:lnTo>
                    <a:pt x="96043" y="96043"/>
                  </a:lnTo>
                  <a:lnTo>
                    <a:pt x="63926" y="132770"/>
                  </a:lnTo>
                  <a:lnTo>
                    <a:pt x="37341" y="173186"/>
                  </a:lnTo>
                  <a:lnTo>
                    <a:pt x="17211" y="216367"/>
                  </a:lnTo>
                  <a:lnTo>
                    <a:pt x="4456" y="261392"/>
                  </a:lnTo>
                  <a:lnTo>
                    <a:pt x="0" y="307339"/>
                  </a:lnTo>
                  <a:lnTo>
                    <a:pt x="0" y="2564130"/>
                  </a:lnTo>
                  <a:lnTo>
                    <a:pt x="4456" y="2610077"/>
                  </a:lnTo>
                  <a:lnTo>
                    <a:pt x="17211" y="2655102"/>
                  </a:lnTo>
                  <a:lnTo>
                    <a:pt x="37341" y="2698283"/>
                  </a:lnTo>
                  <a:lnTo>
                    <a:pt x="63926" y="2738699"/>
                  </a:lnTo>
                  <a:lnTo>
                    <a:pt x="96043" y="2775426"/>
                  </a:lnTo>
                  <a:lnTo>
                    <a:pt x="132770" y="2807543"/>
                  </a:lnTo>
                  <a:lnTo>
                    <a:pt x="173186" y="2834128"/>
                  </a:lnTo>
                  <a:lnTo>
                    <a:pt x="216367" y="2854258"/>
                  </a:lnTo>
                  <a:lnTo>
                    <a:pt x="261392" y="2867013"/>
                  </a:lnTo>
                  <a:lnTo>
                    <a:pt x="307339" y="2871470"/>
                  </a:lnTo>
                  <a:lnTo>
                    <a:pt x="2716530" y="2871470"/>
                  </a:lnTo>
                  <a:lnTo>
                    <a:pt x="2762512" y="2867013"/>
                  </a:lnTo>
                  <a:lnTo>
                    <a:pt x="2807634" y="2854258"/>
                  </a:lnTo>
                  <a:lnTo>
                    <a:pt x="2850958" y="2834128"/>
                  </a:lnTo>
                  <a:lnTo>
                    <a:pt x="2891546" y="2807543"/>
                  </a:lnTo>
                  <a:lnTo>
                    <a:pt x="2928461" y="2775426"/>
                  </a:lnTo>
                  <a:lnTo>
                    <a:pt x="2960766" y="2738699"/>
                  </a:lnTo>
                  <a:lnTo>
                    <a:pt x="2987523" y="2698283"/>
                  </a:lnTo>
                  <a:lnTo>
                    <a:pt x="3007796" y="2655102"/>
                  </a:lnTo>
                  <a:lnTo>
                    <a:pt x="3020648" y="2610077"/>
                  </a:lnTo>
                  <a:lnTo>
                    <a:pt x="3025140" y="2564130"/>
                  </a:lnTo>
                  <a:lnTo>
                    <a:pt x="3025140" y="307339"/>
                  </a:lnTo>
                  <a:lnTo>
                    <a:pt x="3020648" y="261392"/>
                  </a:lnTo>
                  <a:lnTo>
                    <a:pt x="3007796" y="216367"/>
                  </a:lnTo>
                  <a:lnTo>
                    <a:pt x="2987523" y="173186"/>
                  </a:lnTo>
                  <a:lnTo>
                    <a:pt x="2960766" y="132770"/>
                  </a:lnTo>
                  <a:lnTo>
                    <a:pt x="2928461" y="96043"/>
                  </a:lnTo>
                  <a:lnTo>
                    <a:pt x="2891546" y="63926"/>
                  </a:lnTo>
                  <a:lnTo>
                    <a:pt x="2850958" y="37341"/>
                  </a:lnTo>
                  <a:lnTo>
                    <a:pt x="2807634" y="17211"/>
                  </a:lnTo>
                  <a:lnTo>
                    <a:pt x="2762512" y="4456"/>
                  </a:lnTo>
                  <a:lnTo>
                    <a:pt x="2716530" y="0"/>
                  </a:lnTo>
                  <a:lnTo>
                    <a:pt x="307339" y="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906"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271594" y="3978216"/>
            <a:ext cx="3536480" cy="1640198"/>
          </a:xfrm>
          <a:prstGeom prst="rect">
            <a:avLst/>
          </a:prstGeom>
        </p:spPr>
        <p:txBody>
          <a:bodyPr vert="horz" wrap="square" lIns="0" tIns="31120" rIns="0" bIns="0" rtlCol="0">
            <a:spAutoFit/>
          </a:bodyPr>
          <a:lstStyle/>
          <a:p>
            <a:pPr marL="17289" marR="6915">
              <a:lnSpc>
                <a:spcPct val="95700"/>
              </a:lnSpc>
              <a:spcBef>
                <a:spcPts val="245"/>
              </a:spcBef>
            </a:pPr>
            <a:r>
              <a:rPr sz="2178" b="1" spc="-2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Adapta </a:t>
            </a:r>
            <a:r>
              <a:rPr sz="2178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 </a:t>
            </a:r>
            <a:r>
              <a:rPr sz="2178" b="1" spc="-7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oferta </a:t>
            </a:r>
            <a:r>
              <a:rPr sz="2178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 </a:t>
            </a:r>
            <a:r>
              <a:rPr sz="2178" b="1" spc="-7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cada </a:t>
            </a:r>
            <a:r>
              <a:rPr sz="2178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178" b="1" spc="-14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segmento </a:t>
            </a:r>
            <a:r>
              <a:rPr sz="2178" b="1" spc="-7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 mercado, </a:t>
            </a:r>
            <a:r>
              <a:rPr sz="2178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178" b="1" spc="-14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cambiando envase, marca, </a:t>
            </a:r>
            <a:r>
              <a:rPr sz="2178" b="1" spc="-585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178" b="1" spc="-14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atributos,</a:t>
            </a:r>
            <a:r>
              <a:rPr sz="2178" b="1" spc="-7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precios...</a:t>
            </a:r>
            <a:endParaRPr sz="217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271594" y="5565353"/>
            <a:ext cx="3737034" cy="1328971"/>
          </a:xfrm>
          <a:prstGeom prst="rect">
            <a:avLst/>
          </a:prstGeom>
        </p:spPr>
        <p:txBody>
          <a:bodyPr vert="horz" wrap="square" lIns="0" tIns="17289" rIns="0" bIns="0" rtlCol="0">
            <a:spAutoFit/>
          </a:bodyPr>
          <a:lstStyle/>
          <a:p>
            <a:pPr marL="17289">
              <a:lnSpc>
                <a:spcPts val="2559"/>
              </a:lnSpc>
              <a:spcBef>
                <a:spcPts val="136"/>
              </a:spcBef>
            </a:pPr>
            <a:r>
              <a:rPr sz="2178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+</a:t>
            </a:r>
            <a:r>
              <a:rPr sz="2178" b="1" spc="-116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178" b="1" spc="-2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Aumenta</a:t>
            </a:r>
            <a:r>
              <a:rPr sz="2178" b="1" spc="-48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178" b="1" spc="-2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ventas</a:t>
            </a:r>
            <a:endParaRPr sz="2178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289" marR="6915">
              <a:lnSpc>
                <a:spcPct val="95600"/>
              </a:lnSpc>
              <a:spcBef>
                <a:spcPts val="61"/>
              </a:spcBef>
            </a:pPr>
            <a:r>
              <a:rPr sz="2178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 </a:t>
            </a:r>
            <a:r>
              <a:rPr sz="2178" b="1" spc="-2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Aumentan </a:t>
            </a:r>
            <a:r>
              <a:rPr sz="2178" b="1" spc="-7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costes de </a:t>
            </a:r>
            <a:r>
              <a:rPr sz="2178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178" b="1" spc="-14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produccción</a:t>
            </a:r>
            <a:r>
              <a:rPr sz="2178" b="1" spc="-34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178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y</a:t>
            </a:r>
            <a:r>
              <a:rPr sz="2178" b="1" spc="-88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178" b="1" spc="-7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comercializa- </a:t>
            </a:r>
            <a:r>
              <a:rPr sz="2178" b="1" spc="-585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178" b="1" spc="-7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ción</a:t>
            </a:r>
            <a:endParaRPr sz="217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1508035" y="3857572"/>
            <a:ext cx="4116529" cy="3971301"/>
            <a:chOff x="6736080" y="2914650"/>
            <a:chExt cx="3023870" cy="2917190"/>
          </a:xfrm>
        </p:grpSpPr>
        <p:sp>
          <p:nvSpPr>
            <p:cNvPr id="30" name="object 30"/>
            <p:cNvSpPr/>
            <p:nvPr/>
          </p:nvSpPr>
          <p:spPr>
            <a:xfrm>
              <a:off x="6736080" y="2914650"/>
              <a:ext cx="3023870" cy="2917190"/>
            </a:xfrm>
            <a:custGeom>
              <a:avLst/>
              <a:gdLst/>
              <a:ahLst/>
              <a:cxnLst/>
              <a:rect l="l" t="t" r="r" b="b"/>
              <a:pathLst>
                <a:path w="3023870" h="2917190">
                  <a:moveTo>
                    <a:pt x="2771140" y="0"/>
                  </a:moveTo>
                  <a:lnTo>
                    <a:pt x="252729" y="0"/>
                  </a:lnTo>
                  <a:lnTo>
                    <a:pt x="205407" y="5648"/>
                  </a:lnTo>
                  <a:lnTo>
                    <a:pt x="159662" y="21609"/>
                  </a:lnTo>
                  <a:lnTo>
                    <a:pt x="116954" y="46412"/>
                  </a:lnTo>
                  <a:lnTo>
                    <a:pt x="78740" y="78581"/>
                  </a:lnTo>
                  <a:lnTo>
                    <a:pt x="46479" y="116644"/>
                  </a:lnTo>
                  <a:lnTo>
                    <a:pt x="21629" y="159127"/>
                  </a:lnTo>
                  <a:lnTo>
                    <a:pt x="5650" y="204556"/>
                  </a:lnTo>
                  <a:lnTo>
                    <a:pt x="0" y="251460"/>
                  </a:lnTo>
                  <a:lnTo>
                    <a:pt x="0" y="2664460"/>
                  </a:lnTo>
                  <a:lnTo>
                    <a:pt x="5650" y="2711417"/>
                  </a:lnTo>
                  <a:lnTo>
                    <a:pt x="21629" y="2756991"/>
                  </a:lnTo>
                  <a:lnTo>
                    <a:pt x="46479" y="2799677"/>
                  </a:lnTo>
                  <a:lnTo>
                    <a:pt x="78739" y="2837973"/>
                  </a:lnTo>
                  <a:lnTo>
                    <a:pt x="116954" y="2870376"/>
                  </a:lnTo>
                  <a:lnTo>
                    <a:pt x="159662" y="2895381"/>
                  </a:lnTo>
                  <a:lnTo>
                    <a:pt x="205407" y="2911487"/>
                  </a:lnTo>
                  <a:lnTo>
                    <a:pt x="252729" y="2917190"/>
                  </a:lnTo>
                  <a:lnTo>
                    <a:pt x="2771140" y="2917190"/>
                  </a:lnTo>
                  <a:lnTo>
                    <a:pt x="2818462" y="2911487"/>
                  </a:lnTo>
                  <a:lnTo>
                    <a:pt x="2864207" y="2895381"/>
                  </a:lnTo>
                  <a:lnTo>
                    <a:pt x="2906915" y="2870376"/>
                  </a:lnTo>
                  <a:lnTo>
                    <a:pt x="2945129" y="2837973"/>
                  </a:lnTo>
                  <a:lnTo>
                    <a:pt x="2977390" y="2799677"/>
                  </a:lnTo>
                  <a:lnTo>
                    <a:pt x="3002240" y="2756991"/>
                  </a:lnTo>
                  <a:lnTo>
                    <a:pt x="3018219" y="2711417"/>
                  </a:lnTo>
                  <a:lnTo>
                    <a:pt x="3023870" y="2664460"/>
                  </a:lnTo>
                  <a:lnTo>
                    <a:pt x="3023870" y="251460"/>
                  </a:lnTo>
                  <a:lnTo>
                    <a:pt x="3018219" y="204556"/>
                  </a:lnTo>
                  <a:lnTo>
                    <a:pt x="3002240" y="159127"/>
                  </a:lnTo>
                  <a:lnTo>
                    <a:pt x="2977390" y="116644"/>
                  </a:lnTo>
                  <a:lnTo>
                    <a:pt x="2945130" y="78581"/>
                  </a:lnTo>
                  <a:lnTo>
                    <a:pt x="2906915" y="46412"/>
                  </a:lnTo>
                  <a:lnTo>
                    <a:pt x="2864207" y="21609"/>
                  </a:lnTo>
                  <a:lnTo>
                    <a:pt x="2818462" y="5648"/>
                  </a:lnTo>
                  <a:lnTo>
                    <a:pt x="2771140" y="0"/>
                  </a:lnTo>
                  <a:close/>
                </a:path>
              </a:pathLst>
            </a:custGeom>
            <a:solidFill>
              <a:srgbClr val="9999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 sz="1906"/>
            </a:p>
          </p:txBody>
        </p:sp>
        <p:sp>
          <p:nvSpPr>
            <p:cNvPr id="31" name="object 31"/>
            <p:cNvSpPr/>
            <p:nvPr/>
          </p:nvSpPr>
          <p:spPr>
            <a:xfrm>
              <a:off x="6736080" y="2914650"/>
              <a:ext cx="3023870" cy="2917190"/>
            </a:xfrm>
            <a:custGeom>
              <a:avLst/>
              <a:gdLst/>
              <a:ahLst/>
              <a:cxnLst/>
              <a:rect l="l" t="t" r="r" b="b"/>
              <a:pathLst>
                <a:path w="3023870" h="2917190">
                  <a:moveTo>
                    <a:pt x="252729" y="0"/>
                  </a:moveTo>
                  <a:lnTo>
                    <a:pt x="205407" y="5648"/>
                  </a:lnTo>
                  <a:lnTo>
                    <a:pt x="159662" y="21609"/>
                  </a:lnTo>
                  <a:lnTo>
                    <a:pt x="116954" y="46412"/>
                  </a:lnTo>
                  <a:lnTo>
                    <a:pt x="78740" y="78581"/>
                  </a:lnTo>
                  <a:lnTo>
                    <a:pt x="46479" y="116644"/>
                  </a:lnTo>
                  <a:lnTo>
                    <a:pt x="21629" y="159127"/>
                  </a:lnTo>
                  <a:lnTo>
                    <a:pt x="5650" y="204556"/>
                  </a:lnTo>
                  <a:lnTo>
                    <a:pt x="0" y="251460"/>
                  </a:lnTo>
                  <a:lnTo>
                    <a:pt x="0" y="2664460"/>
                  </a:lnTo>
                  <a:lnTo>
                    <a:pt x="5650" y="2711417"/>
                  </a:lnTo>
                  <a:lnTo>
                    <a:pt x="21629" y="2756991"/>
                  </a:lnTo>
                  <a:lnTo>
                    <a:pt x="46479" y="2799677"/>
                  </a:lnTo>
                  <a:lnTo>
                    <a:pt x="78739" y="2837973"/>
                  </a:lnTo>
                  <a:lnTo>
                    <a:pt x="116954" y="2870376"/>
                  </a:lnTo>
                  <a:lnTo>
                    <a:pt x="159662" y="2895381"/>
                  </a:lnTo>
                  <a:lnTo>
                    <a:pt x="205407" y="2911487"/>
                  </a:lnTo>
                  <a:lnTo>
                    <a:pt x="252729" y="2917190"/>
                  </a:lnTo>
                  <a:lnTo>
                    <a:pt x="2771140" y="2917190"/>
                  </a:lnTo>
                  <a:lnTo>
                    <a:pt x="2818462" y="2911487"/>
                  </a:lnTo>
                  <a:lnTo>
                    <a:pt x="2864207" y="2895381"/>
                  </a:lnTo>
                  <a:lnTo>
                    <a:pt x="2906915" y="2870376"/>
                  </a:lnTo>
                  <a:lnTo>
                    <a:pt x="2945129" y="2837973"/>
                  </a:lnTo>
                  <a:lnTo>
                    <a:pt x="2977390" y="2799677"/>
                  </a:lnTo>
                  <a:lnTo>
                    <a:pt x="3002240" y="2756991"/>
                  </a:lnTo>
                  <a:lnTo>
                    <a:pt x="3018219" y="2711417"/>
                  </a:lnTo>
                  <a:lnTo>
                    <a:pt x="3023870" y="2664460"/>
                  </a:lnTo>
                  <a:lnTo>
                    <a:pt x="3023870" y="251460"/>
                  </a:lnTo>
                  <a:lnTo>
                    <a:pt x="3018219" y="204556"/>
                  </a:lnTo>
                  <a:lnTo>
                    <a:pt x="3002240" y="159127"/>
                  </a:lnTo>
                  <a:lnTo>
                    <a:pt x="2977390" y="116644"/>
                  </a:lnTo>
                  <a:lnTo>
                    <a:pt x="2945130" y="78581"/>
                  </a:lnTo>
                  <a:lnTo>
                    <a:pt x="2906915" y="46412"/>
                  </a:lnTo>
                  <a:lnTo>
                    <a:pt x="2864207" y="21609"/>
                  </a:lnTo>
                  <a:lnTo>
                    <a:pt x="2818462" y="5648"/>
                  </a:lnTo>
                  <a:lnTo>
                    <a:pt x="2771140" y="0"/>
                  </a:lnTo>
                  <a:lnTo>
                    <a:pt x="252729" y="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906"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1467652" y="4009335"/>
            <a:ext cx="4080222" cy="1001082"/>
          </a:xfrm>
          <a:prstGeom prst="rect">
            <a:avLst/>
          </a:prstGeom>
        </p:spPr>
        <p:txBody>
          <a:bodyPr vert="horz" wrap="square" lIns="0" tIns="38900" rIns="0" bIns="0" rtlCol="0">
            <a:spAutoFit/>
          </a:bodyPr>
          <a:lstStyle/>
          <a:p>
            <a:pPr marL="17289" marR="6915">
              <a:lnSpc>
                <a:spcPts val="2503"/>
              </a:lnSpc>
              <a:spcBef>
                <a:spcPts val="306"/>
              </a:spcBef>
            </a:pPr>
            <a:r>
              <a:rPr sz="2178" b="1" dirty="0">
                <a:latin typeface="Poppins" panose="00000500000000000000" pitchFamily="2" charset="0"/>
                <a:cs typeface="Poppins" panose="00000500000000000000" pitchFamily="2" charset="0"/>
              </a:rPr>
              <a:t>Se </a:t>
            </a:r>
            <a:r>
              <a:rPr sz="2178" b="1" spc="-7" dirty="0">
                <a:latin typeface="Poppins" panose="00000500000000000000" pitchFamily="2" charset="0"/>
                <a:cs typeface="Poppins" panose="00000500000000000000" pitchFamily="2" charset="0"/>
              </a:rPr>
              <a:t>dirige </a:t>
            </a:r>
            <a:r>
              <a:rPr sz="2178" b="1" dirty="0">
                <a:latin typeface="Poppins" panose="00000500000000000000" pitchFamily="2" charset="0"/>
                <a:cs typeface="Poppins" panose="00000500000000000000" pitchFamily="2" charset="0"/>
              </a:rPr>
              <a:t>a </a:t>
            </a:r>
            <a:r>
              <a:rPr sz="2178" b="1" spc="-7" dirty="0">
                <a:latin typeface="Poppins" panose="00000500000000000000" pitchFamily="2" charset="0"/>
                <a:cs typeface="Poppins" panose="00000500000000000000" pitchFamily="2" charset="0"/>
              </a:rPr>
              <a:t>un sólo </a:t>
            </a:r>
            <a:r>
              <a:rPr sz="2178" b="1" spc="-14" dirty="0">
                <a:latin typeface="Poppins" panose="00000500000000000000" pitchFamily="2" charset="0"/>
                <a:cs typeface="Poppins" panose="00000500000000000000" pitchFamily="2" charset="0"/>
              </a:rPr>
              <a:t>segmento </a:t>
            </a:r>
            <a:r>
              <a:rPr sz="2178" b="1" spc="-7" dirty="0">
                <a:latin typeface="Poppins" panose="00000500000000000000" pitchFamily="2" charset="0"/>
                <a:cs typeface="Poppins" panose="00000500000000000000" pitchFamily="2" charset="0"/>
              </a:rPr>
              <a:t> de</a:t>
            </a:r>
            <a:r>
              <a:rPr sz="2178" b="1" spc="-75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178" b="1" spc="-7" dirty="0">
                <a:latin typeface="Poppins" panose="00000500000000000000" pitchFamily="2" charset="0"/>
                <a:cs typeface="Poppins" panose="00000500000000000000" pitchFamily="2" charset="0"/>
              </a:rPr>
              <a:t>mercado,</a:t>
            </a:r>
            <a:r>
              <a:rPr sz="2178" b="1" spc="-68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178" b="1" spc="-7" dirty="0">
                <a:latin typeface="Poppins" panose="00000500000000000000" pitchFamily="2" charset="0"/>
                <a:cs typeface="Poppins" panose="00000500000000000000" pitchFamily="2" charset="0"/>
              </a:rPr>
              <a:t>especializándose</a:t>
            </a:r>
            <a:r>
              <a:rPr sz="2178" b="1" spc="-7" dirty="0"/>
              <a:t>.</a:t>
            </a:r>
            <a:endParaRPr sz="2178" dirty="0"/>
          </a:p>
        </p:txBody>
      </p:sp>
      <p:sp>
        <p:nvSpPr>
          <p:cNvPr id="33" name="object 33"/>
          <p:cNvSpPr txBox="1"/>
          <p:nvPr/>
        </p:nvSpPr>
        <p:spPr>
          <a:xfrm>
            <a:off x="11467652" y="4961965"/>
            <a:ext cx="3903009" cy="1321682"/>
          </a:xfrm>
          <a:prstGeom prst="rect">
            <a:avLst/>
          </a:prstGeom>
        </p:spPr>
        <p:txBody>
          <a:bodyPr vert="horz" wrap="square" lIns="0" tIns="38900" rIns="0" bIns="0" rtlCol="0">
            <a:spAutoFit/>
          </a:bodyPr>
          <a:lstStyle/>
          <a:p>
            <a:pPr marL="17289" marR="6915">
              <a:lnSpc>
                <a:spcPts val="2503"/>
              </a:lnSpc>
              <a:spcBef>
                <a:spcPts val="306"/>
              </a:spcBef>
            </a:pPr>
            <a:r>
              <a:rPr sz="2178" b="1" dirty="0">
                <a:latin typeface="Poppins" panose="00000500000000000000" pitchFamily="2" charset="0"/>
                <a:cs typeface="Poppins" panose="00000500000000000000" pitchFamily="2" charset="0"/>
              </a:rPr>
              <a:t>+</a:t>
            </a:r>
            <a:r>
              <a:rPr sz="2178" b="1" spc="-27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178" b="1" spc="-14" dirty="0">
                <a:latin typeface="Poppins" panose="00000500000000000000" pitchFamily="2" charset="0"/>
                <a:cs typeface="Poppins" panose="00000500000000000000" pitchFamily="2" charset="0"/>
              </a:rPr>
              <a:t>Fuerte</a:t>
            </a:r>
            <a:r>
              <a:rPr sz="2178" b="1" spc="-27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178" b="1" spc="-7" dirty="0">
                <a:latin typeface="Poppins" panose="00000500000000000000" pitchFamily="2" charset="0"/>
                <a:cs typeface="Poppins" panose="00000500000000000000" pitchFamily="2" charset="0"/>
              </a:rPr>
              <a:t>posición</a:t>
            </a:r>
            <a:r>
              <a:rPr sz="2178" b="1" spc="-2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178" b="1" spc="-7" dirty="0">
                <a:latin typeface="Poppins" panose="00000500000000000000" pitchFamily="2" charset="0"/>
                <a:cs typeface="Poppins" panose="00000500000000000000" pitchFamily="2" charset="0"/>
              </a:rPr>
              <a:t>en</a:t>
            </a:r>
            <a:r>
              <a:rPr sz="2178" b="1" spc="-4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178" b="1" spc="-7" dirty="0">
                <a:latin typeface="Poppins" panose="00000500000000000000" pitchFamily="2" charset="0"/>
                <a:cs typeface="Poppins" panose="00000500000000000000" pitchFamily="2" charset="0"/>
              </a:rPr>
              <a:t>ese</a:t>
            </a:r>
            <a:r>
              <a:rPr sz="2178" b="1" spc="-2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178" b="1" spc="-7" dirty="0">
                <a:latin typeface="Poppins" panose="00000500000000000000" pitchFamily="2" charset="0"/>
                <a:cs typeface="Poppins" panose="00000500000000000000" pitchFamily="2" charset="0"/>
              </a:rPr>
              <a:t>seg- </a:t>
            </a:r>
            <a:r>
              <a:rPr sz="2178" b="1" spc="-585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178" b="1" spc="-14" dirty="0">
                <a:latin typeface="Poppins" panose="00000500000000000000" pitchFamily="2" charset="0"/>
                <a:cs typeface="Poppins" panose="00000500000000000000" pitchFamily="2" charset="0"/>
              </a:rPr>
              <a:t>mento</a:t>
            </a:r>
            <a:endParaRPr sz="2178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289">
              <a:lnSpc>
                <a:spcPts val="2367"/>
              </a:lnSpc>
            </a:pPr>
            <a:r>
              <a:rPr sz="2178" b="1" dirty="0">
                <a:latin typeface="Poppins" panose="00000500000000000000" pitchFamily="2" charset="0"/>
                <a:cs typeface="Poppins" panose="00000500000000000000" pitchFamily="2" charset="0"/>
              </a:rPr>
              <a:t>-</a:t>
            </a:r>
            <a:r>
              <a:rPr sz="2178" b="1" spc="-27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178" b="1" spc="-14" dirty="0">
                <a:latin typeface="Poppins" panose="00000500000000000000" pitchFamily="2" charset="0"/>
                <a:cs typeface="Poppins" panose="00000500000000000000" pitchFamily="2" charset="0"/>
              </a:rPr>
              <a:t>Riesgo </a:t>
            </a:r>
            <a:r>
              <a:rPr sz="2178" b="1" spc="-7" dirty="0">
                <a:latin typeface="Poppins" panose="00000500000000000000" pitchFamily="2" charset="0"/>
                <a:cs typeface="Poppins" panose="00000500000000000000" pitchFamily="2" charset="0"/>
              </a:rPr>
              <a:t>(crisis</a:t>
            </a:r>
            <a:r>
              <a:rPr sz="2178" b="1" spc="-27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178" b="1" spc="-14" dirty="0">
                <a:latin typeface="Poppins" panose="00000500000000000000" pitchFamily="2" charset="0"/>
                <a:cs typeface="Poppins" panose="00000500000000000000" pitchFamily="2" charset="0"/>
              </a:rPr>
              <a:t>segmen</a:t>
            </a:r>
            <a:r>
              <a:rPr sz="2178" b="1" spc="-14" dirty="0"/>
              <a:t>to,</a:t>
            </a:r>
            <a:endParaRPr sz="2178" dirty="0"/>
          </a:p>
          <a:p>
            <a:pPr marL="17289">
              <a:lnSpc>
                <a:spcPts val="2559"/>
              </a:lnSpc>
            </a:pPr>
            <a:r>
              <a:rPr sz="2178" b="1" spc="-20" dirty="0"/>
              <a:t>nueva</a:t>
            </a:r>
            <a:r>
              <a:rPr sz="2178" b="1" spc="-41" dirty="0"/>
              <a:t> </a:t>
            </a:r>
            <a:r>
              <a:rPr sz="2178" b="1" spc="-14" dirty="0"/>
              <a:t>competencia)</a:t>
            </a:r>
            <a:endParaRPr sz="2178" dirty="0"/>
          </a:p>
        </p:txBody>
      </p:sp>
      <p:pic>
        <p:nvPicPr>
          <p:cNvPr id="34" name="object 3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53059" y="6904613"/>
            <a:ext cx="1763486" cy="992393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19380" y="5779131"/>
            <a:ext cx="1194675" cy="1360649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2950" y="6527042"/>
            <a:ext cx="1761755" cy="1028700"/>
          </a:xfrm>
          <a:prstGeom prst="rect">
            <a:avLst/>
          </a:prstGeom>
        </p:spPr>
      </p:pic>
      <p:sp>
        <p:nvSpPr>
          <p:cNvPr id="37" name="object 37"/>
          <p:cNvSpPr/>
          <p:nvPr/>
        </p:nvSpPr>
        <p:spPr>
          <a:xfrm>
            <a:off x="2769516" y="178077"/>
            <a:ext cx="12645230" cy="900761"/>
          </a:xfrm>
          <a:custGeom>
            <a:avLst/>
            <a:gdLst/>
            <a:ahLst/>
            <a:cxnLst/>
            <a:rect l="l" t="t" r="r" b="b"/>
            <a:pathLst>
              <a:path w="9288780" h="661670">
                <a:moveTo>
                  <a:pt x="9288780" y="0"/>
                </a:moveTo>
                <a:lnTo>
                  <a:pt x="0" y="0"/>
                </a:lnTo>
                <a:lnTo>
                  <a:pt x="0" y="661670"/>
                </a:lnTo>
                <a:lnTo>
                  <a:pt x="4644390" y="661670"/>
                </a:lnTo>
                <a:lnTo>
                  <a:pt x="9288780" y="661670"/>
                </a:lnTo>
                <a:lnTo>
                  <a:pt x="9288780" y="0"/>
                </a:lnTo>
                <a:close/>
              </a:path>
            </a:pathLst>
          </a:custGeom>
          <a:solidFill>
            <a:srgbClr val="BFBFBF">
              <a:alpha val="79998"/>
            </a:srgbClr>
          </a:solidFill>
        </p:spPr>
        <p:txBody>
          <a:bodyPr wrap="square" lIns="0" tIns="0" rIns="0" bIns="0" rtlCol="0"/>
          <a:lstStyle/>
          <a:p>
            <a:endParaRPr sz="1906"/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2769516" y="180287"/>
            <a:ext cx="12645230" cy="833562"/>
          </a:xfrm>
          <a:prstGeom prst="rect">
            <a:avLst/>
          </a:prstGeom>
          <a:ln w="3175">
            <a:solidFill>
              <a:srgbClr val="7F7F7F"/>
            </a:solidFill>
          </a:ln>
        </p:spPr>
        <p:txBody>
          <a:bodyPr spcFirstLastPara="1" vert="horz" wrap="square" lIns="0" tIns="0" rIns="0" bIns="0" rtlCol="0" anchor="ctr" anchorCtr="0">
            <a:spAutoFit/>
          </a:bodyPr>
          <a:lstStyle/>
          <a:p>
            <a:pPr>
              <a:lnSpc>
                <a:spcPts val="6507"/>
              </a:lnSpc>
            </a:pPr>
            <a:r>
              <a:rPr sz="5445" spc="-7" dirty="0">
                <a:solidFill>
                  <a:srgbClr val="00007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Estrategias</a:t>
            </a:r>
            <a:r>
              <a:rPr sz="5445" spc="-48" dirty="0">
                <a:solidFill>
                  <a:srgbClr val="00007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5445" spc="-7" dirty="0">
                <a:solidFill>
                  <a:srgbClr val="00007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</a:t>
            </a:r>
            <a:r>
              <a:rPr sz="5445" spc="-34" dirty="0">
                <a:solidFill>
                  <a:srgbClr val="00007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5445" spc="-14" dirty="0">
                <a:solidFill>
                  <a:srgbClr val="00007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segmentación</a:t>
            </a:r>
            <a:endParaRPr sz="5445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5070694" y="9981405"/>
            <a:ext cx="243776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83"/>
              </a:lnSpc>
            </a:pPr>
            <a:r>
              <a:rPr sz="1906" spc="7" dirty="0">
                <a:latin typeface="Times New Roman"/>
                <a:cs typeface="Times New Roman"/>
              </a:rPr>
              <a:t>1</a:t>
            </a:r>
            <a:r>
              <a:rPr sz="1906" dirty="0">
                <a:latin typeface="Times New Roman"/>
                <a:cs typeface="Times New Roman"/>
              </a:rPr>
              <a:t>0</a:t>
            </a:r>
            <a:endParaRPr sz="1906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>
    <p:dissolv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F3B49B6E-A41A-74DF-119F-9911CAA70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2471" y="498303"/>
            <a:ext cx="1127858" cy="103031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936C075-8A7F-609F-210F-0F0DC8CC3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855" y="8971431"/>
            <a:ext cx="4529721" cy="108518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E6C05F2-F65A-DE63-98C7-0FEBB2AED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19426" y="8971431"/>
            <a:ext cx="4499238" cy="1085182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2EB25712-3E11-2D26-FD5A-1DC4FBEE837A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b="8178"/>
          <a:stretch/>
        </p:blipFill>
        <p:spPr>
          <a:xfrm>
            <a:off x="3203421" y="0"/>
            <a:ext cx="12938788" cy="8925884"/>
          </a:xfrm>
          <a:prstGeom prst="rect">
            <a:avLst/>
          </a:prstGeom>
        </p:spPr>
      </p:pic>
      <p:pic>
        <p:nvPicPr>
          <p:cNvPr id="6146" name="Picture 2" descr="Competencia directa. Definición, características y ejemplos">
            <a:extLst>
              <a:ext uri="{FF2B5EF4-FFF2-40B4-BE49-F238E27FC236}">
                <a16:creationId xmlns:a16="http://schemas.microsoft.com/office/drawing/2014/main" id="{F0F1047C-391C-20F9-0539-4C318C81B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841" y="267453"/>
            <a:ext cx="3783365" cy="2277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9649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F3B49B6E-A41A-74DF-119F-9911CAA70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6284" y="498302"/>
            <a:ext cx="1127858" cy="103031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936C075-8A7F-609F-210F-0F0DC8CC3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668" y="8971431"/>
            <a:ext cx="4529721" cy="108518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E6C05F2-F65A-DE63-98C7-0FEBB2AED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19426" y="8971431"/>
            <a:ext cx="4499238" cy="108518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641C864-AF4D-97DC-A788-80621B780EC6}"/>
              </a:ext>
            </a:extLst>
          </p:cNvPr>
          <p:cNvSpPr txBox="1"/>
          <p:nvPr/>
        </p:nvSpPr>
        <p:spPr>
          <a:xfrm>
            <a:off x="79775" y="367128"/>
            <a:ext cx="168366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000000"/>
              </a:buClr>
              <a:buSzPts val="1050"/>
              <a:buFont typeface="Arial"/>
              <a:buNone/>
              <a:tabLst/>
              <a:defRPr/>
            </a:pPr>
            <a:r>
              <a:rPr kumimoji="0" lang="es-E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Lucida Sans Unicode" panose="020B0602030504020204" pitchFamily="34" charset="0"/>
                <a:cs typeface="Poppins" panose="00000500000000000000" pitchFamily="2" charset="0"/>
                <a:sym typeface="Arial"/>
              </a:rPr>
              <a:t>3. MARKETING MIX: PRODUCTO, PRECIO, PROMOCIÓN Y DISTRIBUCIÓN.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0B3344B-9189-4913-1262-146669EBDB5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428" t="2273" r="1428" b="6816"/>
          <a:stretch/>
        </p:blipFill>
        <p:spPr>
          <a:xfrm>
            <a:off x="4902389" y="1013459"/>
            <a:ext cx="10886153" cy="7774178"/>
          </a:xfrm>
          <a:prstGeom prst="rect">
            <a:avLst/>
          </a:prstGeom>
        </p:spPr>
      </p:pic>
      <p:pic>
        <p:nvPicPr>
          <p:cNvPr id="7170" name="Picture 2" descr="El Marketing Mix y las 4P (y 7P) del marketing | UNIR">
            <a:extLst>
              <a:ext uri="{FF2B5EF4-FFF2-40B4-BE49-F238E27FC236}">
                <a16:creationId xmlns:a16="http://schemas.microsoft.com/office/drawing/2014/main" id="{1C8FFD45-3B4B-62C7-7E9A-5473D0E99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855" y="3222458"/>
            <a:ext cx="4529721" cy="2536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6291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63223" y="3358269"/>
            <a:ext cx="4464039" cy="2660251"/>
            <a:chOff x="248920" y="2592070"/>
            <a:chExt cx="3279140" cy="1951922"/>
          </a:xfrm>
        </p:grpSpPr>
        <p:sp>
          <p:nvSpPr>
            <p:cNvPr id="4" name="object 4"/>
            <p:cNvSpPr/>
            <p:nvPr/>
          </p:nvSpPr>
          <p:spPr>
            <a:xfrm>
              <a:off x="248920" y="2635182"/>
              <a:ext cx="3279140" cy="1908810"/>
            </a:xfrm>
            <a:custGeom>
              <a:avLst/>
              <a:gdLst/>
              <a:ahLst/>
              <a:cxnLst/>
              <a:rect l="l" t="t" r="r" b="b"/>
              <a:pathLst>
                <a:path w="3279140" h="1908810">
                  <a:moveTo>
                    <a:pt x="2960370" y="0"/>
                  </a:moveTo>
                  <a:lnTo>
                    <a:pt x="318770" y="0"/>
                  </a:lnTo>
                  <a:lnTo>
                    <a:pt x="275277" y="3816"/>
                  </a:lnTo>
                  <a:lnTo>
                    <a:pt x="232558" y="14789"/>
                  </a:lnTo>
                  <a:lnTo>
                    <a:pt x="191322" y="32203"/>
                  </a:lnTo>
                  <a:lnTo>
                    <a:pt x="152278" y="55341"/>
                  </a:lnTo>
                  <a:lnTo>
                    <a:pt x="116137" y="83489"/>
                  </a:lnTo>
                  <a:lnTo>
                    <a:pt x="83609" y="115931"/>
                  </a:lnTo>
                  <a:lnTo>
                    <a:pt x="55402" y="151951"/>
                  </a:lnTo>
                  <a:lnTo>
                    <a:pt x="32228" y="190833"/>
                  </a:lnTo>
                  <a:lnTo>
                    <a:pt x="14797" y="231863"/>
                  </a:lnTo>
                  <a:lnTo>
                    <a:pt x="3817" y="274323"/>
                  </a:lnTo>
                  <a:lnTo>
                    <a:pt x="0" y="317500"/>
                  </a:lnTo>
                  <a:lnTo>
                    <a:pt x="0" y="1590039"/>
                  </a:lnTo>
                  <a:lnTo>
                    <a:pt x="3817" y="1633245"/>
                  </a:lnTo>
                  <a:lnTo>
                    <a:pt x="14797" y="1675787"/>
                  </a:lnTo>
                  <a:lnTo>
                    <a:pt x="32228" y="1716937"/>
                  </a:lnTo>
                  <a:lnTo>
                    <a:pt x="55402" y="1755970"/>
                  </a:lnTo>
                  <a:lnTo>
                    <a:pt x="83609" y="1792157"/>
                  </a:lnTo>
                  <a:lnTo>
                    <a:pt x="116137" y="1824771"/>
                  </a:lnTo>
                  <a:lnTo>
                    <a:pt x="152278" y="1853086"/>
                  </a:lnTo>
                  <a:lnTo>
                    <a:pt x="191322" y="1876374"/>
                  </a:lnTo>
                  <a:lnTo>
                    <a:pt x="232558" y="1893909"/>
                  </a:lnTo>
                  <a:lnTo>
                    <a:pt x="275277" y="1904963"/>
                  </a:lnTo>
                  <a:lnTo>
                    <a:pt x="318770" y="1908809"/>
                  </a:lnTo>
                  <a:lnTo>
                    <a:pt x="2960370" y="1908809"/>
                  </a:lnTo>
                  <a:lnTo>
                    <a:pt x="3003575" y="1904963"/>
                  </a:lnTo>
                  <a:lnTo>
                    <a:pt x="3046117" y="1893909"/>
                  </a:lnTo>
                  <a:lnTo>
                    <a:pt x="3087267" y="1876374"/>
                  </a:lnTo>
                  <a:lnTo>
                    <a:pt x="3126300" y="1853086"/>
                  </a:lnTo>
                  <a:lnTo>
                    <a:pt x="3162487" y="1824771"/>
                  </a:lnTo>
                  <a:lnTo>
                    <a:pt x="3195101" y="1792157"/>
                  </a:lnTo>
                  <a:lnTo>
                    <a:pt x="3223416" y="1755970"/>
                  </a:lnTo>
                  <a:lnTo>
                    <a:pt x="3246704" y="1716937"/>
                  </a:lnTo>
                  <a:lnTo>
                    <a:pt x="3264239" y="1675787"/>
                  </a:lnTo>
                  <a:lnTo>
                    <a:pt x="3275293" y="1633245"/>
                  </a:lnTo>
                  <a:lnTo>
                    <a:pt x="3279140" y="1590039"/>
                  </a:lnTo>
                  <a:lnTo>
                    <a:pt x="3279140" y="317500"/>
                  </a:lnTo>
                  <a:lnTo>
                    <a:pt x="3275293" y="274323"/>
                  </a:lnTo>
                  <a:lnTo>
                    <a:pt x="3264239" y="231863"/>
                  </a:lnTo>
                  <a:lnTo>
                    <a:pt x="3246704" y="190833"/>
                  </a:lnTo>
                  <a:lnTo>
                    <a:pt x="3223416" y="151951"/>
                  </a:lnTo>
                  <a:lnTo>
                    <a:pt x="3195101" y="115931"/>
                  </a:lnTo>
                  <a:lnTo>
                    <a:pt x="3162487" y="83489"/>
                  </a:lnTo>
                  <a:lnTo>
                    <a:pt x="3126300" y="55341"/>
                  </a:lnTo>
                  <a:lnTo>
                    <a:pt x="3087267" y="32203"/>
                  </a:lnTo>
                  <a:lnTo>
                    <a:pt x="3046117" y="14789"/>
                  </a:lnTo>
                  <a:lnTo>
                    <a:pt x="3003575" y="3816"/>
                  </a:lnTo>
                  <a:lnTo>
                    <a:pt x="2960370" y="0"/>
                  </a:lnTo>
                  <a:close/>
                </a:path>
              </a:pathLst>
            </a:custGeom>
            <a:solidFill>
              <a:schemeClr val="accent2">
                <a:alpha val="79998"/>
              </a:schemeClr>
            </a:solidFill>
          </p:spPr>
          <p:txBody>
            <a:bodyPr wrap="square" lIns="0" tIns="0" rIns="0" bIns="0" rtlCol="0"/>
            <a:lstStyle/>
            <a:p>
              <a:pPr defTabSz="1244773">
                <a:buClrTx/>
              </a:pPr>
              <a:endParaRPr sz="245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248920" y="2592070"/>
              <a:ext cx="3279140" cy="1908810"/>
            </a:xfrm>
            <a:custGeom>
              <a:avLst/>
              <a:gdLst/>
              <a:ahLst/>
              <a:cxnLst/>
              <a:rect l="l" t="t" r="r" b="b"/>
              <a:pathLst>
                <a:path w="3279140" h="1908810">
                  <a:moveTo>
                    <a:pt x="318770" y="0"/>
                  </a:moveTo>
                  <a:lnTo>
                    <a:pt x="275277" y="3816"/>
                  </a:lnTo>
                  <a:lnTo>
                    <a:pt x="232558" y="14789"/>
                  </a:lnTo>
                  <a:lnTo>
                    <a:pt x="191322" y="32203"/>
                  </a:lnTo>
                  <a:lnTo>
                    <a:pt x="152278" y="55341"/>
                  </a:lnTo>
                  <a:lnTo>
                    <a:pt x="116137" y="83489"/>
                  </a:lnTo>
                  <a:lnTo>
                    <a:pt x="83609" y="115931"/>
                  </a:lnTo>
                  <a:lnTo>
                    <a:pt x="55402" y="151951"/>
                  </a:lnTo>
                  <a:lnTo>
                    <a:pt x="32228" y="190833"/>
                  </a:lnTo>
                  <a:lnTo>
                    <a:pt x="14797" y="231863"/>
                  </a:lnTo>
                  <a:lnTo>
                    <a:pt x="3817" y="274323"/>
                  </a:lnTo>
                  <a:lnTo>
                    <a:pt x="0" y="317500"/>
                  </a:lnTo>
                  <a:lnTo>
                    <a:pt x="0" y="1590039"/>
                  </a:lnTo>
                  <a:lnTo>
                    <a:pt x="3817" y="1633245"/>
                  </a:lnTo>
                  <a:lnTo>
                    <a:pt x="14797" y="1675787"/>
                  </a:lnTo>
                  <a:lnTo>
                    <a:pt x="32228" y="1716937"/>
                  </a:lnTo>
                  <a:lnTo>
                    <a:pt x="55402" y="1755970"/>
                  </a:lnTo>
                  <a:lnTo>
                    <a:pt x="83609" y="1792157"/>
                  </a:lnTo>
                  <a:lnTo>
                    <a:pt x="116137" y="1824771"/>
                  </a:lnTo>
                  <a:lnTo>
                    <a:pt x="152278" y="1853086"/>
                  </a:lnTo>
                  <a:lnTo>
                    <a:pt x="191322" y="1876374"/>
                  </a:lnTo>
                  <a:lnTo>
                    <a:pt x="232558" y="1893909"/>
                  </a:lnTo>
                  <a:lnTo>
                    <a:pt x="275277" y="1904963"/>
                  </a:lnTo>
                  <a:lnTo>
                    <a:pt x="318770" y="1908809"/>
                  </a:lnTo>
                  <a:lnTo>
                    <a:pt x="2960370" y="1908809"/>
                  </a:lnTo>
                  <a:lnTo>
                    <a:pt x="3003575" y="1904963"/>
                  </a:lnTo>
                  <a:lnTo>
                    <a:pt x="3046117" y="1893909"/>
                  </a:lnTo>
                  <a:lnTo>
                    <a:pt x="3087267" y="1876374"/>
                  </a:lnTo>
                  <a:lnTo>
                    <a:pt x="3126300" y="1853086"/>
                  </a:lnTo>
                  <a:lnTo>
                    <a:pt x="3162487" y="1824771"/>
                  </a:lnTo>
                  <a:lnTo>
                    <a:pt x="3195101" y="1792157"/>
                  </a:lnTo>
                  <a:lnTo>
                    <a:pt x="3223416" y="1755970"/>
                  </a:lnTo>
                  <a:lnTo>
                    <a:pt x="3246704" y="1716937"/>
                  </a:lnTo>
                  <a:lnTo>
                    <a:pt x="3264239" y="1675787"/>
                  </a:lnTo>
                  <a:lnTo>
                    <a:pt x="3275293" y="1633245"/>
                  </a:lnTo>
                  <a:lnTo>
                    <a:pt x="3279140" y="1590039"/>
                  </a:lnTo>
                  <a:lnTo>
                    <a:pt x="3279140" y="317500"/>
                  </a:lnTo>
                  <a:lnTo>
                    <a:pt x="3275293" y="274323"/>
                  </a:lnTo>
                  <a:lnTo>
                    <a:pt x="3264239" y="231863"/>
                  </a:lnTo>
                  <a:lnTo>
                    <a:pt x="3246704" y="190833"/>
                  </a:lnTo>
                  <a:lnTo>
                    <a:pt x="3223416" y="151951"/>
                  </a:lnTo>
                  <a:lnTo>
                    <a:pt x="3195101" y="115931"/>
                  </a:lnTo>
                  <a:lnTo>
                    <a:pt x="3162487" y="83489"/>
                  </a:lnTo>
                  <a:lnTo>
                    <a:pt x="3126300" y="55341"/>
                  </a:lnTo>
                  <a:lnTo>
                    <a:pt x="3087267" y="32203"/>
                  </a:lnTo>
                  <a:lnTo>
                    <a:pt x="3046117" y="14789"/>
                  </a:lnTo>
                  <a:lnTo>
                    <a:pt x="3003575" y="3816"/>
                  </a:lnTo>
                  <a:lnTo>
                    <a:pt x="2960370" y="0"/>
                  </a:lnTo>
                  <a:lnTo>
                    <a:pt x="318770" y="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244773">
                <a:buClrTx/>
              </a:pPr>
              <a:endParaRPr sz="245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741855" y="3810512"/>
            <a:ext cx="4216806" cy="478353"/>
          </a:xfrm>
          <a:prstGeom prst="rect">
            <a:avLst/>
          </a:prstGeom>
        </p:spPr>
        <p:txBody>
          <a:bodyPr vert="horz" wrap="square" lIns="0" tIns="17289" rIns="0" bIns="0" rtlCol="0">
            <a:spAutoFit/>
          </a:bodyPr>
          <a:lstStyle/>
          <a:p>
            <a:pPr marL="17289" defTabSz="1244773">
              <a:spcBef>
                <a:spcPts val="136"/>
              </a:spcBef>
              <a:buClrTx/>
            </a:pPr>
            <a:r>
              <a:rPr sz="2995" b="1" kern="1200" spc="-7" dirty="0">
                <a:solidFill>
                  <a:prstClr val="black"/>
                </a:solidFill>
                <a:ea typeface="+mn-ea"/>
              </a:rPr>
              <a:t>Marketing-mix</a:t>
            </a:r>
            <a:r>
              <a:rPr sz="2995" b="1" kern="1200" spc="-48" dirty="0">
                <a:solidFill>
                  <a:prstClr val="black"/>
                </a:solidFill>
                <a:ea typeface="+mn-ea"/>
              </a:rPr>
              <a:t> </a:t>
            </a:r>
            <a:r>
              <a:rPr sz="2995" b="1" kern="1200" dirty="0">
                <a:solidFill>
                  <a:prstClr val="black"/>
                </a:solidFill>
                <a:ea typeface="+mn-ea"/>
              </a:rPr>
              <a:t>o</a:t>
            </a:r>
            <a:r>
              <a:rPr sz="2995" b="1" kern="1200" spc="-34" dirty="0">
                <a:solidFill>
                  <a:prstClr val="black"/>
                </a:solidFill>
                <a:ea typeface="+mn-ea"/>
              </a:rPr>
              <a:t> </a:t>
            </a:r>
            <a:r>
              <a:rPr sz="2995" b="1" kern="1200" dirty="0">
                <a:solidFill>
                  <a:prstClr val="black"/>
                </a:solidFill>
                <a:ea typeface="+mn-ea"/>
              </a:rPr>
              <a:t>“4</a:t>
            </a:r>
            <a:r>
              <a:rPr sz="2995" b="1" kern="1200" spc="-34" dirty="0">
                <a:solidFill>
                  <a:prstClr val="black"/>
                </a:solidFill>
                <a:ea typeface="+mn-ea"/>
              </a:rPr>
              <a:t> </a:t>
            </a:r>
            <a:r>
              <a:rPr sz="2995" b="1" kern="1200" spc="-7" dirty="0">
                <a:solidFill>
                  <a:prstClr val="black"/>
                </a:solidFill>
                <a:ea typeface="+mn-ea"/>
              </a:rPr>
              <a:t>Ps”</a:t>
            </a:r>
            <a:endParaRPr sz="2995" kern="1200" dirty="0">
              <a:solidFill>
                <a:prstClr val="black"/>
              </a:solidFill>
              <a:ea typeface="+mn-e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15922" y="4681881"/>
            <a:ext cx="4179634" cy="1118172"/>
          </a:xfrm>
          <a:prstGeom prst="rect">
            <a:avLst/>
          </a:prstGeom>
        </p:spPr>
        <p:txBody>
          <a:bodyPr vert="horz" wrap="square" lIns="0" tIns="31985" rIns="0" bIns="0" rtlCol="0">
            <a:spAutoFit/>
          </a:bodyPr>
          <a:lstStyle/>
          <a:p>
            <a:pPr marL="16424" marR="6915" indent="85578" algn="ctr" defTabSz="1244773">
              <a:lnSpc>
                <a:spcPct val="96100"/>
              </a:lnSpc>
              <a:spcBef>
                <a:spcPts val="252"/>
              </a:spcBef>
              <a:buClrTx/>
            </a:pPr>
            <a:r>
              <a:rPr sz="2450" b="1" kern="1200" spc="-7" dirty="0">
                <a:solidFill>
                  <a:srgbClr val="FFFFFF"/>
                </a:solidFill>
                <a:ea typeface="+mn-ea"/>
              </a:rPr>
              <a:t>Instrumento </a:t>
            </a:r>
            <a:r>
              <a:rPr sz="2450" b="1" kern="1200" dirty="0">
                <a:solidFill>
                  <a:srgbClr val="FFFFFF"/>
                </a:solidFill>
                <a:ea typeface="+mn-ea"/>
              </a:rPr>
              <a:t>de </a:t>
            </a:r>
            <a:r>
              <a:rPr sz="2450" b="1" kern="1200" spc="-14" dirty="0">
                <a:solidFill>
                  <a:srgbClr val="FFFFFF"/>
                </a:solidFill>
                <a:ea typeface="+mn-ea"/>
              </a:rPr>
              <a:t>marketing </a:t>
            </a:r>
            <a:r>
              <a:rPr sz="2450" b="1" kern="1200" spc="-7" dirty="0">
                <a:solidFill>
                  <a:srgbClr val="FFFFFF"/>
                </a:solidFill>
                <a:ea typeface="+mn-ea"/>
              </a:rPr>
              <a:t> </a:t>
            </a:r>
            <a:r>
              <a:rPr sz="2450" b="1" kern="1200" dirty="0">
                <a:solidFill>
                  <a:srgbClr val="FFFFFF"/>
                </a:solidFill>
                <a:ea typeface="+mn-ea"/>
              </a:rPr>
              <a:t>que </a:t>
            </a:r>
            <a:r>
              <a:rPr sz="2450" b="1" kern="1200" spc="-7" dirty="0">
                <a:solidFill>
                  <a:srgbClr val="FFFFFF"/>
                </a:solidFill>
                <a:ea typeface="+mn-ea"/>
              </a:rPr>
              <a:t>combina </a:t>
            </a:r>
            <a:r>
              <a:rPr sz="2450" b="1" kern="1200" dirty="0">
                <a:solidFill>
                  <a:srgbClr val="FFFFFF"/>
                </a:solidFill>
                <a:ea typeface="+mn-ea"/>
              </a:rPr>
              <a:t>4 </a:t>
            </a:r>
            <a:r>
              <a:rPr sz="2450" b="1" kern="1200" spc="-7" dirty="0">
                <a:solidFill>
                  <a:srgbClr val="FFFFFF"/>
                </a:solidFill>
                <a:ea typeface="+mn-ea"/>
              </a:rPr>
              <a:t>elementos </a:t>
            </a:r>
            <a:r>
              <a:rPr sz="2450" b="1" kern="1200" dirty="0">
                <a:solidFill>
                  <a:srgbClr val="FFFFFF"/>
                </a:solidFill>
                <a:ea typeface="+mn-ea"/>
              </a:rPr>
              <a:t> </a:t>
            </a:r>
            <a:r>
              <a:rPr sz="2450" b="1" kern="1200" spc="-7" dirty="0">
                <a:solidFill>
                  <a:srgbClr val="FFFFFF"/>
                </a:solidFill>
                <a:ea typeface="+mn-ea"/>
              </a:rPr>
              <a:t>controlables</a:t>
            </a:r>
            <a:r>
              <a:rPr sz="2450" b="1" kern="1200" spc="-48" dirty="0">
                <a:solidFill>
                  <a:srgbClr val="FFFFFF"/>
                </a:solidFill>
                <a:ea typeface="+mn-ea"/>
              </a:rPr>
              <a:t> </a:t>
            </a:r>
            <a:r>
              <a:rPr sz="2450" b="1" kern="1200" dirty="0">
                <a:solidFill>
                  <a:srgbClr val="FFFFFF"/>
                </a:solidFill>
                <a:ea typeface="+mn-ea"/>
              </a:rPr>
              <a:t>por</a:t>
            </a:r>
            <a:r>
              <a:rPr sz="2450" b="1" kern="1200" spc="-41" dirty="0">
                <a:solidFill>
                  <a:srgbClr val="FFFFFF"/>
                </a:solidFill>
                <a:ea typeface="+mn-ea"/>
              </a:rPr>
              <a:t> </a:t>
            </a:r>
            <a:r>
              <a:rPr sz="2450" b="1" kern="1200" dirty="0">
                <a:solidFill>
                  <a:srgbClr val="FFFFFF"/>
                </a:solidFill>
                <a:ea typeface="+mn-ea"/>
              </a:rPr>
              <a:t>la</a:t>
            </a:r>
            <a:r>
              <a:rPr sz="2450" b="1" kern="1200" spc="-34" dirty="0">
                <a:solidFill>
                  <a:srgbClr val="FFFFFF"/>
                </a:solidFill>
                <a:ea typeface="+mn-ea"/>
              </a:rPr>
              <a:t> </a:t>
            </a:r>
            <a:r>
              <a:rPr sz="2450" b="1" kern="1200" spc="-14" dirty="0">
                <a:solidFill>
                  <a:srgbClr val="FFFFFF"/>
                </a:solidFill>
                <a:ea typeface="+mn-ea"/>
              </a:rPr>
              <a:t>empresa</a:t>
            </a:r>
            <a:endParaRPr sz="2450" kern="1200" dirty="0">
              <a:solidFill>
                <a:prstClr val="black"/>
              </a:solidFill>
              <a:ea typeface="+mn-e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180826" y="1029563"/>
            <a:ext cx="8183784" cy="7596820"/>
            <a:chOff x="3599815" y="756284"/>
            <a:chExt cx="6011545" cy="5580380"/>
          </a:xfrm>
        </p:grpSpPr>
        <p:sp>
          <p:nvSpPr>
            <p:cNvPr id="9" name="object 9"/>
            <p:cNvSpPr/>
            <p:nvPr/>
          </p:nvSpPr>
          <p:spPr>
            <a:xfrm>
              <a:off x="3636010" y="792479"/>
              <a:ext cx="528320" cy="5507990"/>
            </a:xfrm>
            <a:custGeom>
              <a:avLst/>
              <a:gdLst/>
              <a:ahLst/>
              <a:cxnLst/>
              <a:rect l="l" t="t" r="r" b="b"/>
              <a:pathLst>
                <a:path w="528320" h="5507990">
                  <a:moveTo>
                    <a:pt x="528319" y="0"/>
                  </a:moveTo>
                  <a:lnTo>
                    <a:pt x="462891" y="17997"/>
                  </a:lnTo>
                  <a:lnTo>
                    <a:pt x="401131" y="67780"/>
                  </a:lnTo>
                  <a:lnTo>
                    <a:pt x="372774" y="102617"/>
                  </a:lnTo>
                  <a:lnTo>
                    <a:pt x="346709" y="143033"/>
                  </a:lnTo>
                  <a:lnTo>
                    <a:pt x="323397" y="188238"/>
                  </a:lnTo>
                  <a:lnTo>
                    <a:pt x="303294" y="237442"/>
                  </a:lnTo>
                  <a:lnTo>
                    <a:pt x="286861" y="289857"/>
                  </a:lnTo>
                  <a:lnTo>
                    <a:pt x="274555" y="344693"/>
                  </a:lnTo>
                  <a:lnTo>
                    <a:pt x="266835" y="401160"/>
                  </a:lnTo>
                  <a:lnTo>
                    <a:pt x="264160" y="458470"/>
                  </a:lnTo>
                  <a:lnTo>
                    <a:pt x="264160" y="2294890"/>
                  </a:lnTo>
                  <a:lnTo>
                    <a:pt x="261484" y="2351932"/>
                  </a:lnTo>
                  <a:lnTo>
                    <a:pt x="253764" y="2408225"/>
                  </a:lnTo>
                  <a:lnTo>
                    <a:pt x="241458" y="2462966"/>
                  </a:lnTo>
                  <a:lnTo>
                    <a:pt x="225025" y="2515352"/>
                  </a:lnTo>
                  <a:lnTo>
                    <a:pt x="204922" y="2564581"/>
                  </a:lnTo>
                  <a:lnTo>
                    <a:pt x="181610" y="2609850"/>
                  </a:lnTo>
                  <a:lnTo>
                    <a:pt x="155545" y="2650356"/>
                  </a:lnTo>
                  <a:lnTo>
                    <a:pt x="127188" y="2685297"/>
                  </a:lnTo>
                  <a:lnTo>
                    <a:pt x="96996" y="2713870"/>
                  </a:lnTo>
                  <a:lnTo>
                    <a:pt x="65428" y="2735274"/>
                  </a:lnTo>
                  <a:lnTo>
                    <a:pt x="0" y="2753360"/>
                  </a:lnTo>
                  <a:lnTo>
                    <a:pt x="32943" y="2758015"/>
                  </a:lnTo>
                  <a:lnTo>
                    <a:pt x="96996" y="2792868"/>
                  </a:lnTo>
                  <a:lnTo>
                    <a:pt x="127188" y="2821469"/>
                  </a:lnTo>
                  <a:lnTo>
                    <a:pt x="155545" y="2856455"/>
                  </a:lnTo>
                  <a:lnTo>
                    <a:pt x="181610" y="2897028"/>
                  </a:lnTo>
                  <a:lnTo>
                    <a:pt x="204922" y="2942390"/>
                  </a:lnTo>
                  <a:lnTo>
                    <a:pt x="225025" y="2991743"/>
                  </a:lnTo>
                  <a:lnTo>
                    <a:pt x="241458" y="3044289"/>
                  </a:lnTo>
                  <a:lnTo>
                    <a:pt x="253764" y="3099229"/>
                  </a:lnTo>
                  <a:lnTo>
                    <a:pt x="261484" y="3155765"/>
                  </a:lnTo>
                  <a:lnTo>
                    <a:pt x="264160" y="3213100"/>
                  </a:lnTo>
                  <a:lnTo>
                    <a:pt x="264160" y="5048250"/>
                  </a:lnTo>
                  <a:lnTo>
                    <a:pt x="266835" y="5105584"/>
                  </a:lnTo>
                  <a:lnTo>
                    <a:pt x="274555" y="5162120"/>
                  </a:lnTo>
                  <a:lnTo>
                    <a:pt x="286861" y="5217060"/>
                  </a:lnTo>
                  <a:lnTo>
                    <a:pt x="303294" y="5269606"/>
                  </a:lnTo>
                  <a:lnTo>
                    <a:pt x="323397" y="5318959"/>
                  </a:lnTo>
                  <a:lnTo>
                    <a:pt x="346710" y="5364321"/>
                  </a:lnTo>
                  <a:lnTo>
                    <a:pt x="372774" y="5404894"/>
                  </a:lnTo>
                  <a:lnTo>
                    <a:pt x="401131" y="5439880"/>
                  </a:lnTo>
                  <a:lnTo>
                    <a:pt x="431323" y="5468481"/>
                  </a:lnTo>
                  <a:lnTo>
                    <a:pt x="462891" y="5489898"/>
                  </a:lnTo>
                  <a:lnTo>
                    <a:pt x="495376" y="5503334"/>
                  </a:lnTo>
                  <a:lnTo>
                    <a:pt x="528319" y="5507990"/>
                  </a:lnTo>
                </a:path>
              </a:pathLst>
            </a:custGeom>
            <a:ln w="71882">
              <a:solidFill>
                <a:srgbClr val="993366"/>
              </a:solidFill>
            </a:ln>
          </p:spPr>
          <p:txBody>
            <a:bodyPr wrap="square" lIns="0" tIns="0" rIns="0" bIns="0" rtlCol="0"/>
            <a:lstStyle/>
            <a:p>
              <a:pPr defTabSz="1244773">
                <a:buClrTx/>
              </a:pPr>
              <a:endParaRPr sz="245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164330" y="882649"/>
              <a:ext cx="5447030" cy="1167130"/>
            </a:xfrm>
            <a:custGeom>
              <a:avLst/>
              <a:gdLst/>
              <a:ahLst/>
              <a:cxnLst/>
              <a:rect l="l" t="t" r="r" b="b"/>
              <a:pathLst>
                <a:path w="5447030" h="1167130">
                  <a:moveTo>
                    <a:pt x="5351780" y="0"/>
                  </a:moveTo>
                  <a:lnTo>
                    <a:pt x="96520" y="0"/>
                  </a:lnTo>
                  <a:lnTo>
                    <a:pt x="61079" y="8294"/>
                  </a:lnTo>
                  <a:lnTo>
                    <a:pt x="30162" y="30162"/>
                  </a:lnTo>
                  <a:lnTo>
                    <a:pt x="8294" y="61079"/>
                  </a:lnTo>
                  <a:lnTo>
                    <a:pt x="0" y="96520"/>
                  </a:lnTo>
                  <a:lnTo>
                    <a:pt x="0" y="1070610"/>
                  </a:lnTo>
                  <a:lnTo>
                    <a:pt x="8294" y="1106050"/>
                  </a:lnTo>
                  <a:lnTo>
                    <a:pt x="30162" y="1136967"/>
                  </a:lnTo>
                  <a:lnTo>
                    <a:pt x="61079" y="1158835"/>
                  </a:lnTo>
                  <a:lnTo>
                    <a:pt x="96520" y="1167129"/>
                  </a:lnTo>
                  <a:lnTo>
                    <a:pt x="5351780" y="1167129"/>
                  </a:lnTo>
                  <a:lnTo>
                    <a:pt x="5386486" y="1158835"/>
                  </a:lnTo>
                  <a:lnTo>
                    <a:pt x="5417026" y="1136967"/>
                  </a:lnTo>
                  <a:lnTo>
                    <a:pt x="5438755" y="1106050"/>
                  </a:lnTo>
                  <a:lnTo>
                    <a:pt x="5447030" y="1070610"/>
                  </a:lnTo>
                  <a:lnTo>
                    <a:pt x="5447030" y="96520"/>
                  </a:lnTo>
                  <a:lnTo>
                    <a:pt x="5438755" y="61079"/>
                  </a:lnTo>
                  <a:lnTo>
                    <a:pt x="5417026" y="30162"/>
                  </a:lnTo>
                  <a:lnTo>
                    <a:pt x="5386486" y="8294"/>
                  </a:lnTo>
                  <a:lnTo>
                    <a:pt x="5351780" y="0"/>
                  </a:lnTo>
                  <a:close/>
                </a:path>
              </a:pathLst>
            </a:custGeom>
            <a:solidFill>
              <a:srgbClr val="007F7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pPr defTabSz="1244773">
                <a:buClrTx/>
              </a:pPr>
              <a:endParaRPr sz="245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4164330" y="882649"/>
              <a:ext cx="5447030" cy="1167130"/>
            </a:xfrm>
            <a:custGeom>
              <a:avLst/>
              <a:gdLst/>
              <a:ahLst/>
              <a:cxnLst/>
              <a:rect l="l" t="t" r="r" b="b"/>
              <a:pathLst>
                <a:path w="5447030" h="1167130">
                  <a:moveTo>
                    <a:pt x="96520" y="0"/>
                  </a:moveTo>
                  <a:lnTo>
                    <a:pt x="61079" y="8294"/>
                  </a:lnTo>
                  <a:lnTo>
                    <a:pt x="30162" y="30162"/>
                  </a:lnTo>
                  <a:lnTo>
                    <a:pt x="8294" y="61079"/>
                  </a:lnTo>
                  <a:lnTo>
                    <a:pt x="0" y="96520"/>
                  </a:lnTo>
                  <a:lnTo>
                    <a:pt x="0" y="1070610"/>
                  </a:lnTo>
                  <a:lnTo>
                    <a:pt x="8294" y="1106050"/>
                  </a:lnTo>
                  <a:lnTo>
                    <a:pt x="30162" y="1136967"/>
                  </a:lnTo>
                  <a:lnTo>
                    <a:pt x="61079" y="1158835"/>
                  </a:lnTo>
                  <a:lnTo>
                    <a:pt x="96520" y="1167129"/>
                  </a:lnTo>
                  <a:lnTo>
                    <a:pt x="5351780" y="1167129"/>
                  </a:lnTo>
                  <a:lnTo>
                    <a:pt x="5386486" y="1158835"/>
                  </a:lnTo>
                  <a:lnTo>
                    <a:pt x="5417026" y="1136967"/>
                  </a:lnTo>
                  <a:lnTo>
                    <a:pt x="5438755" y="1106050"/>
                  </a:lnTo>
                  <a:lnTo>
                    <a:pt x="5447030" y="1070610"/>
                  </a:lnTo>
                  <a:lnTo>
                    <a:pt x="5447030" y="96520"/>
                  </a:lnTo>
                  <a:lnTo>
                    <a:pt x="5438755" y="61079"/>
                  </a:lnTo>
                  <a:lnTo>
                    <a:pt x="5417026" y="30162"/>
                  </a:lnTo>
                  <a:lnTo>
                    <a:pt x="5386486" y="8294"/>
                  </a:lnTo>
                  <a:lnTo>
                    <a:pt x="5351780" y="0"/>
                  </a:lnTo>
                  <a:lnTo>
                    <a:pt x="96520" y="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244773">
                <a:buClrTx/>
              </a:pPr>
              <a:endParaRPr sz="245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092825" y="1417704"/>
            <a:ext cx="5487551" cy="1127634"/>
          </a:xfrm>
          <a:prstGeom prst="rect">
            <a:avLst/>
          </a:prstGeom>
        </p:spPr>
        <p:txBody>
          <a:bodyPr vert="horz" wrap="square" lIns="0" tIns="17289" rIns="0" bIns="0" rtlCol="0">
            <a:spAutoFit/>
          </a:bodyPr>
          <a:lstStyle/>
          <a:p>
            <a:pPr marL="1943229" defTabSz="1244773">
              <a:spcBef>
                <a:spcPts val="136"/>
              </a:spcBef>
              <a:buClrTx/>
            </a:pPr>
            <a:r>
              <a:rPr sz="2450" b="1" kern="1200" spc="-14" dirty="0">
                <a:solidFill>
                  <a:prstClr val="black"/>
                </a:solidFill>
                <a:ea typeface="+mn-ea"/>
              </a:rPr>
              <a:t>PRODUCTO</a:t>
            </a:r>
            <a:r>
              <a:rPr sz="2450" b="1" kern="1200" spc="-34" dirty="0">
                <a:solidFill>
                  <a:prstClr val="black"/>
                </a:solidFill>
                <a:ea typeface="+mn-ea"/>
              </a:rPr>
              <a:t> </a:t>
            </a:r>
            <a:r>
              <a:rPr sz="2450" b="1" kern="1200" spc="-7" dirty="0">
                <a:solidFill>
                  <a:prstClr val="black"/>
                </a:solidFill>
                <a:ea typeface="+mn-ea"/>
              </a:rPr>
              <a:t>(Product)</a:t>
            </a:r>
            <a:endParaRPr sz="2450" kern="1200" dirty="0">
              <a:solidFill>
                <a:prstClr val="black"/>
              </a:solidFill>
              <a:ea typeface="+mn-ea"/>
            </a:endParaRPr>
          </a:p>
          <a:p>
            <a:pPr defTabSz="1244773">
              <a:spcBef>
                <a:spcPts val="48"/>
              </a:spcBef>
              <a:buClrTx/>
            </a:pPr>
            <a:endParaRPr sz="2314" kern="1200" dirty="0">
              <a:solidFill>
                <a:prstClr val="black"/>
              </a:solidFill>
              <a:ea typeface="+mn-ea"/>
            </a:endParaRPr>
          </a:p>
          <a:p>
            <a:pPr marL="17289" defTabSz="1244773">
              <a:buClrTx/>
            </a:pPr>
            <a:r>
              <a:rPr sz="2450" b="1" kern="1200" spc="-7" dirty="0">
                <a:solidFill>
                  <a:srgbClr val="FFFFFF"/>
                </a:solidFill>
                <a:ea typeface="+mn-ea"/>
              </a:rPr>
              <a:t>Bienes</a:t>
            </a:r>
            <a:r>
              <a:rPr sz="2450" b="1" kern="1200" spc="-34" dirty="0">
                <a:solidFill>
                  <a:srgbClr val="FFFFFF"/>
                </a:solidFill>
                <a:ea typeface="+mn-ea"/>
              </a:rPr>
              <a:t> </a:t>
            </a:r>
            <a:r>
              <a:rPr sz="2450" b="1" kern="1200" dirty="0">
                <a:solidFill>
                  <a:srgbClr val="FFFFFF"/>
                </a:solidFill>
                <a:ea typeface="+mn-ea"/>
              </a:rPr>
              <a:t>o</a:t>
            </a:r>
            <a:r>
              <a:rPr sz="2450" b="1" kern="1200" spc="-20" dirty="0">
                <a:solidFill>
                  <a:srgbClr val="FFFFFF"/>
                </a:solidFill>
                <a:ea typeface="+mn-ea"/>
              </a:rPr>
              <a:t> </a:t>
            </a:r>
            <a:r>
              <a:rPr sz="2450" b="1" kern="1200" spc="-14" dirty="0">
                <a:solidFill>
                  <a:srgbClr val="FFFFFF"/>
                </a:solidFill>
                <a:ea typeface="+mn-ea"/>
              </a:rPr>
              <a:t>servicios</a:t>
            </a:r>
            <a:r>
              <a:rPr sz="2450" b="1" kern="1200" spc="-27" dirty="0">
                <a:solidFill>
                  <a:srgbClr val="FFFFFF"/>
                </a:solidFill>
                <a:ea typeface="+mn-ea"/>
              </a:rPr>
              <a:t> </a:t>
            </a:r>
            <a:r>
              <a:rPr sz="2450" b="1" kern="1200" dirty="0">
                <a:solidFill>
                  <a:srgbClr val="FFFFFF"/>
                </a:solidFill>
                <a:ea typeface="+mn-ea"/>
              </a:rPr>
              <a:t>o</a:t>
            </a:r>
            <a:r>
              <a:rPr sz="2450" b="1" kern="1200" spc="-20" dirty="0">
                <a:solidFill>
                  <a:srgbClr val="FFFFFF"/>
                </a:solidFill>
                <a:ea typeface="+mn-ea"/>
              </a:rPr>
              <a:t> </a:t>
            </a:r>
            <a:r>
              <a:rPr sz="2450" b="1" kern="1200" spc="-7" dirty="0">
                <a:solidFill>
                  <a:srgbClr val="FFFFFF"/>
                </a:solidFill>
                <a:ea typeface="+mn-ea"/>
              </a:rPr>
              <a:t>su</a:t>
            </a:r>
            <a:r>
              <a:rPr sz="2450" b="1" kern="1200" spc="-14" dirty="0">
                <a:solidFill>
                  <a:srgbClr val="FFFFFF"/>
                </a:solidFill>
                <a:ea typeface="+mn-ea"/>
              </a:rPr>
              <a:t> </a:t>
            </a:r>
            <a:r>
              <a:rPr sz="2450" b="1" kern="1200" spc="-7" dirty="0">
                <a:solidFill>
                  <a:srgbClr val="FFFFFF"/>
                </a:solidFill>
                <a:ea typeface="+mn-ea"/>
              </a:rPr>
              <a:t>combinación</a:t>
            </a:r>
            <a:endParaRPr sz="2450" kern="1200" dirty="0">
              <a:solidFill>
                <a:prstClr val="black"/>
              </a:solidFill>
              <a:ea typeface="+mn-e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949323" y="3080912"/>
            <a:ext cx="7415285" cy="1588866"/>
            <a:chOff x="4164329" y="2263139"/>
            <a:chExt cx="5447030" cy="1167130"/>
          </a:xfrm>
        </p:grpSpPr>
        <p:sp>
          <p:nvSpPr>
            <p:cNvPr id="14" name="object 14"/>
            <p:cNvSpPr/>
            <p:nvPr/>
          </p:nvSpPr>
          <p:spPr>
            <a:xfrm>
              <a:off x="4164329" y="2263139"/>
              <a:ext cx="5447030" cy="1167130"/>
            </a:xfrm>
            <a:custGeom>
              <a:avLst/>
              <a:gdLst/>
              <a:ahLst/>
              <a:cxnLst/>
              <a:rect l="l" t="t" r="r" b="b"/>
              <a:pathLst>
                <a:path w="5447030" h="1167129">
                  <a:moveTo>
                    <a:pt x="5350510" y="0"/>
                  </a:moveTo>
                  <a:lnTo>
                    <a:pt x="96520" y="0"/>
                  </a:lnTo>
                  <a:lnTo>
                    <a:pt x="61079" y="8294"/>
                  </a:lnTo>
                  <a:lnTo>
                    <a:pt x="30162" y="30162"/>
                  </a:lnTo>
                  <a:lnTo>
                    <a:pt x="8294" y="61079"/>
                  </a:lnTo>
                  <a:lnTo>
                    <a:pt x="0" y="96520"/>
                  </a:lnTo>
                  <a:lnTo>
                    <a:pt x="0" y="1070610"/>
                  </a:lnTo>
                  <a:lnTo>
                    <a:pt x="8294" y="1106050"/>
                  </a:lnTo>
                  <a:lnTo>
                    <a:pt x="30162" y="1136967"/>
                  </a:lnTo>
                  <a:lnTo>
                    <a:pt x="61079" y="1158835"/>
                  </a:lnTo>
                  <a:lnTo>
                    <a:pt x="96520" y="1167130"/>
                  </a:lnTo>
                  <a:lnTo>
                    <a:pt x="5350510" y="1167130"/>
                  </a:lnTo>
                  <a:lnTo>
                    <a:pt x="5385950" y="1158835"/>
                  </a:lnTo>
                  <a:lnTo>
                    <a:pt x="5416867" y="1136967"/>
                  </a:lnTo>
                  <a:lnTo>
                    <a:pt x="5438735" y="1106050"/>
                  </a:lnTo>
                  <a:lnTo>
                    <a:pt x="5447030" y="1070610"/>
                  </a:lnTo>
                  <a:lnTo>
                    <a:pt x="5447030" y="96520"/>
                  </a:lnTo>
                  <a:lnTo>
                    <a:pt x="5438735" y="61079"/>
                  </a:lnTo>
                  <a:lnTo>
                    <a:pt x="5416867" y="30162"/>
                  </a:lnTo>
                  <a:lnTo>
                    <a:pt x="5385950" y="8294"/>
                  </a:lnTo>
                  <a:lnTo>
                    <a:pt x="5350510" y="0"/>
                  </a:lnTo>
                  <a:close/>
                </a:path>
              </a:pathLst>
            </a:custGeom>
            <a:solidFill>
              <a:srgbClr val="33CCCC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pPr defTabSz="1244773">
                <a:buClrTx/>
              </a:pPr>
              <a:endParaRPr sz="245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4164329" y="2263139"/>
              <a:ext cx="5447030" cy="1167130"/>
            </a:xfrm>
            <a:custGeom>
              <a:avLst/>
              <a:gdLst/>
              <a:ahLst/>
              <a:cxnLst/>
              <a:rect l="l" t="t" r="r" b="b"/>
              <a:pathLst>
                <a:path w="5447030" h="1167129">
                  <a:moveTo>
                    <a:pt x="96520" y="0"/>
                  </a:moveTo>
                  <a:lnTo>
                    <a:pt x="61079" y="8294"/>
                  </a:lnTo>
                  <a:lnTo>
                    <a:pt x="30162" y="30162"/>
                  </a:lnTo>
                  <a:lnTo>
                    <a:pt x="8294" y="61079"/>
                  </a:lnTo>
                  <a:lnTo>
                    <a:pt x="0" y="96520"/>
                  </a:lnTo>
                  <a:lnTo>
                    <a:pt x="0" y="1070610"/>
                  </a:lnTo>
                  <a:lnTo>
                    <a:pt x="8294" y="1106050"/>
                  </a:lnTo>
                  <a:lnTo>
                    <a:pt x="30162" y="1136967"/>
                  </a:lnTo>
                  <a:lnTo>
                    <a:pt x="61079" y="1158835"/>
                  </a:lnTo>
                  <a:lnTo>
                    <a:pt x="96520" y="1167130"/>
                  </a:lnTo>
                  <a:lnTo>
                    <a:pt x="5350510" y="1167130"/>
                  </a:lnTo>
                  <a:lnTo>
                    <a:pt x="5385950" y="1158835"/>
                  </a:lnTo>
                  <a:lnTo>
                    <a:pt x="5416867" y="1136967"/>
                  </a:lnTo>
                  <a:lnTo>
                    <a:pt x="5438735" y="1106050"/>
                  </a:lnTo>
                  <a:lnTo>
                    <a:pt x="5447030" y="1070610"/>
                  </a:lnTo>
                  <a:lnTo>
                    <a:pt x="5447030" y="96520"/>
                  </a:lnTo>
                  <a:lnTo>
                    <a:pt x="5438735" y="61079"/>
                  </a:lnTo>
                  <a:lnTo>
                    <a:pt x="5416867" y="30162"/>
                  </a:lnTo>
                  <a:lnTo>
                    <a:pt x="5385950" y="8294"/>
                  </a:lnTo>
                  <a:lnTo>
                    <a:pt x="5350510" y="0"/>
                  </a:lnTo>
                  <a:lnTo>
                    <a:pt x="96520" y="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244773">
                <a:buClrTx/>
              </a:pPr>
              <a:endParaRPr sz="245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0388814" y="3635891"/>
            <a:ext cx="2533714" cy="436483"/>
          </a:xfrm>
          <a:prstGeom prst="rect">
            <a:avLst/>
          </a:prstGeom>
        </p:spPr>
        <p:txBody>
          <a:bodyPr vert="horz" wrap="square" lIns="0" tIns="17289" rIns="0" bIns="0" rtlCol="0">
            <a:spAutoFit/>
          </a:bodyPr>
          <a:lstStyle/>
          <a:p>
            <a:pPr marL="17289" defTabSz="1244773">
              <a:spcBef>
                <a:spcPts val="136"/>
              </a:spcBef>
              <a:buClrTx/>
            </a:pPr>
            <a:r>
              <a:rPr sz="2723" b="1" kern="1200" spc="-7" dirty="0">
                <a:solidFill>
                  <a:prstClr val="black"/>
                </a:solidFill>
                <a:ea typeface="+mn-ea"/>
              </a:rPr>
              <a:t>PRECIO</a:t>
            </a:r>
            <a:r>
              <a:rPr sz="2723" b="1" kern="1200" spc="-68" dirty="0">
                <a:solidFill>
                  <a:prstClr val="black"/>
                </a:solidFill>
                <a:ea typeface="+mn-ea"/>
              </a:rPr>
              <a:t> </a:t>
            </a:r>
            <a:r>
              <a:rPr sz="2723" b="1" kern="1200" spc="-7" dirty="0">
                <a:solidFill>
                  <a:prstClr val="black"/>
                </a:solidFill>
                <a:ea typeface="+mn-ea"/>
              </a:rPr>
              <a:t>(Price)</a:t>
            </a:r>
            <a:endParaRPr sz="2723" kern="1200">
              <a:solidFill>
                <a:prstClr val="black"/>
              </a:solidFill>
              <a:ea typeface="+mn-e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887547" y="4927489"/>
            <a:ext cx="7415285" cy="1588866"/>
            <a:chOff x="4164329" y="3644900"/>
            <a:chExt cx="5447030" cy="1167130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18" name="object 18"/>
            <p:cNvSpPr/>
            <p:nvPr/>
          </p:nvSpPr>
          <p:spPr>
            <a:xfrm>
              <a:off x="4164329" y="3644900"/>
              <a:ext cx="5447030" cy="1167130"/>
            </a:xfrm>
            <a:custGeom>
              <a:avLst/>
              <a:gdLst/>
              <a:ahLst/>
              <a:cxnLst/>
              <a:rect l="l" t="t" r="r" b="b"/>
              <a:pathLst>
                <a:path w="5447030" h="1167129">
                  <a:moveTo>
                    <a:pt x="5350510" y="0"/>
                  </a:moveTo>
                  <a:lnTo>
                    <a:pt x="96520" y="0"/>
                  </a:lnTo>
                  <a:lnTo>
                    <a:pt x="61079" y="8294"/>
                  </a:lnTo>
                  <a:lnTo>
                    <a:pt x="30162" y="30162"/>
                  </a:lnTo>
                  <a:lnTo>
                    <a:pt x="8294" y="61079"/>
                  </a:lnTo>
                  <a:lnTo>
                    <a:pt x="0" y="96520"/>
                  </a:lnTo>
                  <a:lnTo>
                    <a:pt x="0" y="1070610"/>
                  </a:lnTo>
                  <a:lnTo>
                    <a:pt x="8294" y="1106050"/>
                  </a:lnTo>
                  <a:lnTo>
                    <a:pt x="30162" y="1136967"/>
                  </a:lnTo>
                  <a:lnTo>
                    <a:pt x="61079" y="1158835"/>
                  </a:lnTo>
                  <a:lnTo>
                    <a:pt x="96520" y="1167130"/>
                  </a:lnTo>
                  <a:lnTo>
                    <a:pt x="5350510" y="1167130"/>
                  </a:lnTo>
                  <a:lnTo>
                    <a:pt x="5385950" y="1158835"/>
                  </a:lnTo>
                  <a:lnTo>
                    <a:pt x="5416867" y="1136967"/>
                  </a:lnTo>
                  <a:lnTo>
                    <a:pt x="5438735" y="1106050"/>
                  </a:lnTo>
                  <a:lnTo>
                    <a:pt x="5447030" y="1070610"/>
                  </a:lnTo>
                  <a:lnTo>
                    <a:pt x="5447030" y="96520"/>
                  </a:lnTo>
                  <a:lnTo>
                    <a:pt x="5438735" y="61079"/>
                  </a:lnTo>
                  <a:lnTo>
                    <a:pt x="5416867" y="30162"/>
                  </a:lnTo>
                  <a:lnTo>
                    <a:pt x="5385950" y="8294"/>
                  </a:lnTo>
                  <a:lnTo>
                    <a:pt x="535051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1244773">
                <a:buClrTx/>
              </a:pPr>
              <a:endParaRPr sz="245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4164329" y="3644900"/>
              <a:ext cx="5447030" cy="1167130"/>
            </a:xfrm>
            <a:custGeom>
              <a:avLst/>
              <a:gdLst/>
              <a:ahLst/>
              <a:cxnLst/>
              <a:rect l="l" t="t" r="r" b="b"/>
              <a:pathLst>
                <a:path w="5447030" h="1167129">
                  <a:moveTo>
                    <a:pt x="96520" y="0"/>
                  </a:moveTo>
                  <a:lnTo>
                    <a:pt x="61079" y="8294"/>
                  </a:lnTo>
                  <a:lnTo>
                    <a:pt x="30162" y="30162"/>
                  </a:lnTo>
                  <a:lnTo>
                    <a:pt x="8294" y="61079"/>
                  </a:lnTo>
                  <a:lnTo>
                    <a:pt x="0" y="96520"/>
                  </a:lnTo>
                  <a:lnTo>
                    <a:pt x="0" y="1070610"/>
                  </a:lnTo>
                  <a:lnTo>
                    <a:pt x="8294" y="1106050"/>
                  </a:lnTo>
                  <a:lnTo>
                    <a:pt x="30162" y="1136967"/>
                  </a:lnTo>
                  <a:lnTo>
                    <a:pt x="61079" y="1158835"/>
                  </a:lnTo>
                  <a:lnTo>
                    <a:pt x="96520" y="1167130"/>
                  </a:lnTo>
                  <a:lnTo>
                    <a:pt x="5350510" y="1167130"/>
                  </a:lnTo>
                  <a:lnTo>
                    <a:pt x="5385950" y="1158835"/>
                  </a:lnTo>
                  <a:lnTo>
                    <a:pt x="5416867" y="1136967"/>
                  </a:lnTo>
                  <a:lnTo>
                    <a:pt x="5438735" y="1106050"/>
                  </a:lnTo>
                  <a:lnTo>
                    <a:pt x="5447030" y="1070610"/>
                  </a:lnTo>
                  <a:lnTo>
                    <a:pt x="5447030" y="96520"/>
                  </a:lnTo>
                  <a:lnTo>
                    <a:pt x="5438735" y="61079"/>
                  </a:lnTo>
                  <a:lnTo>
                    <a:pt x="5416867" y="30162"/>
                  </a:lnTo>
                  <a:lnTo>
                    <a:pt x="5385950" y="8294"/>
                  </a:lnTo>
                  <a:lnTo>
                    <a:pt x="5350510" y="0"/>
                  </a:lnTo>
                  <a:lnTo>
                    <a:pt x="96520" y="0"/>
                  </a:lnTo>
                  <a:close/>
                </a:path>
              </a:pathLst>
            </a:custGeom>
            <a:grpFill/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244773">
                <a:buClrTx/>
              </a:pPr>
              <a:endParaRPr sz="245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221801" y="4960234"/>
            <a:ext cx="4862553" cy="436483"/>
          </a:xfrm>
          <a:prstGeom prst="rect">
            <a:avLst/>
          </a:prstGeom>
        </p:spPr>
        <p:txBody>
          <a:bodyPr vert="horz" wrap="square" lIns="0" tIns="17289" rIns="0" bIns="0" rtlCol="0">
            <a:spAutoFit/>
          </a:bodyPr>
          <a:lstStyle/>
          <a:p>
            <a:pPr marL="17289" defTabSz="1244773">
              <a:spcBef>
                <a:spcPts val="136"/>
              </a:spcBef>
              <a:buClrTx/>
            </a:pPr>
            <a:r>
              <a:rPr sz="2723" b="1" kern="1200" dirty="0">
                <a:solidFill>
                  <a:prstClr val="black"/>
                </a:solidFill>
                <a:ea typeface="+mn-ea"/>
              </a:rPr>
              <a:t>COMUNICACIÓN</a:t>
            </a:r>
            <a:r>
              <a:rPr sz="2723" b="1" kern="1200" spc="-82" dirty="0">
                <a:solidFill>
                  <a:prstClr val="black"/>
                </a:solidFill>
                <a:ea typeface="+mn-ea"/>
              </a:rPr>
              <a:t> </a:t>
            </a:r>
            <a:r>
              <a:rPr sz="2723" b="1" kern="1200" spc="-7" dirty="0">
                <a:solidFill>
                  <a:prstClr val="black"/>
                </a:solidFill>
                <a:ea typeface="+mn-ea"/>
              </a:rPr>
              <a:t>(Promotion)</a:t>
            </a:r>
            <a:endParaRPr sz="2723" kern="1200">
              <a:solidFill>
                <a:prstClr val="black"/>
              </a:solidFill>
              <a:ea typeface="+mn-e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92825" y="5750347"/>
            <a:ext cx="5415803" cy="759171"/>
          </a:xfrm>
          <a:prstGeom prst="rect">
            <a:avLst/>
          </a:prstGeom>
        </p:spPr>
        <p:txBody>
          <a:bodyPr vert="horz" wrap="square" lIns="0" tIns="40629" rIns="0" bIns="0" rtlCol="0">
            <a:spAutoFit/>
          </a:bodyPr>
          <a:lstStyle/>
          <a:p>
            <a:pPr marL="17289" marR="6915" defTabSz="1244773">
              <a:lnSpc>
                <a:spcPts val="2832"/>
              </a:lnSpc>
              <a:spcBef>
                <a:spcPts val="320"/>
              </a:spcBef>
              <a:buClrTx/>
            </a:pPr>
            <a:r>
              <a:rPr sz="2450" b="1" kern="1200" spc="-7" dirty="0">
                <a:solidFill>
                  <a:prstClr val="black"/>
                </a:solidFill>
                <a:ea typeface="+mn-ea"/>
              </a:rPr>
              <a:t>Dar </a:t>
            </a:r>
            <a:r>
              <a:rPr sz="2450" b="1" kern="1200" dirty="0">
                <a:solidFill>
                  <a:prstClr val="black"/>
                </a:solidFill>
                <a:ea typeface="+mn-ea"/>
              </a:rPr>
              <a:t>a </a:t>
            </a:r>
            <a:r>
              <a:rPr sz="2450" b="1" kern="1200" spc="-7" dirty="0">
                <a:solidFill>
                  <a:prstClr val="black"/>
                </a:solidFill>
                <a:ea typeface="+mn-ea"/>
              </a:rPr>
              <a:t>conocer el producto, sus </a:t>
            </a:r>
            <a:r>
              <a:rPr sz="2450" b="1" kern="1200" dirty="0">
                <a:solidFill>
                  <a:prstClr val="black"/>
                </a:solidFill>
                <a:ea typeface="+mn-ea"/>
              </a:rPr>
              <a:t> </a:t>
            </a:r>
            <a:r>
              <a:rPr sz="2450" b="1" kern="1200" spc="-14" dirty="0">
                <a:solidFill>
                  <a:prstClr val="black"/>
                </a:solidFill>
                <a:ea typeface="+mn-ea"/>
              </a:rPr>
              <a:t>características,</a:t>
            </a:r>
            <a:r>
              <a:rPr sz="2450" b="1" kern="1200" spc="-20" dirty="0">
                <a:solidFill>
                  <a:prstClr val="black"/>
                </a:solidFill>
                <a:ea typeface="+mn-ea"/>
              </a:rPr>
              <a:t> </a:t>
            </a:r>
            <a:r>
              <a:rPr sz="2450" b="1" kern="1200" spc="-14" dirty="0">
                <a:solidFill>
                  <a:prstClr val="black"/>
                </a:solidFill>
                <a:ea typeface="+mn-ea"/>
              </a:rPr>
              <a:t>motivar</a:t>
            </a:r>
            <a:r>
              <a:rPr sz="2450" b="1" kern="1200" spc="-27" dirty="0">
                <a:solidFill>
                  <a:prstClr val="black"/>
                </a:solidFill>
                <a:ea typeface="+mn-ea"/>
              </a:rPr>
              <a:t> </a:t>
            </a:r>
            <a:r>
              <a:rPr sz="2450" b="1" kern="1200" spc="-7" dirty="0">
                <a:solidFill>
                  <a:prstClr val="black"/>
                </a:solidFill>
                <a:ea typeface="+mn-ea"/>
              </a:rPr>
              <a:t>su</a:t>
            </a:r>
            <a:r>
              <a:rPr sz="2450" b="1" kern="1200" spc="-27" dirty="0">
                <a:solidFill>
                  <a:prstClr val="black"/>
                </a:solidFill>
                <a:ea typeface="+mn-ea"/>
              </a:rPr>
              <a:t> </a:t>
            </a:r>
            <a:r>
              <a:rPr sz="2450" b="1" kern="1200" spc="-7" dirty="0">
                <a:solidFill>
                  <a:prstClr val="black"/>
                </a:solidFill>
                <a:ea typeface="+mn-ea"/>
              </a:rPr>
              <a:t>compra...</a:t>
            </a:r>
            <a:endParaRPr sz="2450" kern="1200" dirty="0">
              <a:solidFill>
                <a:prstClr val="black"/>
              </a:solidFill>
              <a:ea typeface="+mn-e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931585" y="6791307"/>
            <a:ext cx="7433023" cy="1638846"/>
            <a:chOff x="4151299" y="4988676"/>
            <a:chExt cx="5460060" cy="1203844"/>
          </a:xfrm>
          <a:solidFill>
            <a:schemeClr val="bg2">
              <a:lumMod val="50000"/>
            </a:schemeClr>
          </a:solidFill>
        </p:grpSpPr>
        <p:sp>
          <p:nvSpPr>
            <p:cNvPr id="23" name="object 23"/>
            <p:cNvSpPr/>
            <p:nvPr/>
          </p:nvSpPr>
          <p:spPr>
            <a:xfrm>
              <a:off x="4164329" y="5025390"/>
              <a:ext cx="5447030" cy="1167130"/>
            </a:xfrm>
            <a:custGeom>
              <a:avLst/>
              <a:gdLst/>
              <a:ahLst/>
              <a:cxnLst/>
              <a:rect l="l" t="t" r="r" b="b"/>
              <a:pathLst>
                <a:path w="5447030" h="1167129">
                  <a:moveTo>
                    <a:pt x="5350510" y="0"/>
                  </a:moveTo>
                  <a:lnTo>
                    <a:pt x="96520" y="0"/>
                  </a:lnTo>
                  <a:lnTo>
                    <a:pt x="61079" y="8294"/>
                  </a:lnTo>
                  <a:lnTo>
                    <a:pt x="30162" y="30162"/>
                  </a:lnTo>
                  <a:lnTo>
                    <a:pt x="8294" y="61079"/>
                  </a:lnTo>
                  <a:lnTo>
                    <a:pt x="0" y="96520"/>
                  </a:lnTo>
                  <a:lnTo>
                    <a:pt x="0" y="1070610"/>
                  </a:lnTo>
                  <a:lnTo>
                    <a:pt x="8294" y="1106050"/>
                  </a:lnTo>
                  <a:lnTo>
                    <a:pt x="30162" y="1136967"/>
                  </a:lnTo>
                  <a:lnTo>
                    <a:pt x="61079" y="1158835"/>
                  </a:lnTo>
                  <a:lnTo>
                    <a:pt x="96520" y="1167130"/>
                  </a:lnTo>
                  <a:lnTo>
                    <a:pt x="5350510" y="1167130"/>
                  </a:lnTo>
                  <a:lnTo>
                    <a:pt x="5385950" y="1158835"/>
                  </a:lnTo>
                  <a:lnTo>
                    <a:pt x="5416867" y="1136967"/>
                  </a:lnTo>
                  <a:lnTo>
                    <a:pt x="5438735" y="1106050"/>
                  </a:lnTo>
                  <a:lnTo>
                    <a:pt x="5447030" y="1070610"/>
                  </a:lnTo>
                  <a:lnTo>
                    <a:pt x="5447030" y="96520"/>
                  </a:lnTo>
                  <a:lnTo>
                    <a:pt x="5438735" y="61079"/>
                  </a:lnTo>
                  <a:lnTo>
                    <a:pt x="5416867" y="30162"/>
                  </a:lnTo>
                  <a:lnTo>
                    <a:pt x="5385950" y="8294"/>
                  </a:lnTo>
                  <a:lnTo>
                    <a:pt x="5350510" y="0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</p:spPr>
          <p:txBody>
            <a:bodyPr wrap="square" lIns="0" tIns="0" rIns="0" bIns="0" rtlCol="0"/>
            <a:lstStyle/>
            <a:p>
              <a:pPr defTabSz="1244773">
                <a:buClrTx/>
              </a:pPr>
              <a:endParaRPr sz="245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4151299" y="4988676"/>
              <a:ext cx="5447030" cy="1167130"/>
            </a:xfrm>
            <a:custGeom>
              <a:avLst/>
              <a:gdLst/>
              <a:ahLst/>
              <a:cxnLst/>
              <a:rect l="l" t="t" r="r" b="b"/>
              <a:pathLst>
                <a:path w="5447030" h="1167129">
                  <a:moveTo>
                    <a:pt x="96520" y="0"/>
                  </a:moveTo>
                  <a:lnTo>
                    <a:pt x="61079" y="8294"/>
                  </a:lnTo>
                  <a:lnTo>
                    <a:pt x="30162" y="30162"/>
                  </a:lnTo>
                  <a:lnTo>
                    <a:pt x="8294" y="61079"/>
                  </a:lnTo>
                  <a:lnTo>
                    <a:pt x="0" y="96520"/>
                  </a:lnTo>
                  <a:lnTo>
                    <a:pt x="0" y="1070610"/>
                  </a:lnTo>
                  <a:lnTo>
                    <a:pt x="8294" y="1106050"/>
                  </a:lnTo>
                  <a:lnTo>
                    <a:pt x="30162" y="1136967"/>
                  </a:lnTo>
                  <a:lnTo>
                    <a:pt x="61079" y="1158835"/>
                  </a:lnTo>
                  <a:lnTo>
                    <a:pt x="96520" y="1167130"/>
                  </a:lnTo>
                  <a:lnTo>
                    <a:pt x="5350510" y="1167130"/>
                  </a:lnTo>
                  <a:lnTo>
                    <a:pt x="5385950" y="1158835"/>
                  </a:lnTo>
                  <a:lnTo>
                    <a:pt x="5416867" y="1136967"/>
                  </a:lnTo>
                  <a:lnTo>
                    <a:pt x="5438735" y="1106050"/>
                  </a:lnTo>
                  <a:lnTo>
                    <a:pt x="5447030" y="1070610"/>
                  </a:lnTo>
                  <a:lnTo>
                    <a:pt x="5447030" y="96520"/>
                  </a:lnTo>
                  <a:lnTo>
                    <a:pt x="5438735" y="61079"/>
                  </a:lnTo>
                  <a:lnTo>
                    <a:pt x="5416867" y="30162"/>
                  </a:lnTo>
                  <a:lnTo>
                    <a:pt x="5385950" y="8294"/>
                  </a:lnTo>
                  <a:lnTo>
                    <a:pt x="5350510" y="0"/>
                  </a:lnTo>
                  <a:lnTo>
                    <a:pt x="96520" y="0"/>
                  </a:lnTo>
                  <a:close/>
                </a:path>
              </a:pathLst>
            </a:custGeom>
            <a:noFill/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244773">
                <a:buClrTx/>
              </a:pPr>
              <a:endParaRPr sz="245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9963501" y="7415284"/>
            <a:ext cx="3385201" cy="394484"/>
          </a:xfrm>
          <a:prstGeom prst="rect">
            <a:avLst/>
          </a:prstGeom>
        </p:spPr>
        <p:txBody>
          <a:bodyPr vert="horz" wrap="square" lIns="0" tIns="17289" rIns="0" bIns="0" rtlCol="0">
            <a:spAutoFit/>
          </a:bodyPr>
          <a:lstStyle/>
          <a:p>
            <a:pPr marL="17289" defTabSz="1244773">
              <a:spcBef>
                <a:spcPts val="136"/>
              </a:spcBef>
              <a:buClrTx/>
            </a:pPr>
            <a:r>
              <a:rPr sz="2450" b="1" kern="1200" spc="-7" dirty="0">
                <a:solidFill>
                  <a:prstClr val="black"/>
                </a:solidFill>
                <a:ea typeface="+mn-ea"/>
              </a:rPr>
              <a:t>DISTRIBUCIÓN</a:t>
            </a:r>
            <a:r>
              <a:rPr sz="2450" b="1" kern="1200" spc="-95" dirty="0">
                <a:solidFill>
                  <a:prstClr val="black"/>
                </a:solidFill>
                <a:ea typeface="+mn-ea"/>
              </a:rPr>
              <a:t> </a:t>
            </a:r>
            <a:r>
              <a:rPr sz="2450" b="1" kern="1200" spc="-7" dirty="0">
                <a:solidFill>
                  <a:prstClr val="black"/>
                </a:solidFill>
                <a:ea typeface="+mn-ea"/>
              </a:rPr>
              <a:t>(Place)</a:t>
            </a:r>
            <a:endParaRPr sz="2450" kern="1200" dirty="0">
              <a:solidFill>
                <a:prstClr val="black"/>
              </a:solidFill>
              <a:ea typeface="+mn-e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5070694" y="9981405"/>
            <a:ext cx="243776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1244773">
              <a:lnSpc>
                <a:spcPts val="2083"/>
              </a:lnSpc>
              <a:buClrTx/>
            </a:pPr>
            <a:r>
              <a:rPr sz="1906" kern="1200" spc="7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1</a:t>
            </a:r>
            <a:r>
              <a:rPr sz="1906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0</a:t>
            </a:r>
            <a:endParaRPr sz="1906" kern="1200">
              <a:solidFill>
                <a:prstClr val="black"/>
              </a:solidFill>
              <a:latin typeface="Times New Roman"/>
              <a:ea typeface="+mn-ea"/>
              <a:cs typeface="Times New Roman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D0D7CAF-07CF-2A6B-4707-692ECC666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6284" y="498302"/>
            <a:ext cx="1127858" cy="1030313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65909160-C7CC-D405-93FC-4F685754F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668" y="8971431"/>
            <a:ext cx="4529721" cy="1085182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474E162A-8EFE-E16B-AC0E-C2652F8BF2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19426" y="8971431"/>
            <a:ext cx="4499238" cy="108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315551"/>
      </p:ext>
    </p:extLst>
  </p:cSld>
  <p:clrMapOvr>
    <a:masterClrMapping/>
  </p:clrMapOvr>
  <p:transition>
    <p:dissolv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F3B49B6E-A41A-74DF-119F-9911CAA70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2471" y="498303"/>
            <a:ext cx="1127858" cy="103031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936C075-8A7F-609F-210F-0F0DC8CC3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855" y="8971431"/>
            <a:ext cx="4529721" cy="108518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E6C05F2-F65A-DE63-98C7-0FEBB2AED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19426" y="8971431"/>
            <a:ext cx="4499238" cy="108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969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F3B49B6E-A41A-74DF-119F-9911CAA70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2471" y="498303"/>
            <a:ext cx="1127858" cy="103031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936C075-8A7F-609F-210F-0F0DC8CC3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855" y="8971431"/>
            <a:ext cx="4529721" cy="108518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E6C05F2-F65A-DE63-98C7-0FEBB2AED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19426" y="8971431"/>
            <a:ext cx="4499238" cy="108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5168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F3B49B6E-A41A-74DF-119F-9911CAA70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2471" y="498303"/>
            <a:ext cx="1127858" cy="103031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936C075-8A7F-609F-210F-0F0DC8CC3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855" y="8971431"/>
            <a:ext cx="4529721" cy="108518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E6C05F2-F65A-DE63-98C7-0FEBB2AED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19426" y="8971431"/>
            <a:ext cx="4499238" cy="108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349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F3B49B6E-A41A-74DF-119F-9911CAA70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2471" y="498303"/>
            <a:ext cx="1127858" cy="103031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936C075-8A7F-609F-210F-0F0DC8CC3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855" y="8971431"/>
            <a:ext cx="4529721" cy="108518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E6C05F2-F65A-DE63-98C7-0FEBB2AED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19426" y="8971431"/>
            <a:ext cx="4499238" cy="108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4549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F3B49B6E-A41A-74DF-119F-9911CAA70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2471" y="498303"/>
            <a:ext cx="1127858" cy="103031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936C075-8A7F-609F-210F-0F0DC8CC3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855" y="8971431"/>
            <a:ext cx="4529721" cy="108518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E6C05F2-F65A-DE63-98C7-0FEBB2AED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19426" y="8971431"/>
            <a:ext cx="4499238" cy="108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3321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B49E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/>
          <p:nvPr/>
        </p:nvSpPr>
        <p:spPr>
          <a:xfrm>
            <a:off x="15147925" y="1028700"/>
            <a:ext cx="2111375" cy="1931987"/>
          </a:xfrm>
          <a:custGeom>
            <a:avLst/>
            <a:gdLst/>
            <a:ahLst/>
            <a:cxnLst/>
            <a:rect l="l" t="t" r="r" b="b"/>
            <a:pathLst>
              <a:path w="2111795" h="1932533" extrusionOk="0">
                <a:moveTo>
                  <a:pt x="0" y="0"/>
                </a:moveTo>
                <a:lnTo>
                  <a:pt x="2111795" y="0"/>
                </a:lnTo>
                <a:lnTo>
                  <a:pt x="2111795" y="1932533"/>
                </a:lnTo>
                <a:lnTo>
                  <a:pt x="0" y="1932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3767137" y="4246562"/>
            <a:ext cx="10753725" cy="154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FBFD"/>
              </a:buClr>
              <a:buSzPts val="8500"/>
              <a:buFont typeface="Poppins"/>
              <a:buNone/>
            </a:pPr>
            <a:r>
              <a:rPr lang="en-US" sz="8500" b="0" i="0" u="none">
                <a:solidFill>
                  <a:srgbClr val="F8FBFD"/>
                </a:solidFill>
                <a:latin typeface="Poppins"/>
                <a:ea typeface="Poppins"/>
                <a:cs typeface="Poppins"/>
                <a:sym typeface="Poppins"/>
              </a:rPr>
              <a:t>Gracias</a:t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12755562" y="8174037"/>
            <a:ext cx="4502150" cy="1084262"/>
          </a:xfrm>
          <a:custGeom>
            <a:avLst/>
            <a:gdLst/>
            <a:ahLst/>
            <a:cxnLst/>
            <a:rect l="l" t="t" r="r" b="b"/>
            <a:pathLst>
              <a:path w="5424343" h="1297322" extrusionOk="0">
                <a:moveTo>
                  <a:pt x="0" y="0"/>
                </a:moveTo>
                <a:lnTo>
                  <a:pt x="5424343" y="0"/>
                </a:lnTo>
                <a:lnTo>
                  <a:pt x="5424343" y="1297322"/>
                </a:lnTo>
                <a:lnTo>
                  <a:pt x="0" y="12973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Imagen 1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615600F2-9570-0A82-F817-FEE37CF05C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8174037"/>
            <a:ext cx="4531295" cy="10842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1370</TotalTime>
  <Words>798</Words>
  <Application>Microsoft Office PowerPoint</Application>
  <PresentationFormat>Personalizado</PresentationFormat>
  <Paragraphs>115</Paragraphs>
  <Slides>22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8" baseType="lpstr">
      <vt:lpstr>Times New Roman</vt:lpstr>
      <vt:lpstr>Poppins</vt:lpstr>
      <vt:lpstr>Arial</vt:lpstr>
      <vt:lpstr>Arial MT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     CUOTA DE MERCADO</vt:lpstr>
      <vt:lpstr>Presentación de PowerPoint</vt:lpstr>
      <vt:lpstr>Presentación de PowerPoint</vt:lpstr>
      <vt:lpstr>EJEMPLO</vt:lpstr>
      <vt:lpstr>Presentación de PowerPoint</vt:lpstr>
      <vt:lpstr>Presentación de PowerPoint</vt:lpstr>
      <vt:lpstr>Estrategias de segmentación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Álvaro Estevez Villalba</dc:creator>
  <cp:lastModifiedBy>Gancedo, Oscar</cp:lastModifiedBy>
  <cp:revision>178</cp:revision>
  <cp:lastPrinted>2024-01-26T11:53:40Z</cp:lastPrinted>
  <dcterms:created xsi:type="dcterms:W3CDTF">2006-08-16T00:00:00Z</dcterms:created>
  <dcterms:modified xsi:type="dcterms:W3CDTF">2024-12-13T01:11:31Z</dcterms:modified>
</cp:coreProperties>
</file>