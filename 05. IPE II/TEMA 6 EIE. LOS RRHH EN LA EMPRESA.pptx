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98" r:id="rId4"/>
    <p:sldId id="303" r:id="rId5"/>
    <p:sldId id="302" r:id="rId6"/>
    <p:sldId id="300" r:id="rId7"/>
    <p:sldId id="304" r:id="rId8"/>
    <p:sldId id="306" r:id="rId9"/>
    <p:sldId id="299" r:id="rId10"/>
    <p:sldId id="301" r:id="rId11"/>
    <p:sldId id="307" r:id="rId12"/>
    <p:sldId id="305" r:id="rId13"/>
    <p:sldId id="310" r:id="rId14"/>
    <p:sldId id="308" r:id="rId15"/>
    <p:sldId id="309" r:id="rId16"/>
    <p:sldId id="312" r:id="rId17"/>
    <p:sldId id="260" r:id="rId18"/>
  </p:sldIdLst>
  <p:sldSz cx="18288000" cy="10287000"/>
  <p:notesSz cx="6858000" cy="9144000"/>
  <p:embeddedFontLst>
    <p:embeddedFont>
      <p:font typeface="Lucida Sans Unicode" panose="020B0602030504020204" pitchFamily="34" charset="0"/>
      <p:regular r:id="rId20"/>
    </p:embeddedFont>
    <p:embeddedFont>
      <p:font typeface="Open Sans" panose="020B0606030504020204" pitchFamily="34" charset="0"/>
      <p:regular r:id="rId21"/>
      <p:bold r:id="rId22"/>
      <p:italic r:id="rId23"/>
      <p:boldItalic r:id="rId24"/>
    </p:embeddedFont>
    <p:embeddedFont>
      <p:font typeface="Poppins" panose="00000500000000000000"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jTCP3zMS+7wh59/Mu2YfxkSog0Y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32" autoAdjust="0"/>
    <p:restoredTop sz="99665" autoAdjust="0"/>
  </p:normalViewPr>
  <p:slideViewPr>
    <p:cSldViewPr snapToGrid="0">
      <p:cViewPr varScale="1">
        <p:scale>
          <a:sx n="42" d="100"/>
          <a:sy n="42" d="100"/>
        </p:scale>
        <p:origin x="732" y="5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extLst>
      <p:ext uri="{BB962C8B-B14F-4D97-AF65-F5344CB8AC3E}">
        <p14:creationId xmlns:p14="http://schemas.microsoft.com/office/powerpoint/2010/main" val="28005354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18;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a:spLocks noGrp="1"/>
          </p:cNvSpPr>
          <p:nvPr>
            <p:ph type="pic" idx="2"/>
          </p:nvPr>
        </p:nvSpPr>
        <p:spPr>
          <a:xfrm>
            <a:off x="1792288" y="612775"/>
            <a:ext cx="5486400" cy="4114800"/>
          </a:xfrm>
          <a:prstGeom prst="rect">
            <a:avLst/>
          </a:prstGeom>
          <a:noFill/>
          <a:ln>
            <a:noFill/>
          </a:ln>
        </p:spPr>
      </p:sp>
      <p:sp>
        <p:nvSpPr>
          <p:cNvPr id="30" name="Google Shape;30;p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31" name="Google Shape;31;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4"/>
        <p:cNvGrpSpPr/>
        <p:nvPr/>
      </p:nvGrpSpPr>
      <p:grpSpPr>
        <a:xfrm>
          <a:off x="0" y="0"/>
          <a:ext cx="0" cy="0"/>
          <a:chOff x="0" y="0"/>
          <a:chExt cx="0" cy="0"/>
        </a:xfrm>
      </p:grpSpPr>
      <p:sp>
        <p:nvSpPr>
          <p:cNvPr id="35" name="Google Shape;35;p1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37" name="Google Shape;37;p1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38" name="Google Shape;3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9" name="Google Shape;49;p1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0" name="Google Shape;50;p1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1" name="Google Shape;51;p1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2" name="Google Shape;52;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58" name="Google Shape;58;p1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59" name="Google Shape;59;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65" name="Google Shape;65;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4"/>
        <p:cNvGrpSpPr/>
        <p:nvPr/>
      </p:nvGrpSpPr>
      <p:grpSpPr>
        <a:xfrm>
          <a:off x="0" y="0"/>
          <a:ext cx="0" cy="0"/>
          <a:chOff x="0" y="0"/>
          <a:chExt cx="0" cy="0"/>
        </a:xfrm>
      </p:grpSpPr>
      <p:sp>
        <p:nvSpPr>
          <p:cNvPr id="75" name="Google Shape;75;p1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77" name="Google Shape;77;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 name="Google Shape;7;p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 name="Google Shape;8;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9" name="Google Shape;9;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 name="Google Shape;1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8" Type="http://schemas.openxmlformats.org/officeDocument/2006/relationships/hyperlink" Target="https://youtu.be/_y7Tp1ji7T8?si=kZWvacU3T-oS82se" TargetMode="External"/><Relationship Id="rId3" Type="http://schemas.openxmlformats.org/officeDocument/2006/relationships/image" Target="../media/image6.png"/><Relationship Id="rId7" Type="http://schemas.openxmlformats.org/officeDocument/2006/relationships/hyperlink" Target="https://youtu.be/CsCCazF2rUY?si=WRD4QczDnBTSg62r" TargetMode="Externa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hyperlink" Target="https://youtu.be/9SRv-EZNFvI?si=H_GizcQnjDT1bCOX" TargetMode="External"/><Relationship Id="rId5" Type="http://schemas.openxmlformats.org/officeDocument/2006/relationships/hyperlink" Target="https://youtu.be/DpSii_Fw2Cg?si=_xjmg2WgjiZcCB0J" TargetMode="External"/><Relationship Id="rId10" Type="http://schemas.openxmlformats.org/officeDocument/2006/relationships/hyperlink" Target="https://youtu.be/3HzFFqEtAOI?si=X7XV3ckkLCESMYY9" TargetMode="External"/><Relationship Id="rId4" Type="http://schemas.openxmlformats.org/officeDocument/2006/relationships/image" Target="../media/image7.png"/><Relationship Id="rId9" Type="http://schemas.openxmlformats.org/officeDocument/2006/relationships/hyperlink" Target="https://youtu.be/vzIBphE3H9Q?si=BJM11B86_DHMwWmh"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7B49E"/>
        </a:solidFill>
        <a:effectLst/>
      </p:bgPr>
    </p:bg>
    <p:spTree>
      <p:nvGrpSpPr>
        <p:cNvPr id="1" name="Shape 83"/>
        <p:cNvGrpSpPr/>
        <p:nvPr/>
      </p:nvGrpSpPr>
      <p:grpSpPr>
        <a:xfrm>
          <a:off x="0" y="0"/>
          <a:ext cx="0" cy="0"/>
          <a:chOff x="0" y="0"/>
          <a:chExt cx="0" cy="0"/>
        </a:xfrm>
      </p:grpSpPr>
      <p:sp>
        <p:nvSpPr>
          <p:cNvPr id="84" name="Google Shape;84;p1"/>
          <p:cNvSpPr/>
          <p:nvPr/>
        </p:nvSpPr>
        <p:spPr>
          <a:xfrm>
            <a:off x="15147925" y="1028700"/>
            <a:ext cx="2111375" cy="1931987"/>
          </a:xfrm>
          <a:custGeom>
            <a:avLst/>
            <a:gdLst/>
            <a:ahLst/>
            <a:cxnLst/>
            <a:rect l="l" t="t" r="r" b="b"/>
            <a:pathLst>
              <a:path w="2111795" h="1932533" extrusionOk="0">
                <a:moveTo>
                  <a:pt x="0" y="0"/>
                </a:moveTo>
                <a:lnTo>
                  <a:pt x="2111795" y="0"/>
                </a:lnTo>
                <a:lnTo>
                  <a:pt x="2111795" y="1932533"/>
                </a:lnTo>
                <a:lnTo>
                  <a:pt x="0" y="1932533"/>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85" name="Google Shape;85;p1"/>
          <p:cNvSpPr/>
          <p:nvPr/>
        </p:nvSpPr>
        <p:spPr>
          <a:xfrm>
            <a:off x="13166103" y="8716169"/>
            <a:ext cx="4502150" cy="1084262"/>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86" name="Google Shape;86;p1"/>
          <p:cNvSpPr txBox="1"/>
          <p:nvPr/>
        </p:nvSpPr>
        <p:spPr>
          <a:xfrm>
            <a:off x="3343262" y="1133633"/>
            <a:ext cx="10753725" cy="549381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F8FBFD"/>
              </a:buClr>
              <a:buSzPts val="8500"/>
              <a:buFont typeface="Poppins"/>
              <a:buNone/>
            </a:pPr>
            <a:r>
              <a:rPr lang="en-US" sz="8500" dirty="0">
                <a:solidFill>
                  <a:srgbClr val="F8FBFD"/>
                </a:solidFill>
                <a:latin typeface="Poppins"/>
                <a:cs typeface="Poppins"/>
                <a:sym typeface="Poppins"/>
              </a:rPr>
              <a:t>TEMA 6.</a:t>
            </a:r>
          </a:p>
          <a:p>
            <a:pPr marL="0" marR="0" lvl="0" indent="0" algn="ctr" rtl="0">
              <a:lnSpc>
                <a:spcPct val="140000"/>
              </a:lnSpc>
              <a:spcBef>
                <a:spcPts val="0"/>
              </a:spcBef>
              <a:spcAft>
                <a:spcPts val="0"/>
              </a:spcAft>
              <a:buClr>
                <a:srgbClr val="F8FBFD"/>
              </a:buClr>
              <a:buSzPts val="8500"/>
              <a:buFont typeface="Poppins"/>
              <a:buNone/>
            </a:pPr>
            <a:r>
              <a:rPr lang="en-US" sz="8500" dirty="0">
                <a:solidFill>
                  <a:srgbClr val="F8FBFD"/>
                </a:solidFill>
                <a:latin typeface="Poppins"/>
                <a:cs typeface="Poppins"/>
                <a:sym typeface="Poppins"/>
              </a:rPr>
              <a:t>LOS RRHH EN LA EMPRESA</a:t>
            </a:r>
          </a:p>
        </p:txBody>
      </p:sp>
      <p:pic>
        <p:nvPicPr>
          <p:cNvPr id="5" name="Imagen 4" descr="Interfaz de usuario gráfica, Texto&#10;&#10;Descripción generada automáticamente">
            <a:extLst>
              <a:ext uri="{FF2B5EF4-FFF2-40B4-BE49-F238E27FC236}">
                <a16:creationId xmlns:a16="http://schemas.microsoft.com/office/drawing/2014/main" id="{DCD2A8D4-07FB-0F5C-9B7B-629B4C9539A5}"/>
              </a:ext>
            </a:extLst>
          </p:cNvPr>
          <p:cNvPicPr>
            <a:picLocks noChangeAspect="1"/>
          </p:cNvPicPr>
          <p:nvPr/>
        </p:nvPicPr>
        <p:blipFill>
          <a:blip r:embed="rId5"/>
          <a:stretch>
            <a:fillRect/>
          </a:stretch>
        </p:blipFill>
        <p:spPr>
          <a:xfrm>
            <a:off x="1432560" y="8573660"/>
            <a:ext cx="4531295" cy="10842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p:nvPr/>
        </p:nvSpPr>
        <p:spPr>
          <a:xfrm>
            <a:off x="16129000" y="1028700"/>
            <a:ext cx="1130300" cy="1031875"/>
          </a:xfrm>
          <a:custGeom>
            <a:avLst/>
            <a:gdLst/>
            <a:ahLst/>
            <a:cxnLst/>
            <a:rect l="l" t="t" r="r" b="b"/>
            <a:pathLst>
              <a:path w="1130949" h="1032248" extrusionOk="0">
                <a:moveTo>
                  <a:pt x="0" y="0"/>
                </a:moveTo>
                <a:lnTo>
                  <a:pt x="1130949" y="0"/>
                </a:lnTo>
                <a:lnTo>
                  <a:pt x="1130949" y="1032248"/>
                </a:lnTo>
                <a:lnTo>
                  <a:pt x="0" y="1032248"/>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94" name="Google Shape;94;p2"/>
          <p:cNvSpPr/>
          <p:nvPr/>
        </p:nvSpPr>
        <p:spPr>
          <a:xfrm>
            <a:off x="13575369" y="8930782"/>
            <a:ext cx="4502150" cy="1084262"/>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2" name="CuadroTexto 1">
            <a:extLst>
              <a:ext uri="{FF2B5EF4-FFF2-40B4-BE49-F238E27FC236}">
                <a16:creationId xmlns:a16="http://schemas.microsoft.com/office/drawing/2014/main" id="{574F2EC2-17D0-B596-4461-FC034EF53CD3}"/>
              </a:ext>
            </a:extLst>
          </p:cNvPr>
          <p:cNvSpPr txBox="1"/>
          <p:nvPr/>
        </p:nvSpPr>
        <p:spPr>
          <a:xfrm>
            <a:off x="1264920" y="1028700"/>
            <a:ext cx="14970760" cy="8303235"/>
          </a:xfrm>
          <a:prstGeom prst="rect">
            <a:avLst/>
          </a:prstGeom>
          <a:noFill/>
        </p:spPr>
        <p:txBody>
          <a:bodyPr wrap="square">
            <a:spAutoFit/>
          </a:bodyPr>
          <a:lstStyle/>
          <a:p>
            <a:pPr>
              <a:lnSpc>
                <a:spcPct val="107000"/>
              </a:lnSpc>
              <a:spcAft>
                <a:spcPts val="800"/>
              </a:spcAft>
            </a:pPr>
            <a:r>
              <a:rPr lang="es-ES" sz="3600" b="1" dirty="0">
                <a:effectLst/>
                <a:latin typeface="Poppins" panose="00000500000000000000" pitchFamily="2" charset="0"/>
                <a:ea typeface="Lucida Sans Unicode" panose="020B0602030504020204" pitchFamily="34" charset="0"/>
                <a:cs typeface="Poppins" panose="00000500000000000000" pitchFamily="2" charset="0"/>
              </a:rPr>
              <a:t>UNIDAD 6: LOS RRHH EN LA EMPRESA</a:t>
            </a:r>
          </a:p>
          <a:p>
            <a:pPr>
              <a:lnSpc>
                <a:spcPct val="107000"/>
              </a:lnSpc>
              <a:spcAft>
                <a:spcPts val="800"/>
              </a:spcAft>
            </a:pPr>
            <a:endParaRPr lang="es-ES" sz="3600" b="1" dirty="0">
              <a:effectLst/>
              <a:latin typeface="Poppins" panose="00000500000000000000" pitchFamily="2" charset="0"/>
              <a:ea typeface="Lucida Sans Unicode" panose="020B0602030504020204" pitchFamily="34" charset="0"/>
              <a:cs typeface="Poppins" panose="00000500000000000000" pitchFamily="2" charset="0"/>
            </a:endParaRPr>
          </a:p>
          <a:p>
            <a:pPr>
              <a:lnSpc>
                <a:spcPct val="107000"/>
              </a:lnSpc>
              <a:spcAft>
                <a:spcPts val="800"/>
              </a:spcAft>
            </a:pPr>
            <a:r>
              <a:rPr lang="es-ES" sz="3600" dirty="0">
                <a:latin typeface="Poppins" panose="00000500000000000000" pitchFamily="2" charset="0"/>
                <a:ea typeface="Lucida Sans Unicode" panose="020B0602030504020204" pitchFamily="34" charset="0"/>
                <a:cs typeface="Poppins" panose="00000500000000000000" pitchFamily="2" charset="0"/>
              </a:rPr>
              <a:t>En esta unidad tendremos en cuenta:</a:t>
            </a:r>
            <a:endParaRPr lang="es-ES" sz="3600" dirty="0">
              <a:effectLst/>
              <a:latin typeface="Poppins" panose="00000500000000000000" pitchFamily="2" charset="0"/>
              <a:ea typeface="Lucida Sans Unicode" panose="020B0602030504020204" pitchFamily="34" charset="0"/>
              <a:cs typeface="Poppins" panose="00000500000000000000" pitchFamily="2" charset="0"/>
            </a:endParaRPr>
          </a:p>
          <a:p>
            <a:pPr marL="342900" lvl="0" indent="-342900">
              <a:spcBef>
                <a:spcPts val="70"/>
              </a:spcBef>
              <a:spcAft>
                <a:spcPts val="900"/>
              </a:spcAft>
              <a:buSzPts val="1050"/>
              <a:buFont typeface="Lucida Sans Unicode" panose="020B0602030504020204" pitchFamily="34" charset="0"/>
              <a:buChar char="-"/>
            </a:pPr>
            <a:r>
              <a:rPr lang="es-ES" sz="3600" dirty="0">
                <a:effectLst/>
                <a:latin typeface="Open Sans" panose="020B0606030504020204" pitchFamily="34" charset="0"/>
                <a:ea typeface="Lucida Sans Unicode" panose="020B0602030504020204" pitchFamily="34" charset="0"/>
              </a:rPr>
              <a:t>Categorías profesionales en las pymes del sector del ciclo formativo de acuerdo con lo establecido en el convenio colectivo correspondiente</a:t>
            </a:r>
            <a:endParaRPr lang="es-ES" sz="3600" dirty="0">
              <a:effectLst/>
              <a:latin typeface="Lucida Sans Unicode" panose="020B0602030504020204" pitchFamily="34" charset="0"/>
              <a:ea typeface="Lucida Sans Unicode" panose="020B0602030504020204" pitchFamily="34" charset="0"/>
            </a:endParaRPr>
          </a:p>
          <a:p>
            <a:pPr marL="342900" lvl="0" indent="-342900">
              <a:spcBef>
                <a:spcPts val="70"/>
              </a:spcBef>
              <a:spcAft>
                <a:spcPts val="900"/>
              </a:spcAft>
              <a:buSzPts val="1050"/>
              <a:buFont typeface="Lucida Sans Unicode" panose="020B0602030504020204" pitchFamily="34" charset="0"/>
              <a:buChar char="-"/>
            </a:pPr>
            <a:r>
              <a:rPr lang="es-ES" sz="3600" dirty="0">
                <a:effectLst/>
                <a:latin typeface="Open Sans" panose="020B0606030504020204" pitchFamily="34" charset="0"/>
                <a:ea typeface="Lucida Sans Unicode" panose="020B0602030504020204" pitchFamily="34" charset="0"/>
              </a:rPr>
              <a:t>Necesidades de personal en las pymes del sector del ciclo formativo. Organigrama.</a:t>
            </a:r>
            <a:endParaRPr lang="es-ES" sz="3600" dirty="0">
              <a:effectLst/>
              <a:latin typeface="Lucida Sans Unicode" panose="020B0602030504020204" pitchFamily="34" charset="0"/>
              <a:ea typeface="Lucida Sans Unicode" panose="020B0602030504020204" pitchFamily="34" charset="0"/>
            </a:endParaRPr>
          </a:p>
          <a:p>
            <a:pPr marL="342900" lvl="0" indent="-342900">
              <a:spcBef>
                <a:spcPts val="70"/>
              </a:spcBef>
              <a:spcAft>
                <a:spcPts val="900"/>
              </a:spcAft>
              <a:buSzPts val="1050"/>
              <a:buFont typeface="Lucida Sans Unicode" panose="020B0602030504020204" pitchFamily="34" charset="0"/>
              <a:buChar char="-"/>
            </a:pPr>
            <a:r>
              <a:rPr lang="es-ES" sz="3600" dirty="0">
                <a:effectLst/>
                <a:latin typeface="Open Sans" panose="020B0606030504020204" pitchFamily="34" charset="0"/>
                <a:ea typeface="Lucida Sans Unicode" panose="020B0602030504020204" pitchFamily="34" charset="0"/>
              </a:rPr>
              <a:t>El coste del personal de acuerdo con los salarios de mercado en el sector en que se enmarca el ciclo formativo.</a:t>
            </a:r>
            <a:endParaRPr lang="es-ES" sz="3600" dirty="0">
              <a:effectLst/>
              <a:latin typeface="Lucida Sans Unicode" panose="020B0602030504020204" pitchFamily="34" charset="0"/>
              <a:ea typeface="Lucida Sans Unicode" panose="020B0602030504020204" pitchFamily="34" charset="0"/>
            </a:endParaRPr>
          </a:p>
          <a:p>
            <a:pPr marL="342900" lvl="0" indent="-342900">
              <a:lnSpc>
                <a:spcPct val="107000"/>
              </a:lnSpc>
              <a:spcAft>
                <a:spcPts val="800"/>
              </a:spcAft>
              <a:buSzPts val="1050"/>
              <a:buFont typeface="Lucida Sans Unicode" panose="020B0602030504020204" pitchFamily="34" charset="0"/>
              <a:buChar char="-"/>
            </a:pPr>
            <a:r>
              <a:rPr lang="es-ES" sz="3600" dirty="0">
                <a:effectLst/>
                <a:latin typeface="Open Sans" panose="020B0606030504020204" pitchFamily="34" charset="0"/>
                <a:ea typeface="Lucida Sans Unicode" panose="020B0602030504020204" pitchFamily="34" charset="0"/>
              </a:rPr>
              <a:t>Liderazgo y motivación. La comunicación en las empresas del sector</a:t>
            </a:r>
            <a:endParaRPr lang="es-ES" sz="3600" dirty="0">
              <a:effectLst/>
              <a:latin typeface="Calibri" panose="020F0502020204030204" pitchFamily="34" charset="0"/>
              <a:ea typeface="Lucida Sans Unicode" panose="020B0602030504020204" pitchFamily="34" charset="0"/>
            </a:endParaRPr>
          </a:p>
          <a:p>
            <a:pPr>
              <a:lnSpc>
                <a:spcPct val="107000"/>
              </a:lnSpc>
              <a:spcAft>
                <a:spcPts val="800"/>
              </a:spcAft>
            </a:pPr>
            <a:endParaRPr lang="es-ES" sz="3600" dirty="0">
              <a:effectLst/>
              <a:latin typeface="Poppins" panose="00000500000000000000" pitchFamily="2" charset="0"/>
              <a:ea typeface="Calibri" panose="020F0502020204030204" pitchFamily="34" charset="0"/>
              <a:cs typeface="Poppins" panose="00000500000000000000" pitchFamily="2" charset="0"/>
            </a:endParaRPr>
          </a:p>
        </p:txBody>
      </p:sp>
      <p:pic>
        <p:nvPicPr>
          <p:cNvPr id="3" name="Imagen 2" descr="Interfaz de usuario gráfica, Texto&#10;&#10;Descripción generada automáticamente">
            <a:extLst>
              <a:ext uri="{FF2B5EF4-FFF2-40B4-BE49-F238E27FC236}">
                <a16:creationId xmlns:a16="http://schemas.microsoft.com/office/drawing/2014/main" id="{59A8ABC7-FE18-91FF-A439-A9E0C5D81BAE}"/>
              </a:ext>
            </a:extLst>
          </p:cNvPr>
          <p:cNvPicPr>
            <a:picLocks noChangeAspect="1"/>
          </p:cNvPicPr>
          <p:nvPr/>
        </p:nvPicPr>
        <p:blipFill>
          <a:blip r:embed="rId5"/>
          <a:stretch>
            <a:fillRect/>
          </a:stretch>
        </p:blipFill>
        <p:spPr>
          <a:xfrm>
            <a:off x="624840" y="8900093"/>
            <a:ext cx="4531295" cy="10842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F3B49B6E-A41A-74DF-119F-9911CAA701F6}"/>
              </a:ext>
            </a:extLst>
          </p:cNvPr>
          <p:cNvPicPr>
            <a:picLocks noChangeAspect="1"/>
          </p:cNvPicPr>
          <p:nvPr/>
        </p:nvPicPr>
        <p:blipFill>
          <a:blip r:embed="rId2"/>
          <a:stretch>
            <a:fillRect/>
          </a:stretch>
        </p:blipFill>
        <p:spPr>
          <a:xfrm>
            <a:off x="16352471" y="498303"/>
            <a:ext cx="1127858" cy="1030313"/>
          </a:xfrm>
          <a:prstGeom prst="rect">
            <a:avLst/>
          </a:prstGeom>
        </p:spPr>
      </p:pic>
      <p:pic>
        <p:nvPicPr>
          <p:cNvPr id="7" name="Imagen 6">
            <a:extLst>
              <a:ext uri="{FF2B5EF4-FFF2-40B4-BE49-F238E27FC236}">
                <a16:creationId xmlns:a16="http://schemas.microsoft.com/office/drawing/2014/main" id="{C936C075-8A7F-609F-210F-0F0DC8CC3B42}"/>
              </a:ext>
            </a:extLst>
          </p:cNvPr>
          <p:cNvPicPr>
            <a:picLocks noChangeAspect="1"/>
          </p:cNvPicPr>
          <p:nvPr/>
        </p:nvPicPr>
        <p:blipFill>
          <a:blip r:embed="rId3"/>
          <a:stretch>
            <a:fillRect/>
          </a:stretch>
        </p:blipFill>
        <p:spPr>
          <a:xfrm>
            <a:off x="338855" y="8971431"/>
            <a:ext cx="4529721" cy="1085182"/>
          </a:xfrm>
          <a:prstGeom prst="rect">
            <a:avLst/>
          </a:prstGeom>
        </p:spPr>
      </p:pic>
      <p:pic>
        <p:nvPicPr>
          <p:cNvPr id="8" name="Imagen 7">
            <a:extLst>
              <a:ext uri="{FF2B5EF4-FFF2-40B4-BE49-F238E27FC236}">
                <a16:creationId xmlns:a16="http://schemas.microsoft.com/office/drawing/2014/main" id="{8E6C05F2-F65A-DE63-98C7-0FEBB2AEDEAF}"/>
              </a:ext>
            </a:extLst>
          </p:cNvPr>
          <p:cNvPicPr>
            <a:picLocks noChangeAspect="1"/>
          </p:cNvPicPr>
          <p:nvPr/>
        </p:nvPicPr>
        <p:blipFill>
          <a:blip r:embed="rId4"/>
          <a:stretch>
            <a:fillRect/>
          </a:stretch>
        </p:blipFill>
        <p:spPr>
          <a:xfrm>
            <a:off x="13419426" y="8971431"/>
            <a:ext cx="4499238" cy="1085182"/>
          </a:xfrm>
          <a:prstGeom prst="rect">
            <a:avLst/>
          </a:prstGeom>
        </p:spPr>
      </p:pic>
      <p:sp>
        <p:nvSpPr>
          <p:cNvPr id="3" name="CuadroTexto 2">
            <a:extLst>
              <a:ext uri="{FF2B5EF4-FFF2-40B4-BE49-F238E27FC236}">
                <a16:creationId xmlns:a16="http://schemas.microsoft.com/office/drawing/2014/main" id="{BB16DDAC-8CBF-2A9F-93BB-9B3ABDA50871}"/>
              </a:ext>
            </a:extLst>
          </p:cNvPr>
          <p:cNvSpPr txBox="1"/>
          <p:nvPr/>
        </p:nvSpPr>
        <p:spPr>
          <a:xfrm>
            <a:off x="1005840" y="822960"/>
            <a:ext cx="15880080" cy="8156079"/>
          </a:xfrm>
          <a:prstGeom prst="rect">
            <a:avLst/>
          </a:prstGeom>
          <a:noFill/>
        </p:spPr>
        <p:txBody>
          <a:bodyPr wrap="square">
            <a:spAutoFit/>
          </a:bodyPr>
          <a:lstStyle/>
          <a:p>
            <a:pPr marL="304800" indent="-304800" eaLnBrk="1" hangingPunct="1">
              <a:buFontTx/>
              <a:buNone/>
            </a:pPr>
            <a:r>
              <a:rPr lang="es-ES" altLang="es-ES" sz="2800" b="1" dirty="0">
                <a:latin typeface="Poppins" panose="00000500000000000000" pitchFamily="2" charset="0"/>
                <a:cs typeface="Poppins" panose="00000500000000000000" pitchFamily="2" charset="0"/>
              </a:rPr>
              <a:t>En un buen  PLAN DE RRHH…</a:t>
            </a:r>
          </a:p>
          <a:p>
            <a:pPr marL="304800" indent="-304800" algn="ctr" eaLnBrk="1" hangingPunct="1">
              <a:buFontTx/>
              <a:buNone/>
            </a:pPr>
            <a:endParaRPr lang="es-ES" altLang="es-ES" sz="2800" b="1" dirty="0">
              <a:latin typeface="Poppins" panose="00000500000000000000" pitchFamily="2" charset="0"/>
              <a:cs typeface="Poppins" panose="00000500000000000000" pitchFamily="2" charset="0"/>
            </a:endParaRPr>
          </a:p>
          <a:p>
            <a:pPr marL="304800" indent="-304800" algn="ctr" eaLnBrk="1" hangingPunct="1">
              <a:buFontTx/>
              <a:buNone/>
            </a:pPr>
            <a:r>
              <a:rPr lang="es-ES" altLang="es-ES" sz="2400" b="1" i="1" dirty="0">
                <a:solidFill>
                  <a:srgbClr val="3366FF"/>
                </a:solidFill>
                <a:latin typeface="Poppins" panose="00000500000000000000" pitchFamily="2" charset="0"/>
                <a:cs typeface="Poppins" panose="00000500000000000000" pitchFamily="2" charset="0"/>
              </a:rPr>
              <a:t>Un buen empresario debe ser como un buen navegante, </a:t>
            </a:r>
          </a:p>
          <a:p>
            <a:pPr marL="304800" indent="-304800" algn="ctr" eaLnBrk="1" hangingPunct="1">
              <a:buFontTx/>
              <a:buNone/>
            </a:pPr>
            <a:r>
              <a:rPr lang="es-ES" altLang="es-ES" sz="2400" b="1" i="1" dirty="0">
                <a:solidFill>
                  <a:srgbClr val="3366FF"/>
                </a:solidFill>
                <a:latin typeface="Poppins" panose="00000500000000000000" pitchFamily="2" charset="0"/>
                <a:cs typeface="Poppins" panose="00000500000000000000" pitchFamily="2" charset="0"/>
              </a:rPr>
              <a:t>capaz de hacer avanzar la nave, </a:t>
            </a:r>
          </a:p>
          <a:p>
            <a:pPr marL="304800" indent="-304800" algn="ctr" eaLnBrk="1" hangingPunct="1">
              <a:buFontTx/>
              <a:buNone/>
            </a:pPr>
            <a:r>
              <a:rPr lang="es-ES" altLang="es-ES" sz="2400" b="1" i="1" dirty="0">
                <a:solidFill>
                  <a:srgbClr val="3366FF"/>
                </a:solidFill>
                <a:latin typeface="Poppins" panose="00000500000000000000" pitchFamily="2" charset="0"/>
                <a:cs typeface="Poppins" panose="00000500000000000000" pitchFamily="2" charset="0"/>
              </a:rPr>
              <a:t>armonizando vientos de diferentes direcciones. </a:t>
            </a:r>
          </a:p>
          <a:p>
            <a:pPr marL="304800" indent="-304800" algn="ctr" eaLnBrk="1" hangingPunct="1">
              <a:buFontTx/>
              <a:buNone/>
            </a:pPr>
            <a:r>
              <a:rPr lang="es-ES" altLang="es-ES" sz="2400" b="1" i="1" dirty="0">
                <a:solidFill>
                  <a:srgbClr val="3366FF"/>
                </a:solidFill>
                <a:latin typeface="Poppins" panose="00000500000000000000" pitchFamily="2" charset="0"/>
                <a:cs typeface="Poppins" panose="00000500000000000000" pitchFamily="2" charset="0"/>
              </a:rPr>
              <a:t>Debe tener claro el rumbo deseado,</a:t>
            </a:r>
          </a:p>
          <a:p>
            <a:pPr marL="304800" indent="-304800" algn="ctr" eaLnBrk="1" hangingPunct="1">
              <a:buFontTx/>
              <a:buNone/>
            </a:pPr>
            <a:r>
              <a:rPr lang="es-ES" altLang="es-ES" sz="2400" b="1" i="1" dirty="0">
                <a:solidFill>
                  <a:srgbClr val="3366FF"/>
                </a:solidFill>
                <a:latin typeface="Poppins" panose="00000500000000000000" pitchFamily="2" charset="0"/>
                <a:cs typeface="Poppins" panose="00000500000000000000" pitchFamily="2" charset="0"/>
              </a:rPr>
              <a:t>conocer el estado del mar, las características de la nave y</a:t>
            </a:r>
          </a:p>
          <a:p>
            <a:pPr marL="304800" indent="-304800" algn="ctr" eaLnBrk="1" hangingPunct="1">
              <a:buFontTx/>
              <a:buNone/>
            </a:pPr>
            <a:r>
              <a:rPr lang="es-ES" altLang="es-ES" sz="2400" b="1" i="1" dirty="0">
                <a:solidFill>
                  <a:srgbClr val="3366FF"/>
                </a:solidFill>
                <a:latin typeface="Poppins" panose="00000500000000000000" pitchFamily="2" charset="0"/>
                <a:cs typeface="Poppins" panose="00000500000000000000" pitchFamily="2" charset="0"/>
              </a:rPr>
              <a:t>el personal que lleva a bordo, </a:t>
            </a:r>
          </a:p>
          <a:p>
            <a:pPr marL="304800" indent="-304800" algn="ctr" eaLnBrk="1" hangingPunct="1">
              <a:buFontTx/>
              <a:buNone/>
            </a:pPr>
            <a:r>
              <a:rPr lang="es-ES" altLang="es-ES" sz="2400" b="1" i="1" dirty="0">
                <a:solidFill>
                  <a:srgbClr val="3366FF"/>
                </a:solidFill>
                <a:latin typeface="Poppins" panose="00000500000000000000" pitchFamily="2" charset="0"/>
                <a:cs typeface="Poppins" panose="00000500000000000000" pitchFamily="2" charset="0"/>
              </a:rPr>
              <a:t>teniendo siempre presente una visión estratégica.</a:t>
            </a:r>
          </a:p>
          <a:p>
            <a:pPr marL="304800" indent="-304800" algn="ctr" eaLnBrk="1" hangingPunct="1">
              <a:buFontTx/>
              <a:buNone/>
            </a:pPr>
            <a:endParaRPr lang="es-ES" altLang="es-ES" sz="2400" b="1" i="1" dirty="0">
              <a:solidFill>
                <a:srgbClr val="3366FF"/>
              </a:solidFill>
              <a:latin typeface="Poppins" panose="00000500000000000000" pitchFamily="2" charset="0"/>
              <a:cs typeface="Poppins" panose="00000500000000000000" pitchFamily="2" charset="0"/>
            </a:endParaRPr>
          </a:p>
          <a:p>
            <a:pPr marL="304800" indent="-304800" algn="ctr" eaLnBrk="1" hangingPunct="1">
              <a:buFontTx/>
              <a:buNone/>
            </a:pPr>
            <a:endParaRPr lang="es-ES" altLang="es-ES" sz="2400" b="1" i="1" dirty="0">
              <a:solidFill>
                <a:srgbClr val="3366FF"/>
              </a:solidFill>
              <a:latin typeface="Poppins" panose="00000500000000000000" pitchFamily="2" charset="0"/>
              <a:cs typeface="Poppins" panose="00000500000000000000" pitchFamily="2" charset="0"/>
            </a:endParaRPr>
          </a:p>
          <a:p>
            <a:pPr marL="304800" indent="-304800" eaLnBrk="1" hangingPunct="1">
              <a:buFontTx/>
              <a:buNone/>
            </a:pPr>
            <a:r>
              <a:rPr lang="es-ES" altLang="es-ES" sz="2800" b="1" dirty="0">
                <a:latin typeface="Poppins" panose="00000500000000000000" pitchFamily="2" charset="0"/>
                <a:cs typeface="Poppins" panose="00000500000000000000" pitchFamily="2" charset="0"/>
              </a:rPr>
              <a:t>Pasos del Plan de RRHH: </a:t>
            </a:r>
          </a:p>
          <a:p>
            <a:pPr marL="304800" indent="-304800" eaLnBrk="1" hangingPunct="1">
              <a:buFontTx/>
              <a:buNone/>
            </a:pPr>
            <a:endParaRPr lang="es-ES" altLang="es-ES" sz="2800" b="1" dirty="0">
              <a:latin typeface="Poppins" panose="00000500000000000000" pitchFamily="2" charset="0"/>
              <a:cs typeface="Poppins" panose="00000500000000000000" pitchFamily="2" charset="0"/>
            </a:endParaRPr>
          </a:p>
          <a:p>
            <a:pPr marL="304800" indent="-304800" eaLnBrk="1" hangingPunct="1"/>
            <a:r>
              <a:rPr lang="es-ES" altLang="es-ES" sz="2800" dirty="0">
                <a:latin typeface="Poppins" panose="00000500000000000000" pitchFamily="2" charset="0"/>
                <a:cs typeface="Poppins" panose="00000500000000000000" pitchFamily="2" charset="0"/>
              </a:rPr>
              <a:t>1. Determinar el número de </a:t>
            </a:r>
            <a:r>
              <a:rPr lang="es-ES" altLang="es-ES" sz="2800" b="1" dirty="0">
                <a:latin typeface="Poppins" panose="00000500000000000000" pitchFamily="2" charset="0"/>
                <a:cs typeface="Poppins" panose="00000500000000000000" pitchFamily="2" charset="0"/>
              </a:rPr>
              <a:t>personas necesarias</a:t>
            </a:r>
            <a:r>
              <a:rPr lang="es-ES" altLang="es-ES" sz="2800" dirty="0">
                <a:latin typeface="Poppins" panose="00000500000000000000" pitchFamily="2" charset="0"/>
                <a:cs typeface="Poppins" panose="00000500000000000000" pitchFamily="2" charset="0"/>
              </a:rPr>
              <a:t>.</a:t>
            </a:r>
          </a:p>
          <a:p>
            <a:pPr marL="304800" indent="-304800" eaLnBrk="1" hangingPunct="1"/>
            <a:r>
              <a:rPr lang="es-ES" altLang="es-ES" sz="2800" dirty="0">
                <a:latin typeface="Poppins" panose="00000500000000000000" pitchFamily="2" charset="0"/>
                <a:cs typeface="Poppins" panose="00000500000000000000" pitchFamily="2" charset="0"/>
              </a:rPr>
              <a:t>2. Describir las </a:t>
            </a:r>
            <a:r>
              <a:rPr lang="es-ES" altLang="es-ES" sz="2800" b="1" dirty="0">
                <a:latin typeface="Poppins" panose="00000500000000000000" pitchFamily="2" charset="0"/>
                <a:cs typeface="Poppins" panose="00000500000000000000" pitchFamily="2" charset="0"/>
              </a:rPr>
              <a:t>funciones, tareas, responsabilidades</a:t>
            </a:r>
            <a:r>
              <a:rPr lang="es-ES" altLang="es-ES" sz="2800" dirty="0">
                <a:latin typeface="Poppins" panose="00000500000000000000" pitchFamily="2" charset="0"/>
                <a:cs typeface="Poppins" panose="00000500000000000000" pitchFamily="2" charset="0"/>
              </a:rPr>
              <a:t> </a:t>
            </a:r>
            <a:r>
              <a:rPr lang="es-ES" altLang="es-ES" sz="2800" b="1" dirty="0">
                <a:latin typeface="Poppins" panose="00000500000000000000" pitchFamily="2" charset="0"/>
                <a:cs typeface="Poppins" panose="00000500000000000000" pitchFamily="2" charset="0"/>
              </a:rPr>
              <a:t>y competencias</a:t>
            </a:r>
            <a:r>
              <a:rPr lang="es-ES" altLang="es-ES" sz="2800" dirty="0">
                <a:latin typeface="Poppins" panose="00000500000000000000" pitchFamily="2" charset="0"/>
                <a:cs typeface="Poppins" panose="00000500000000000000" pitchFamily="2" charset="0"/>
              </a:rPr>
              <a:t> de cada puesto.</a:t>
            </a:r>
          </a:p>
          <a:p>
            <a:pPr marL="304800" indent="-304800" eaLnBrk="1" hangingPunct="1"/>
            <a:r>
              <a:rPr lang="es-ES" altLang="es-ES" sz="2800" b="1" dirty="0">
                <a:latin typeface="Poppins" panose="00000500000000000000" pitchFamily="2" charset="0"/>
                <a:cs typeface="Poppins" panose="00000500000000000000" pitchFamily="2" charset="0"/>
              </a:rPr>
              <a:t>3. Organigrama</a:t>
            </a:r>
            <a:r>
              <a:rPr lang="es-ES" altLang="es-ES" sz="2800" dirty="0">
                <a:latin typeface="Poppins" panose="00000500000000000000" pitchFamily="2" charset="0"/>
                <a:cs typeface="Poppins" panose="00000500000000000000" pitchFamily="2" charset="0"/>
              </a:rPr>
              <a:t> de la Empresa.</a:t>
            </a:r>
          </a:p>
          <a:p>
            <a:pPr marL="304800" indent="-304800" eaLnBrk="1" hangingPunct="1"/>
            <a:r>
              <a:rPr lang="es-ES" altLang="es-ES" sz="2800" dirty="0">
                <a:latin typeface="Poppins" panose="00000500000000000000" pitchFamily="2" charset="0"/>
                <a:cs typeface="Poppins" panose="00000500000000000000" pitchFamily="2" charset="0"/>
              </a:rPr>
              <a:t>4. Conocer la </a:t>
            </a:r>
            <a:r>
              <a:rPr lang="es-ES" altLang="es-ES" sz="2800" b="1" dirty="0">
                <a:latin typeface="Poppins" panose="00000500000000000000" pitchFamily="2" charset="0"/>
                <a:cs typeface="Poppins" panose="00000500000000000000" pitchFamily="2" charset="0"/>
              </a:rPr>
              <a:t>normativa</a:t>
            </a:r>
            <a:r>
              <a:rPr lang="es-ES" altLang="es-ES" sz="2800" dirty="0">
                <a:latin typeface="Poppins" panose="00000500000000000000" pitchFamily="2" charset="0"/>
                <a:cs typeface="Poppins" panose="00000500000000000000" pitchFamily="2" charset="0"/>
              </a:rPr>
              <a:t>: Estatuto y convenio colectivo.</a:t>
            </a:r>
          </a:p>
          <a:p>
            <a:pPr marL="304800" indent="-304800" eaLnBrk="1" hangingPunct="1"/>
            <a:r>
              <a:rPr lang="es-ES" altLang="es-ES" sz="2800" dirty="0">
                <a:latin typeface="Poppins" panose="00000500000000000000" pitchFamily="2" charset="0"/>
                <a:cs typeface="Poppins" panose="00000500000000000000" pitchFamily="2" charset="0"/>
              </a:rPr>
              <a:t>5. Establecer las </a:t>
            </a:r>
            <a:r>
              <a:rPr lang="es-ES" altLang="es-ES" sz="2800" b="1" dirty="0">
                <a:latin typeface="Poppins" panose="00000500000000000000" pitchFamily="2" charset="0"/>
                <a:cs typeface="Poppins" panose="00000500000000000000" pitchFamily="2" charset="0"/>
              </a:rPr>
              <a:t>condiciones</a:t>
            </a:r>
            <a:r>
              <a:rPr lang="es-ES" altLang="es-ES" sz="2800" dirty="0">
                <a:latin typeface="Poppins" panose="00000500000000000000" pitchFamily="2" charset="0"/>
                <a:cs typeface="Poppins" panose="00000500000000000000" pitchFamily="2" charset="0"/>
              </a:rPr>
              <a:t> de cada puesto de trabajo. Tipo de contrato y retribución.</a:t>
            </a:r>
          </a:p>
          <a:p>
            <a:pPr marL="304800" indent="-304800" eaLnBrk="1" hangingPunct="1"/>
            <a:r>
              <a:rPr lang="es-ES" altLang="es-ES" sz="2800" b="1" dirty="0">
                <a:latin typeface="Poppins" panose="00000500000000000000" pitchFamily="2" charset="0"/>
                <a:cs typeface="Poppins" panose="00000500000000000000" pitchFamily="2" charset="0"/>
              </a:rPr>
              <a:t>6. Reclutamiento y selección</a:t>
            </a:r>
            <a:r>
              <a:rPr lang="es-ES" altLang="es-ES" sz="2800" dirty="0">
                <a:latin typeface="Poppins" panose="00000500000000000000" pitchFamily="2" charset="0"/>
                <a:cs typeface="Poppins" panose="00000500000000000000" pitchFamily="2" charset="0"/>
              </a:rPr>
              <a:t>.</a:t>
            </a:r>
          </a:p>
          <a:p>
            <a:pPr marL="304800" indent="-304800" algn="ctr" eaLnBrk="1" hangingPunct="1">
              <a:buFontTx/>
              <a:buNone/>
            </a:pPr>
            <a:br>
              <a:rPr lang="es-ES" altLang="es-ES" sz="1400" b="1" i="1" dirty="0">
                <a:solidFill>
                  <a:srgbClr val="3366FF"/>
                </a:solidFill>
                <a:latin typeface="Poppins" panose="00000500000000000000" pitchFamily="2" charset="0"/>
                <a:cs typeface="Poppins" panose="00000500000000000000" pitchFamily="2" charset="0"/>
              </a:rPr>
            </a:br>
            <a:endParaRPr lang="es-ES" altLang="es-ES" sz="1400" b="1" i="1" dirty="0">
              <a:solidFill>
                <a:srgbClr val="3366FF"/>
              </a:solidFill>
              <a:latin typeface="Poppins" panose="00000500000000000000" pitchFamily="2" charset="0"/>
              <a:cs typeface="Poppins" panose="00000500000000000000" pitchFamily="2" charset="0"/>
            </a:endParaRPr>
          </a:p>
        </p:txBody>
      </p:sp>
      <p:pic>
        <p:nvPicPr>
          <p:cNvPr id="4" name="Picture 5" descr="remeros_portada">
            <a:extLst>
              <a:ext uri="{FF2B5EF4-FFF2-40B4-BE49-F238E27FC236}">
                <a16:creationId xmlns:a16="http://schemas.microsoft.com/office/drawing/2014/main" id="{4D94A640-EFCB-9524-5473-0E95139B18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49012" y="2866550"/>
            <a:ext cx="4147733" cy="251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2738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F3B49B6E-A41A-74DF-119F-9911CAA701F6}"/>
              </a:ext>
            </a:extLst>
          </p:cNvPr>
          <p:cNvPicPr>
            <a:picLocks noChangeAspect="1"/>
          </p:cNvPicPr>
          <p:nvPr/>
        </p:nvPicPr>
        <p:blipFill>
          <a:blip r:embed="rId2"/>
          <a:stretch>
            <a:fillRect/>
          </a:stretch>
        </p:blipFill>
        <p:spPr>
          <a:xfrm>
            <a:off x="16352471" y="498303"/>
            <a:ext cx="1127858" cy="1030313"/>
          </a:xfrm>
          <a:prstGeom prst="rect">
            <a:avLst/>
          </a:prstGeom>
        </p:spPr>
      </p:pic>
      <p:pic>
        <p:nvPicPr>
          <p:cNvPr id="7" name="Imagen 6">
            <a:extLst>
              <a:ext uri="{FF2B5EF4-FFF2-40B4-BE49-F238E27FC236}">
                <a16:creationId xmlns:a16="http://schemas.microsoft.com/office/drawing/2014/main" id="{C936C075-8A7F-609F-210F-0F0DC8CC3B42}"/>
              </a:ext>
            </a:extLst>
          </p:cNvPr>
          <p:cNvPicPr>
            <a:picLocks noChangeAspect="1"/>
          </p:cNvPicPr>
          <p:nvPr/>
        </p:nvPicPr>
        <p:blipFill>
          <a:blip r:embed="rId3"/>
          <a:stretch>
            <a:fillRect/>
          </a:stretch>
        </p:blipFill>
        <p:spPr>
          <a:xfrm>
            <a:off x="338855" y="8971431"/>
            <a:ext cx="4529721" cy="1085182"/>
          </a:xfrm>
          <a:prstGeom prst="rect">
            <a:avLst/>
          </a:prstGeom>
        </p:spPr>
      </p:pic>
      <p:pic>
        <p:nvPicPr>
          <p:cNvPr id="8" name="Imagen 7">
            <a:extLst>
              <a:ext uri="{FF2B5EF4-FFF2-40B4-BE49-F238E27FC236}">
                <a16:creationId xmlns:a16="http://schemas.microsoft.com/office/drawing/2014/main" id="{8E6C05F2-F65A-DE63-98C7-0FEBB2AEDEAF}"/>
              </a:ext>
            </a:extLst>
          </p:cNvPr>
          <p:cNvPicPr>
            <a:picLocks noChangeAspect="1"/>
          </p:cNvPicPr>
          <p:nvPr/>
        </p:nvPicPr>
        <p:blipFill>
          <a:blip r:embed="rId4"/>
          <a:stretch>
            <a:fillRect/>
          </a:stretch>
        </p:blipFill>
        <p:spPr>
          <a:xfrm>
            <a:off x="13419426" y="8971431"/>
            <a:ext cx="4499238" cy="1085182"/>
          </a:xfrm>
          <a:prstGeom prst="rect">
            <a:avLst/>
          </a:prstGeom>
        </p:spPr>
      </p:pic>
      <p:sp>
        <p:nvSpPr>
          <p:cNvPr id="3" name="CuadroTexto 2">
            <a:extLst>
              <a:ext uri="{FF2B5EF4-FFF2-40B4-BE49-F238E27FC236}">
                <a16:creationId xmlns:a16="http://schemas.microsoft.com/office/drawing/2014/main" id="{B19F920A-292F-AA96-E4F7-3401D72139E7}"/>
              </a:ext>
            </a:extLst>
          </p:cNvPr>
          <p:cNvSpPr txBox="1"/>
          <p:nvPr/>
        </p:nvSpPr>
        <p:spPr>
          <a:xfrm>
            <a:off x="807671" y="679542"/>
            <a:ext cx="15499080" cy="7417415"/>
          </a:xfrm>
          <a:prstGeom prst="rect">
            <a:avLst/>
          </a:prstGeom>
          <a:noFill/>
        </p:spPr>
        <p:txBody>
          <a:bodyPr wrap="square">
            <a:spAutoFit/>
          </a:bodyPr>
          <a:lstStyle/>
          <a:p>
            <a:pPr algn="l"/>
            <a:r>
              <a:rPr lang="es-ES" sz="2800" b="1" i="0" u="none" strike="noStrike" baseline="0" dirty="0">
                <a:solidFill>
                  <a:srgbClr val="430A1F"/>
                </a:solidFill>
                <a:latin typeface="Poppins" panose="00000500000000000000" pitchFamily="2" charset="0"/>
                <a:cs typeface="Poppins" panose="00000500000000000000" pitchFamily="2" charset="0"/>
              </a:rPr>
              <a:t>ERRORES COMUNES EN UNA PLANIFICACIÓN ESTRATÉGICA DE POLÍTICA DE RRHH</a:t>
            </a:r>
          </a:p>
          <a:p>
            <a:pPr algn="l"/>
            <a:endParaRPr lang="es-ES" sz="2800" b="1" dirty="0">
              <a:solidFill>
                <a:srgbClr val="430A1F"/>
              </a:solidFill>
              <a:latin typeface="Poppins" panose="00000500000000000000" pitchFamily="2" charset="0"/>
              <a:cs typeface="Poppins" panose="00000500000000000000" pitchFamily="2" charset="0"/>
            </a:endParaRPr>
          </a:p>
          <a:p>
            <a:pPr algn="l"/>
            <a:r>
              <a:rPr lang="es-ES" sz="2800" b="1" i="0" u="none" strike="noStrike" baseline="0" dirty="0">
                <a:solidFill>
                  <a:srgbClr val="430A1F"/>
                </a:solidFill>
                <a:latin typeface="Poppins" panose="00000500000000000000" pitchFamily="2" charset="0"/>
                <a:cs typeface="Poppins" panose="00000500000000000000" pitchFamily="2" charset="0"/>
              </a:rPr>
              <a:t>Mala selección de personal</a:t>
            </a:r>
            <a:r>
              <a:rPr lang="es-ES" sz="2800" b="0" i="0" u="none" strike="noStrike" baseline="0" dirty="0">
                <a:solidFill>
                  <a:srgbClr val="430A1F"/>
                </a:solidFill>
                <a:latin typeface="Poppins" panose="00000500000000000000" pitchFamily="2" charset="0"/>
                <a:cs typeface="Poppins" panose="00000500000000000000" pitchFamily="2" charset="0"/>
              </a:rPr>
              <a:t>. </a:t>
            </a:r>
            <a:r>
              <a:rPr lang="es-ES" sz="2800" b="0" i="0" u="none" strike="noStrike" baseline="0" dirty="0">
                <a:solidFill>
                  <a:srgbClr val="000000"/>
                </a:solidFill>
                <a:latin typeface="Poppins" panose="00000500000000000000" pitchFamily="2" charset="0"/>
                <a:cs typeface="Poppins" panose="00000500000000000000" pitchFamily="2" charset="0"/>
              </a:rPr>
              <a:t>No elegir al personal apropiado para el desarrollo de las</a:t>
            </a:r>
          </a:p>
          <a:p>
            <a:pPr algn="l"/>
            <a:r>
              <a:rPr lang="es-ES" sz="2800" b="0" i="0" u="none" strike="noStrike" baseline="0" dirty="0">
                <a:solidFill>
                  <a:srgbClr val="000000"/>
                </a:solidFill>
                <a:latin typeface="Poppins" panose="00000500000000000000" pitchFamily="2" charset="0"/>
                <a:cs typeface="Poppins" panose="00000500000000000000" pitchFamily="2" charset="0"/>
              </a:rPr>
              <a:t>diversas tareas que se ejecutan en la empresa, ya sea por carencia de experiencia,</a:t>
            </a:r>
          </a:p>
          <a:p>
            <a:pPr algn="l"/>
            <a:r>
              <a:rPr lang="es-ES" sz="2800" b="0" i="0" u="none" strike="noStrike" baseline="0" dirty="0">
                <a:solidFill>
                  <a:srgbClr val="000000"/>
                </a:solidFill>
                <a:latin typeface="Poppins" panose="00000500000000000000" pitchFamily="2" charset="0"/>
                <a:cs typeface="Poppins" panose="00000500000000000000" pitchFamily="2" charset="0"/>
              </a:rPr>
              <a:t>aptitudes, o actitudes pueden acarrear pérdidas por fraude, pérdidas de clientes por mala atención, e incrementos en los costos por improductividades, aparte de poder llegar a generar problemas internos con el resto del personal o directivos por motivos disciplinarios.</a:t>
            </a:r>
          </a:p>
          <a:p>
            <a:pPr algn="l"/>
            <a:endParaRPr lang="es-ES" sz="2800" dirty="0">
              <a:latin typeface="Poppins" panose="00000500000000000000" pitchFamily="2" charset="0"/>
              <a:cs typeface="Poppins" panose="00000500000000000000" pitchFamily="2" charset="0"/>
            </a:endParaRPr>
          </a:p>
          <a:p>
            <a:pPr algn="l"/>
            <a:endParaRPr lang="es-ES" sz="2800" b="0" i="0" u="none" strike="noStrike" baseline="0" dirty="0">
              <a:solidFill>
                <a:srgbClr val="000000"/>
              </a:solidFill>
              <a:latin typeface="Poppins" panose="00000500000000000000" pitchFamily="2" charset="0"/>
              <a:cs typeface="Poppins" panose="00000500000000000000" pitchFamily="2" charset="0"/>
            </a:endParaRPr>
          </a:p>
          <a:p>
            <a:pPr algn="l"/>
            <a:r>
              <a:rPr lang="es-ES" sz="2800" b="1" i="0" u="none" strike="noStrike" baseline="0" dirty="0">
                <a:solidFill>
                  <a:srgbClr val="430A1F"/>
                </a:solidFill>
                <a:latin typeface="Poppins" panose="00000500000000000000" pitchFamily="2" charset="0"/>
                <a:cs typeface="Poppins" panose="00000500000000000000" pitchFamily="2" charset="0"/>
              </a:rPr>
              <a:t>Fallos en política de personal</a:t>
            </a:r>
            <a:r>
              <a:rPr lang="es-ES" sz="2800" b="0" i="0" u="none" strike="noStrike" baseline="0" dirty="0">
                <a:solidFill>
                  <a:srgbClr val="430A1F"/>
                </a:solidFill>
                <a:latin typeface="Poppins" panose="00000500000000000000" pitchFamily="2" charset="0"/>
                <a:cs typeface="Poppins" panose="00000500000000000000" pitchFamily="2" charset="0"/>
              </a:rPr>
              <a:t>. </a:t>
            </a:r>
            <a:r>
              <a:rPr lang="es-ES" sz="2800" b="0" i="0" u="none" strike="noStrike" baseline="0" dirty="0">
                <a:solidFill>
                  <a:srgbClr val="000000"/>
                </a:solidFill>
                <a:latin typeface="Poppins" panose="00000500000000000000" pitchFamily="2" charset="0"/>
                <a:cs typeface="Poppins" panose="00000500000000000000" pitchFamily="2" charset="0"/>
              </a:rPr>
              <a:t>Los fallos en materia de selección, dirección, capacitación, planificación de necesidades, motivación, salarios, premios y sanciones lleva con el transcurso del tiempo a disminuir tanto la productividad del personal, como la lealtad de estos para con la empresa, lo cual es motivo de aumento en la rotación de personal con sus efectos en los costos de selección y capacitación, niveles de productividad y satisfacción del</a:t>
            </a:r>
          </a:p>
          <a:p>
            <a:pPr algn="l"/>
            <a:r>
              <a:rPr lang="es-ES" sz="2800" b="0" i="0" u="none" strike="noStrike" baseline="0" dirty="0">
                <a:solidFill>
                  <a:srgbClr val="000000"/>
                </a:solidFill>
                <a:latin typeface="Poppins" panose="00000500000000000000" pitchFamily="2" charset="0"/>
                <a:cs typeface="Poppins" panose="00000500000000000000" pitchFamily="2" charset="0"/>
              </a:rPr>
              <a:t>cliente y como resultante de todo ello la caída en la rentabilidad.</a:t>
            </a:r>
            <a:endParaRPr lang="es-ES" sz="28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70060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F3B49B6E-A41A-74DF-119F-9911CAA701F6}"/>
              </a:ext>
            </a:extLst>
          </p:cNvPr>
          <p:cNvPicPr>
            <a:picLocks noChangeAspect="1"/>
          </p:cNvPicPr>
          <p:nvPr/>
        </p:nvPicPr>
        <p:blipFill>
          <a:blip r:embed="rId2"/>
          <a:stretch>
            <a:fillRect/>
          </a:stretch>
        </p:blipFill>
        <p:spPr>
          <a:xfrm>
            <a:off x="16352471" y="498303"/>
            <a:ext cx="1127858" cy="1030313"/>
          </a:xfrm>
          <a:prstGeom prst="rect">
            <a:avLst/>
          </a:prstGeom>
        </p:spPr>
      </p:pic>
      <p:pic>
        <p:nvPicPr>
          <p:cNvPr id="7" name="Imagen 6">
            <a:extLst>
              <a:ext uri="{FF2B5EF4-FFF2-40B4-BE49-F238E27FC236}">
                <a16:creationId xmlns:a16="http://schemas.microsoft.com/office/drawing/2014/main" id="{C936C075-8A7F-609F-210F-0F0DC8CC3B42}"/>
              </a:ext>
            </a:extLst>
          </p:cNvPr>
          <p:cNvPicPr>
            <a:picLocks noChangeAspect="1"/>
          </p:cNvPicPr>
          <p:nvPr/>
        </p:nvPicPr>
        <p:blipFill>
          <a:blip r:embed="rId3"/>
          <a:stretch>
            <a:fillRect/>
          </a:stretch>
        </p:blipFill>
        <p:spPr>
          <a:xfrm>
            <a:off x="338855" y="8971431"/>
            <a:ext cx="4529721" cy="1085182"/>
          </a:xfrm>
          <a:prstGeom prst="rect">
            <a:avLst/>
          </a:prstGeom>
        </p:spPr>
      </p:pic>
      <p:pic>
        <p:nvPicPr>
          <p:cNvPr id="8" name="Imagen 7">
            <a:extLst>
              <a:ext uri="{FF2B5EF4-FFF2-40B4-BE49-F238E27FC236}">
                <a16:creationId xmlns:a16="http://schemas.microsoft.com/office/drawing/2014/main" id="{8E6C05F2-F65A-DE63-98C7-0FEBB2AEDEAF}"/>
              </a:ext>
            </a:extLst>
          </p:cNvPr>
          <p:cNvPicPr>
            <a:picLocks noChangeAspect="1"/>
          </p:cNvPicPr>
          <p:nvPr/>
        </p:nvPicPr>
        <p:blipFill>
          <a:blip r:embed="rId4"/>
          <a:stretch>
            <a:fillRect/>
          </a:stretch>
        </p:blipFill>
        <p:spPr>
          <a:xfrm>
            <a:off x="13419426" y="8971431"/>
            <a:ext cx="4499238" cy="1085182"/>
          </a:xfrm>
          <a:prstGeom prst="rect">
            <a:avLst/>
          </a:prstGeom>
        </p:spPr>
      </p:pic>
      <p:sp>
        <p:nvSpPr>
          <p:cNvPr id="3" name="CuadroTexto 2">
            <a:extLst>
              <a:ext uri="{FF2B5EF4-FFF2-40B4-BE49-F238E27FC236}">
                <a16:creationId xmlns:a16="http://schemas.microsoft.com/office/drawing/2014/main" id="{1F7E7760-9E52-81B8-A3C1-BC0DB4A30DE5}"/>
              </a:ext>
            </a:extLst>
          </p:cNvPr>
          <p:cNvSpPr txBox="1"/>
          <p:nvPr/>
        </p:nvSpPr>
        <p:spPr>
          <a:xfrm>
            <a:off x="1021080" y="1828801"/>
            <a:ext cx="15072360" cy="2677656"/>
          </a:xfrm>
          <a:prstGeom prst="rect">
            <a:avLst/>
          </a:prstGeom>
          <a:noFill/>
        </p:spPr>
        <p:txBody>
          <a:bodyPr wrap="square">
            <a:spAutoFit/>
          </a:bodyPr>
          <a:lstStyle/>
          <a:p>
            <a:pPr algn="l"/>
            <a:r>
              <a:rPr lang="es-ES" sz="2800" b="1" i="0" u="none" strike="noStrike" baseline="0" dirty="0">
                <a:solidFill>
                  <a:srgbClr val="430A1F"/>
                </a:solidFill>
                <a:latin typeface="Poppins" panose="00000500000000000000" pitchFamily="2" charset="0"/>
                <a:cs typeface="Poppins" panose="00000500000000000000" pitchFamily="2" charset="0"/>
              </a:rPr>
              <a:t>El incumplimiento liso y llano de obligaciones impositivas y laborales</a:t>
            </a:r>
            <a:r>
              <a:rPr lang="es-ES" sz="2800" b="0" i="0" u="none" strike="noStrike" baseline="0" dirty="0">
                <a:solidFill>
                  <a:srgbClr val="430A1F"/>
                </a:solidFill>
                <a:latin typeface="Poppins" panose="00000500000000000000" pitchFamily="2" charset="0"/>
                <a:cs typeface="Poppins" panose="00000500000000000000" pitchFamily="2" charset="0"/>
              </a:rPr>
              <a:t>. </a:t>
            </a:r>
            <a:r>
              <a:rPr lang="es-ES" sz="2800" b="0" i="0" u="none" strike="noStrike" baseline="0" dirty="0">
                <a:solidFill>
                  <a:srgbClr val="000000"/>
                </a:solidFill>
                <a:latin typeface="Poppins" panose="00000500000000000000" pitchFamily="2" charset="0"/>
                <a:cs typeface="Poppins" panose="00000500000000000000" pitchFamily="2" charset="0"/>
              </a:rPr>
              <a:t>La falta de</a:t>
            </a:r>
          </a:p>
          <a:p>
            <a:pPr algn="l"/>
            <a:r>
              <a:rPr lang="es-ES" sz="2800" b="0" i="0" u="none" strike="noStrike" baseline="0" dirty="0">
                <a:solidFill>
                  <a:srgbClr val="000000"/>
                </a:solidFill>
                <a:latin typeface="Poppins" panose="00000500000000000000" pitchFamily="2" charset="0"/>
                <a:cs typeface="Poppins" panose="00000500000000000000" pitchFamily="2" charset="0"/>
              </a:rPr>
              <a:t>controles internos, de planificación, el descuido o improvisación, sumados a la falta de una correcta organización, como así también el pensar que sólo evadiendo impuestos y trabajando de manera irregular con los empleados, puede generar mayores ingresos en el corto plazo, pero pone en riesgo la capacidad de generación de beneficios sustentables en el largo plazo.</a:t>
            </a:r>
            <a:endParaRPr lang="es-ES" sz="2800" dirty="0">
              <a:latin typeface="Poppins" panose="00000500000000000000" pitchFamily="2" charset="0"/>
              <a:cs typeface="Poppins" panose="00000500000000000000" pitchFamily="2" charset="0"/>
            </a:endParaRPr>
          </a:p>
        </p:txBody>
      </p:sp>
      <p:pic>
        <p:nvPicPr>
          <p:cNvPr id="1028" name="Picture 4" descr="Cinco síntomas de una mala gestión de Recursos Humanos - ORH | Observatorio  de Recursos Humanos">
            <a:extLst>
              <a:ext uri="{FF2B5EF4-FFF2-40B4-BE49-F238E27FC236}">
                <a16:creationId xmlns:a16="http://schemas.microsoft.com/office/drawing/2014/main" id="{BA0F978C-4461-52DF-9F09-F24AFF1CB8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8576" y="5086349"/>
            <a:ext cx="6981459" cy="3371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9649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F3B49B6E-A41A-74DF-119F-9911CAA701F6}"/>
              </a:ext>
            </a:extLst>
          </p:cNvPr>
          <p:cNvPicPr>
            <a:picLocks noChangeAspect="1"/>
          </p:cNvPicPr>
          <p:nvPr/>
        </p:nvPicPr>
        <p:blipFill>
          <a:blip r:embed="rId2"/>
          <a:stretch>
            <a:fillRect/>
          </a:stretch>
        </p:blipFill>
        <p:spPr>
          <a:xfrm>
            <a:off x="16672461" y="437343"/>
            <a:ext cx="1127858" cy="1030313"/>
          </a:xfrm>
          <a:prstGeom prst="rect">
            <a:avLst/>
          </a:prstGeom>
        </p:spPr>
      </p:pic>
      <p:sp>
        <p:nvSpPr>
          <p:cNvPr id="3" name="CuadroTexto 2">
            <a:extLst>
              <a:ext uri="{FF2B5EF4-FFF2-40B4-BE49-F238E27FC236}">
                <a16:creationId xmlns:a16="http://schemas.microsoft.com/office/drawing/2014/main" id="{C4F25E88-D003-8576-CDCE-262255361CB4}"/>
              </a:ext>
            </a:extLst>
          </p:cNvPr>
          <p:cNvSpPr txBox="1"/>
          <p:nvPr/>
        </p:nvSpPr>
        <p:spPr>
          <a:xfrm>
            <a:off x="487681" y="230387"/>
            <a:ext cx="16291559" cy="10125849"/>
          </a:xfrm>
          <a:prstGeom prst="rect">
            <a:avLst/>
          </a:prstGeom>
          <a:noFill/>
        </p:spPr>
        <p:txBody>
          <a:bodyPr wrap="square">
            <a:spAutoFit/>
          </a:bodyPr>
          <a:lstStyle/>
          <a:p>
            <a:pPr algn="l"/>
            <a:r>
              <a:rPr lang="es-ES" sz="3200" b="1" i="0" u="none" strike="noStrike" baseline="0" dirty="0">
                <a:solidFill>
                  <a:srgbClr val="430A1F"/>
                </a:solidFill>
                <a:latin typeface="Poppins" panose="00000500000000000000" pitchFamily="2" charset="0"/>
                <a:cs typeface="Poppins" panose="00000500000000000000" pitchFamily="2" charset="0"/>
              </a:rPr>
              <a:t>Definición y elaboración del plan estratégico</a:t>
            </a:r>
          </a:p>
          <a:p>
            <a:pPr algn="l"/>
            <a:endParaRPr lang="es-ES" sz="3200" b="1" i="0" u="none" strike="noStrike" baseline="0" dirty="0">
              <a:solidFill>
                <a:srgbClr val="430A1F"/>
              </a:solidFill>
              <a:latin typeface="Poppins" panose="00000500000000000000" pitchFamily="2" charset="0"/>
              <a:cs typeface="Poppins" panose="00000500000000000000" pitchFamily="2" charset="0"/>
            </a:endParaRPr>
          </a:p>
          <a:p>
            <a:pPr algn="l"/>
            <a:r>
              <a:rPr lang="es-ES" sz="2800" b="1" i="0" u="none" strike="noStrike" baseline="0" dirty="0">
                <a:solidFill>
                  <a:srgbClr val="430A1F"/>
                </a:solidFill>
                <a:latin typeface="Poppins" panose="00000500000000000000" pitchFamily="2" charset="0"/>
                <a:cs typeface="Poppins" panose="00000500000000000000" pitchFamily="2" charset="0"/>
              </a:rPr>
              <a:t>T</a:t>
            </a:r>
            <a:r>
              <a:rPr lang="es-ES" sz="2800" b="0" i="0" u="none" strike="noStrike" baseline="0" dirty="0">
                <a:solidFill>
                  <a:srgbClr val="000000"/>
                </a:solidFill>
                <a:latin typeface="Poppins" panose="00000500000000000000" pitchFamily="2" charset="0"/>
                <a:cs typeface="Poppins" panose="00000500000000000000" pitchFamily="2" charset="0"/>
              </a:rPr>
              <a:t>odas las organizaciones públicas o privadas, con/sin ánimo de lucro, necesitan trazar y ejecutar un plan estratégico. Se convierte en la hoja de ruta indispensable para gestionar eficazmente la estrategia y de esta forma poder alcanzar la visión organizacional o corporativa.</a:t>
            </a:r>
          </a:p>
          <a:p>
            <a:pPr algn="l"/>
            <a:endParaRPr lang="es-ES" sz="2800" b="0" i="0" u="none" strike="noStrike" baseline="0" dirty="0">
              <a:solidFill>
                <a:srgbClr val="000000"/>
              </a:solidFill>
              <a:latin typeface="Poppins" panose="00000500000000000000" pitchFamily="2" charset="0"/>
              <a:cs typeface="Poppins" panose="00000500000000000000" pitchFamily="2" charset="0"/>
            </a:endParaRPr>
          </a:p>
          <a:p>
            <a:pPr algn="l"/>
            <a:r>
              <a:rPr lang="es-ES" sz="2800" b="1" i="0" u="sng" strike="noStrike" baseline="0" dirty="0">
                <a:solidFill>
                  <a:srgbClr val="000000"/>
                </a:solidFill>
                <a:latin typeface="Poppins" panose="00000500000000000000" pitchFamily="2" charset="0"/>
                <a:cs typeface="Poppins" panose="00000500000000000000" pitchFamily="2" charset="0"/>
              </a:rPr>
              <a:t>Pasos clave para desarrollar el plan estratégico</a:t>
            </a:r>
            <a:r>
              <a:rPr lang="es-ES" sz="2800" b="1" i="0" u="none" strike="noStrike" baseline="0" dirty="0">
                <a:solidFill>
                  <a:srgbClr val="000000"/>
                </a:solidFill>
                <a:latin typeface="Poppins" panose="00000500000000000000" pitchFamily="2" charset="0"/>
                <a:cs typeface="Poppins" panose="00000500000000000000" pitchFamily="2" charset="0"/>
              </a:rPr>
              <a:t>:</a:t>
            </a:r>
          </a:p>
          <a:p>
            <a:pPr marL="457200" indent="-457200" algn="l">
              <a:buFont typeface="Wingdings" panose="05000000000000000000" pitchFamily="2" charset="2"/>
              <a:buChar char="q"/>
            </a:pPr>
            <a:r>
              <a:rPr lang="es-ES" sz="2800" b="1" i="0" u="none" strike="noStrike" baseline="0" dirty="0">
                <a:solidFill>
                  <a:srgbClr val="000000"/>
                </a:solidFill>
                <a:latin typeface="Poppins" panose="00000500000000000000" pitchFamily="2" charset="0"/>
                <a:cs typeface="Poppins" panose="00000500000000000000" pitchFamily="2" charset="0"/>
              </a:rPr>
              <a:t>Establecer las definiciones de misión, visión y valores.</a:t>
            </a:r>
          </a:p>
          <a:p>
            <a:pPr marL="457200" indent="-457200" algn="l">
              <a:buFont typeface="Wingdings" panose="05000000000000000000" pitchFamily="2" charset="2"/>
              <a:buChar char="q"/>
            </a:pPr>
            <a:r>
              <a:rPr lang="es-ES" sz="2800" b="1" i="0" u="none" strike="noStrike" baseline="0" dirty="0">
                <a:solidFill>
                  <a:srgbClr val="000000"/>
                </a:solidFill>
                <a:latin typeface="Poppins" panose="00000500000000000000" pitchFamily="2" charset="0"/>
                <a:cs typeface="Poppins" panose="00000500000000000000" pitchFamily="2" charset="0"/>
              </a:rPr>
              <a:t>Realizar un análisis externo del entorno general: análisis PEST.</a:t>
            </a:r>
          </a:p>
          <a:p>
            <a:pPr marL="457200" indent="-457200" algn="l">
              <a:buFont typeface="Wingdings" panose="05000000000000000000" pitchFamily="2" charset="2"/>
              <a:buChar char="q"/>
            </a:pPr>
            <a:r>
              <a:rPr lang="es-ES" sz="2800" b="1" i="0" u="none" strike="noStrike" baseline="0" dirty="0">
                <a:solidFill>
                  <a:srgbClr val="000000"/>
                </a:solidFill>
                <a:latin typeface="Poppins" panose="00000500000000000000" pitchFamily="2" charset="0"/>
                <a:cs typeface="Poppins" panose="00000500000000000000" pitchFamily="2" charset="0"/>
              </a:rPr>
              <a:t>Analizar el entorno sectorial: las 5 fuerzas competitivas de Porter.</a:t>
            </a:r>
          </a:p>
          <a:p>
            <a:pPr marL="457200" indent="-457200" algn="l">
              <a:buFont typeface="Wingdings" panose="05000000000000000000" pitchFamily="2" charset="2"/>
              <a:buChar char="q"/>
            </a:pPr>
            <a:r>
              <a:rPr lang="es-ES" sz="2800" b="1" i="0" u="none" strike="noStrike" baseline="0" dirty="0">
                <a:solidFill>
                  <a:srgbClr val="000000"/>
                </a:solidFill>
                <a:latin typeface="Poppins" panose="00000500000000000000" pitchFamily="2" charset="0"/>
                <a:cs typeface="Poppins" panose="00000500000000000000" pitchFamily="2" charset="0"/>
              </a:rPr>
              <a:t>Elaborar el análisis interno: cadena de valor - Modelo de las 7S.</a:t>
            </a:r>
          </a:p>
          <a:p>
            <a:pPr marL="457200" indent="-457200" algn="l">
              <a:buFont typeface="Wingdings" panose="05000000000000000000" pitchFamily="2" charset="2"/>
              <a:buChar char="q"/>
            </a:pPr>
            <a:r>
              <a:rPr lang="es-ES" sz="2800" b="1" i="0" u="none" strike="noStrike" baseline="0" dirty="0">
                <a:solidFill>
                  <a:srgbClr val="000000"/>
                </a:solidFill>
                <a:latin typeface="Poppins" panose="00000500000000000000" pitchFamily="2" charset="0"/>
                <a:cs typeface="Poppins" panose="00000500000000000000" pitchFamily="2" charset="0"/>
              </a:rPr>
              <a:t>Trazar la matriz DAFO.</a:t>
            </a:r>
          </a:p>
          <a:p>
            <a:pPr marL="457200" indent="-457200" algn="l">
              <a:buFont typeface="Wingdings" panose="05000000000000000000" pitchFamily="2" charset="2"/>
              <a:buChar char="q"/>
            </a:pPr>
            <a:r>
              <a:rPr lang="es-ES" sz="2800" b="1" i="0" u="none" strike="noStrike" baseline="0" dirty="0">
                <a:solidFill>
                  <a:srgbClr val="000000"/>
                </a:solidFill>
                <a:latin typeface="Poppins" panose="00000500000000000000" pitchFamily="2" charset="0"/>
                <a:cs typeface="Poppins" panose="00000500000000000000" pitchFamily="2" charset="0"/>
              </a:rPr>
              <a:t>Identificar y seleccionar los retos estratégicos.</a:t>
            </a:r>
          </a:p>
          <a:p>
            <a:pPr algn="l"/>
            <a:endParaRPr lang="es-ES" sz="2800" b="0" i="0" u="none" strike="noStrike" baseline="0" dirty="0">
              <a:solidFill>
                <a:srgbClr val="000000"/>
              </a:solidFill>
              <a:latin typeface="Poppins" panose="00000500000000000000" pitchFamily="2" charset="0"/>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28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La planificación estratégica en las empresas debe constituirse como paso previo para la</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28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elaboración del plan de negocio (</a:t>
            </a:r>
            <a:r>
              <a:rPr kumimoji="0" lang="es-ES" sz="2800" b="0" i="1" u="none" strike="noStrike" kern="0" cap="none" spc="0" normalizeH="0" baseline="0" noProof="0" dirty="0" err="1">
                <a:ln>
                  <a:noFill/>
                </a:ln>
                <a:solidFill>
                  <a:srgbClr val="000000"/>
                </a:solidFill>
                <a:effectLst/>
                <a:uLnTx/>
                <a:uFillTx/>
                <a:latin typeface="Poppins" panose="00000500000000000000" pitchFamily="2" charset="0"/>
                <a:cs typeface="Poppins" panose="00000500000000000000" pitchFamily="2" charset="0"/>
                <a:sym typeface="Arial"/>
              </a:rPr>
              <a:t>business</a:t>
            </a:r>
            <a:r>
              <a:rPr kumimoji="0" lang="es-ES" sz="2800" b="0" i="1"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 plan</a:t>
            </a:r>
            <a:r>
              <a:rPr kumimoji="0" lang="es-ES" sz="28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 normalmente con el mismo horizonte temporal - de 2 a 5 años, a partir del cual se desarrollará el presupuesto anual y los planes operativos.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28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Por tanto, los procesos de cotización y planificación deberán estar conectados coherentemente con la estrategia.</a:t>
            </a:r>
            <a:endParaRPr kumimoji="0" lang="es-ES" sz="2800" b="1" i="0" u="none" strike="noStrike" kern="0" cap="none" spc="0" normalizeH="0" baseline="0" noProof="0" dirty="0">
              <a:ln>
                <a:noFill/>
              </a:ln>
              <a:solidFill>
                <a:srgbClr val="430A1F"/>
              </a:solidFill>
              <a:effectLst/>
              <a:uLnTx/>
              <a:uFillTx/>
              <a:latin typeface="Poppins" panose="00000500000000000000" pitchFamily="2" charset="0"/>
              <a:cs typeface="Poppins" panose="00000500000000000000" pitchFamily="2" charset="0"/>
              <a:sym typeface="Arial"/>
            </a:endParaRPr>
          </a:p>
          <a:p>
            <a:pPr algn="l"/>
            <a:endParaRPr lang="es-ES" sz="2800" dirty="0">
              <a:latin typeface="Poppins" panose="00000500000000000000" pitchFamily="2" charset="0"/>
              <a:cs typeface="Poppins" panose="00000500000000000000" pitchFamily="2" charset="0"/>
            </a:endParaRPr>
          </a:p>
          <a:p>
            <a:pPr algn="l"/>
            <a:endParaRPr lang="es-ES" sz="28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449332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DA2B5-0CB5-BA00-BA9B-0BF99B59C59A}"/>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F3E9D165-5549-234D-4F06-A66395FB68D8}"/>
              </a:ext>
            </a:extLst>
          </p:cNvPr>
          <p:cNvPicPr>
            <a:picLocks noChangeAspect="1"/>
          </p:cNvPicPr>
          <p:nvPr/>
        </p:nvPicPr>
        <p:blipFill>
          <a:blip r:embed="rId2"/>
          <a:stretch>
            <a:fillRect/>
          </a:stretch>
        </p:blipFill>
        <p:spPr>
          <a:xfrm>
            <a:off x="16352471" y="498303"/>
            <a:ext cx="1127858" cy="1030313"/>
          </a:xfrm>
          <a:prstGeom prst="rect">
            <a:avLst/>
          </a:prstGeom>
        </p:spPr>
      </p:pic>
      <p:pic>
        <p:nvPicPr>
          <p:cNvPr id="7" name="Imagen 6">
            <a:extLst>
              <a:ext uri="{FF2B5EF4-FFF2-40B4-BE49-F238E27FC236}">
                <a16:creationId xmlns:a16="http://schemas.microsoft.com/office/drawing/2014/main" id="{F256B43F-A362-3412-2450-A5B427250E64}"/>
              </a:ext>
            </a:extLst>
          </p:cNvPr>
          <p:cNvPicPr>
            <a:picLocks noChangeAspect="1"/>
          </p:cNvPicPr>
          <p:nvPr/>
        </p:nvPicPr>
        <p:blipFill>
          <a:blip r:embed="rId3"/>
          <a:stretch>
            <a:fillRect/>
          </a:stretch>
        </p:blipFill>
        <p:spPr>
          <a:xfrm>
            <a:off x="536975" y="8971431"/>
            <a:ext cx="4529721" cy="1085182"/>
          </a:xfrm>
          <a:prstGeom prst="rect">
            <a:avLst/>
          </a:prstGeom>
        </p:spPr>
      </p:pic>
      <p:pic>
        <p:nvPicPr>
          <p:cNvPr id="8" name="Imagen 7">
            <a:extLst>
              <a:ext uri="{FF2B5EF4-FFF2-40B4-BE49-F238E27FC236}">
                <a16:creationId xmlns:a16="http://schemas.microsoft.com/office/drawing/2014/main" id="{DD35F059-C800-F8BF-2BE2-1BD0457FDE76}"/>
              </a:ext>
            </a:extLst>
          </p:cNvPr>
          <p:cNvPicPr>
            <a:picLocks noChangeAspect="1"/>
          </p:cNvPicPr>
          <p:nvPr/>
        </p:nvPicPr>
        <p:blipFill>
          <a:blip r:embed="rId4"/>
          <a:stretch>
            <a:fillRect/>
          </a:stretch>
        </p:blipFill>
        <p:spPr>
          <a:xfrm>
            <a:off x="13419426" y="8971431"/>
            <a:ext cx="4499238" cy="1085182"/>
          </a:xfrm>
          <a:prstGeom prst="rect">
            <a:avLst/>
          </a:prstGeom>
        </p:spPr>
      </p:pic>
      <p:sp>
        <p:nvSpPr>
          <p:cNvPr id="2" name="CuadroTexto 1">
            <a:extLst>
              <a:ext uri="{FF2B5EF4-FFF2-40B4-BE49-F238E27FC236}">
                <a16:creationId xmlns:a16="http://schemas.microsoft.com/office/drawing/2014/main" id="{8C33E24E-2860-F1D1-1685-88B8F692A934}"/>
              </a:ext>
            </a:extLst>
          </p:cNvPr>
          <p:cNvSpPr txBox="1"/>
          <p:nvPr/>
        </p:nvSpPr>
        <p:spPr>
          <a:xfrm>
            <a:off x="807670" y="230387"/>
            <a:ext cx="15331489" cy="9140964"/>
          </a:xfrm>
          <a:prstGeom prst="rect">
            <a:avLst/>
          </a:prstGeom>
          <a:noFill/>
        </p:spPr>
        <p:txBody>
          <a:bodyPr wrap="square">
            <a:spAutoFit/>
          </a:bodyPr>
          <a:lstStyle/>
          <a:p>
            <a:pPr algn="l"/>
            <a:r>
              <a:rPr lang="es-ES" sz="2800" b="1" i="0" u="none" strike="noStrike" baseline="0" dirty="0">
                <a:solidFill>
                  <a:srgbClr val="430A1F"/>
                </a:solidFill>
                <a:latin typeface="Poppins" panose="00000500000000000000" pitchFamily="2" charset="0"/>
                <a:cs typeface="Poppins" panose="00000500000000000000" pitchFamily="2" charset="0"/>
              </a:rPr>
              <a:t>1.Organización de la empresa</a:t>
            </a:r>
          </a:p>
          <a:p>
            <a:pPr algn="l"/>
            <a:endParaRPr lang="es-ES" sz="2800" b="1" i="0" u="none" strike="noStrike" baseline="0" dirty="0">
              <a:solidFill>
                <a:srgbClr val="430A1F"/>
              </a:solidFill>
              <a:latin typeface="Poppins" panose="00000500000000000000" pitchFamily="2" charset="0"/>
              <a:cs typeface="Poppins" panose="00000500000000000000" pitchFamily="2" charset="0"/>
            </a:endParaRPr>
          </a:p>
          <a:p>
            <a:pPr algn="l"/>
            <a:r>
              <a:rPr lang="es-ES" sz="2800" b="0" i="0" u="sng" strike="noStrike" baseline="0" dirty="0">
                <a:solidFill>
                  <a:srgbClr val="430A1F"/>
                </a:solidFill>
                <a:latin typeface="Poppins" panose="00000500000000000000" pitchFamily="2" charset="0"/>
                <a:cs typeface="Poppins" panose="00000500000000000000" pitchFamily="2" charset="0"/>
              </a:rPr>
              <a:t>Descripción de las tareas y responsabilidad de cada puesto de trabajo</a:t>
            </a:r>
          </a:p>
          <a:p>
            <a:pPr algn="l"/>
            <a:endParaRPr lang="es-ES" sz="2800" b="0" i="0" u="sng" strike="noStrike" baseline="0" dirty="0">
              <a:solidFill>
                <a:srgbClr val="430A1F"/>
              </a:solidFill>
              <a:latin typeface="Poppins" panose="00000500000000000000" pitchFamily="2" charset="0"/>
              <a:cs typeface="Poppins" panose="00000500000000000000" pitchFamily="2" charset="0"/>
            </a:endParaRPr>
          </a:p>
          <a:p>
            <a:pPr algn="l"/>
            <a:r>
              <a:rPr lang="es-ES" sz="2800" dirty="0">
                <a:solidFill>
                  <a:srgbClr val="430A1F"/>
                </a:solidFill>
                <a:latin typeface="Poppins" panose="00000500000000000000" pitchFamily="2" charset="0"/>
                <a:cs typeface="Poppins" panose="00000500000000000000" pitchFamily="2" charset="0"/>
              </a:rPr>
              <a:t>H</a:t>
            </a:r>
            <a:r>
              <a:rPr lang="es-ES" sz="2800" i="0" u="none" strike="noStrike" baseline="0" dirty="0">
                <a:solidFill>
                  <a:srgbClr val="000000"/>
                </a:solidFill>
                <a:latin typeface="Poppins" panose="00000500000000000000" pitchFamily="2" charset="0"/>
                <a:cs typeface="Poppins" panose="00000500000000000000" pitchFamily="2" charset="0"/>
              </a:rPr>
              <a:t>ay</a:t>
            </a:r>
            <a:r>
              <a:rPr lang="es-ES" sz="2800" b="0" i="0" u="none" strike="noStrike" baseline="0" dirty="0">
                <a:solidFill>
                  <a:srgbClr val="000000"/>
                </a:solidFill>
                <a:latin typeface="Poppins" panose="00000500000000000000" pitchFamily="2" charset="0"/>
                <a:cs typeface="Poppins" panose="00000500000000000000" pitchFamily="2" charset="0"/>
              </a:rPr>
              <a:t> que distribuir las distintas tareas y responsabilidades entre los distintos puestos de trabajo, así como describir las funciones asociadas a los mismos de la forma más completa posible con el objetivo de evitar duplicidades. De esta forma, cada persona en función del puesto de trabajo que ocupe tendrá claras cuáles son sus funciones y responsabilidades.</a:t>
            </a:r>
          </a:p>
          <a:p>
            <a:pPr algn="l"/>
            <a:r>
              <a:rPr lang="es-ES" sz="2800" b="0" i="0" u="none" strike="noStrike" baseline="0" dirty="0">
                <a:solidFill>
                  <a:srgbClr val="000000"/>
                </a:solidFill>
                <a:latin typeface="Poppins" panose="00000500000000000000" pitchFamily="2" charset="0"/>
                <a:cs typeface="Poppins" panose="00000500000000000000" pitchFamily="2" charset="0"/>
              </a:rPr>
              <a:t>Algunos de los puestos de trabajo que suelen ser más habituales cuando la empresa está estructurada en departamentos son los siguientes:</a:t>
            </a:r>
          </a:p>
          <a:p>
            <a:pPr algn="l"/>
            <a:endParaRPr lang="es-ES" sz="2800" b="0" i="0" u="none" strike="noStrike" baseline="0" dirty="0">
              <a:solidFill>
                <a:srgbClr val="000000"/>
              </a:solidFill>
              <a:latin typeface="Poppins" panose="00000500000000000000" pitchFamily="2" charset="0"/>
              <a:cs typeface="Poppins" panose="00000500000000000000" pitchFamily="2" charset="0"/>
            </a:endParaRPr>
          </a:p>
          <a:p>
            <a:pPr algn="l"/>
            <a:r>
              <a:rPr lang="es-ES" sz="2800" b="1" i="0" u="none" strike="noStrike" baseline="0" dirty="0">
                <a:solidFill>
                  <a:srgbClr val="000000"/>
                </a:solidFill>
                <a:latin typeface="Poppins" panose="00000500000000000000" pitchFamily="2" charset="0"/>
                <a:cs typeface="Poppins" panose="00000500000000000000" pitchFamily="2" charset="0"/>
              </a:rPr>
              <a:t>• Director General. </a:t>
            </a:r>
            <a:r>
              <a:rPr lang="es-ES" sz="2800" i="0" u="none" strike="noStrike" baseline="0" dirty="0">
                <a:solidFill>
                  <a:srgbClr val="000000"/>
                </a:solidFill>
                <a:latin typeface="Poppins" panose="00000500000000000000" pitchFamily="2" charset="0"/>
                <a:cs typeface="Poppins" panose="00000500000000000000" pitchFamily="2" charset="0"/>
              </a:rPr>
              <a:t>Encargado de la coordinación general y apoyo a cada director funcional.</a:t>
            </a:r>
          </a:p>
          <a:p>
            <a:pPr algn="l"/>
            <a:r>
              <a:rPr lang="es-ES" sz="2800" b="1" i="0" u="none" strike="noStrike" baseline="0" dirty="0">
                <a:solidFill>
                  <a:srgbClr val="000000"/>
                </a:solidFill>
                <a:latin typeface="Poppins" panose="00000500000000000000" pitchFamily="2" charset="0"/>
                <a:cs typeface="Poppins" panose="00000500000000000000" pitchFamily="2" charset="0"/>
              </a:rPr>
              <a:t>• Director Comercial.</a:t>
            </a:r>
          </a:p>
          <a:p>
            <a:pPr algn="l"/>
            <a:r>
              <a:rPr lang="es-ES" sz="2800" b="1" i="0" u="none" strike="noStrike" baseline="0" dirty="0">
                <a:solidFill>
                  <a:srgbClr val="000000"/>
                </a:solidFill>
                <a:latin typeface="Poppins" panose="00000500000000000000" pitchFamily="2" charset="0"/>
                <a:cs typeface="Poppins" panose="00000500000000000000" pitchFamily="2" charset="0"/>
              </a:rPr>
              <a:t>• Director de Administración y Control.</a:t>
            </a:r>
          </a:p>
          <a:p>
            <a:pPr algn="l"/>
            <a:r>
              <a:rPr lang="es-ES" sz="2800" b="1" i="0" u="none" strike="noStrike" baseline="0" dirty="0">
                <a:solidFill>
                  <a:srgbClr val="000000"/>
                </a:solidFill>
                <a:latin typeface="Poppins" panose="00000500000000000000" pitchFamily="2" charset="0"/>
                <a:cs typeface="Poppins" panose="00000500000000000000" pitchFamily="2" charset="0"/>
              </a:rPr>
              <a:t>• Director Financiero.</a:t>
            </a:r>
          </a:p>
          <a:p>
            <a:pPr algn="l"/>
            <a:r>
              <a:rPr lang="es-ES" sz="2800" b="1" i="0" u="none" strike="noStrike" baseline="0" dirty="0">
                <a:solidFill>
                  <a:srgbClr val="000000"/>
                </a:solidFill>
                <a:latin typeface="Poppins" panose="00000500000000000000" pitchFamily="2" charset="0"/>
                <a:cs typeface="Poppins" panose="00000500000000000000" pitchFamily="2" charset="0"/>
              </a:rPr>
              <a:t>• Director de Producción.</a:t>
            </a:r>
          </a:p>
          <a:p>
            <a:pPr algn="l"/>
            <a:r>
              <a:rPr lang="es-ES" sz="2800" b="1" i="0" u="none" strike="noStrike" baseline="0" dirty="0">
                <a:solidFill>
                  <a:srgbClr val="000000"/>
                </a:solidFill>
                <a:latin typeface="Poppins" panose="00000500000000000000" pitchFamily="2" charset="0"/>
                <a:cs typeface="Poppins" panose="00000500000000000000" pitchFamily="2" charset="0"/>
              </a:rPr>
              <a:t>• Director de Recursos Humanos.</a:t>
            </a:r>
          </a:p>
          <a:p>
            <a:pPr algn="l"/>
            <a:r>
              <a:rPr lang="es-ES" sz="2800" b="1" i="0" u="none" strike="noStrike" baseline="0" dirty="0">
                <a:solidFill>
                  <a:srgbClr val="000000"/>
                </a:solidFill>
                <a:latin typeface="Poppins" panose="00000500000000000000" pitchFamily="2" charset="0"/>
                <a:cs typeface="Poppins" panose="00000500000000000000" pitchFamily="2" charset="0"/>
              </a:rPr>
              <a:t>• Director de Investigación y desarrollo.</a:t>
            </a:r>
          </a:p>
          <a:p>
            <a:pPr algn="l"/>
            <a:endParaRPr lang="es-ES" sz="28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950500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16F5A-3BEA-B3E1-D784-55973A384570}"/>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2CE57EC8-2C04-D6C4-5F0C-76027FE7A228}"/>
              </a:ext>
            </a:extLst>
          </p:cNvPr>
          <p:cNvPicPr>
            <a:picLocks noChangeAspect="1"/>
          </p:cNvPicPr>
          <p:nvPr/>
        </p:nvPicPr>
        <p:blipFill>
          <a:blip r:embed="rId2"/>
          <a:stretch>
            <a:fillRect/>
          </a:stretch>
        </p:blipFill>
        <p:spPr>
          <a:xfrm>
            <a:off x="16352471" y="498303"/>
            <a:ext cx="1127858" cy="1030313"/>
          </a:xfrm>
          <a:prstGeom prst="rect">
            <a:avLst/>
          </a:prstGeom>
        </p:spPr>
      </p:pic>
      <p:pic>
        <p:nvPicPr>
          <p:cNvPr id="7" name="Imagen 6">
            <a:extLst>
              <a:ext uri="{FF2B5EF4-FFF2-40B4-BE49-F238E27FC236}">
                <a16:creationId xmlns:a16="http://schemas.microsoft.com/office/drawing/2014/main" id="{320A5E26-2BEA-03D3-DE91-980313C66035}"/>
              </a:ext>
            </a:extLst>
          </p:cNvPr>
          <p:cNvPicPr>
            <a:picLocks noChangeAspect="1"/>
          </p:cNvPicPr>
          <p:nvPr/>
        </p:nvPicPr>
        <p:blipFill>
          <a:blip r:embed="rId3"/>
          <a:stretch>
            <a:fillRect/>
          </a:stretch>
        </p:blipFill>
        <p:spPr>
          <a:xfrm>
            <a:off x="338855" y="8971431"/>
            <a:ext cx="4529721" cy="1085182"/>
          </a:xfrm>
          <a:prstGeom prst="rect">
            <a:avLst/>
          </a:prstGeom>
        </p:spPr>
      </p:pic>
      <p:pic>
        <p:nvPicPr>
          <p:cNvPr id="8" name="Imagen 7">
            <a:extLst>
              <a:ext uri="{FF2B5EF4-FFF2-40B4-BE49-F238E27FC236}">
                <a16:creationId xmlns:a16="http://schemas.microsoft.com/office/drawing/2014/main" id="{05478DF4-B8E0-373E-8140-AC1270D5DE22}"/>
              </a:ext>
            </a:extLst>
          </p:cNvPr>
          <p:cNvPicPr>
            <a:picLocks noChangeAspect="1"/>
          </p:cNvPicPr>
          <p:nvPr/>
        </p:nvPicPr>
        <p:blipFill>
          <a:blip r:embed="rId4"/>
          <a:stretch>
            <a:fillRect/>
          </a:stretch>
        </p:blipFill>
        <p:spPr>
          <a:xfrm>
            <a:off x="13419426" y="8971431"/>
            <a:ext cx="4499238" cy="1085182"/>
          </a:xfrm>
          <a:prstGeom prst="rect">
            <a:avLst/>
          </a:prstGeom>
        </p:spPr>
      </p:pic>
      <p:sp>
        <p:nvSpPr>
          <p:cNvPr id="3" name="CuadroTexto 2">
            <a:extLst>
              <a:ext uri="{FF2B5EF4-FFF2-40B4-BE49-F238E27FC236}">
                <a16:creationId xmlns:a16="http://schemas.microsoft.com/office/drawing/2014/main" id="{4CE2636B-71D9-52F1-53B3-0F50CE1EB443}"/>
              </a:ext>
            </a:extLst>
          </p:cNvPr>
          <p:cNvSpPr txBox="1"/>
          <p:nvPr/>
        </p:nvSpPr>
        <p:spPr>
          <a:xfrm>
            <a:off x="685751" y="498303"/>
            <a:ext cx="15910609" cy="8279190"/>
          </a:xfrm>
          <a:prstGeom prst="rect">
            <a:avLst/>
          </a:prstGeom>
          <a:noFill/>
        </p:spPr>
        <p:txBody>
          <a:bodyPr wrap="square">
            <a:spAutoFit/>
          </a:bodyPr>
          <a:lstStyle/>
          <a:p>
            <a:pPr algn="l"/>
            <a:r>
              <a:rPr lang="es-ES" sz="2800" b="0" i="0" u="sng" strike="noStrike" baseline="0" dirty="0">
                <a:solidFill>
                  <a:srgbClr val="430A1F"/>
                </a:solidFill>
                <a:latin typeface="Poppins" panose="00000500000000000000" pitchFamily="2" charset="0"/>
                <a:cs typeface="Poppins" panose="00000500000000000000" pitchFamily="2" charset="0"/>
              </a:rPr>
              <a:t>Descripción de los perfiles de los puestos</a:t>
            </a:r>
          </a:p>
          <a:p>
            <a:pPr algn="l"/>
            <a:endParaRPr lang="es-ES" sz="2800" b="0" i="0" u="sng" strike="noStrike" baseline="0" dirty="0">
              <a:solidFill>
                <a:srgbClr val="430A1F"/>
              </a:solidFill>
              <a:latin typeface="Poppins" panose="00000500000000000000" pitchFamily="2" charset="0"/>
              <a:cs typeface="Poppins" panose="00000500000000000000" pitchFamily="2" charset="0"/>
            </a:endParaRPr>
          </a:p>
          <a:p>
            <a:pPr algn="l"/>
            <a:r>
              <a:rPr lang="es-ES" sz="2800" b="0" i="0" u="none" strike="noStrike" baseline="0" dirty="0">
                <a:solidFill>
                  <a:srgbClr val="000000"/>
                </a:solidFill>
                <a:latin typeface="Poppins" panose="00000500000000000000" pitchFamily="2" charset="0"/>
                <a:cs typeface="Poppins" panose="00000500000000000000" pitchFamily="2" charset="0"/>
              </a:rPr>
              <a:t>La descripción de los perfiles requeridos para los distintos puestos de trabajo de la empresa se ha de realizar en función de los requerimientos objetivos de los mismos, estando condicionados por las funciones y tareas que debe realizar cada persona en la empresa.</a:t>
            </a:r>
          </a:p>
          <a:p>
            <a:pPr algn="l"/>
            <a:r>
              <a:rPr lang="es-ES" sz="2800" b="0" i="0" u="none" strike="noStrike" baseline="0" dirty="0">
                <a:solidFill>
                  <a:srgbClr val="000000"/>
                </a:solidFill>
                <a:latin typeface="Poppins" panose="00000500000000000000" pitchFamily="2" charset="0"/>
                <a:cs typeface="Poppins" panose="00000500000000000000" pitchFamily="2" charset="0"/>
              </a:rPr>
              <a:t>Para ello hay que incluir el nombre del puesto, cuáles son las funciones básicas, las responsabilidades, de quién depende jerárquicamente, cuál es la formación requerida, si se requiere otro tipo de conocimientos indicando el nivel y la especialidad, experiencia laboral requerida indicando el sector y el puesto de trabajo.</a:t>
            </a:r>
          </a:p>
          <a:p>
            <a:pPr algn="l"/>
            <a:endParaRPr lang="es-ES" sz="2800" b="0" i="0" u="none" strike="noStrike" baseline="0" dirty="0">
              <a:solidFill>
                <a:srgbClr val="000000"/>
              </a:solidFill>
              <a:latin typeface="Poppins" panose="00000500000000000000" pitchFamily="2" charset="0"/>
              <a:cs typeface="Poppins" panose="00000500000000000000" pitchFamily="2" charset="0"/>
            </a:endParaRPr>
          </a:p>
          <a:p>
            <a:pPr algn="l"/>
            <a:r>
              <a:rPr lang="es-ES" sz="2800" b="0" i="0" u="sng" strike="noStrike" baseline="0" dirty="0">
                <a:solidFill>
                  <a:srgbClr val="430A1F"/>
                </a:solidFill>
                <a:latin typeface="Poppins" panose="00000500000000000000" pitchFamily="2" charset="0"/>
                <a:cs typeface="Poppins" panose="00000500000000000000" pitchFamily="2" charset="0"/>
              </a:rPr>
              <a:t>Organigrama</a:t>
            </a:r>
          </a:p>
          <a:p>
            <a:pPr algn="l"/>
            <a:endParaRPr lang="es-ES" sz="2800" b="0" i="0" u="sng" strike="noStrike" baseline="0" dirty="0">
              <a:solidFill>
                <a:srgbClr val="430A1F"/>
              </a:solidFill>
              <a:latin typeface="Poppins" panose="00000500000000000000" pitchFamily="2" charset="0"/>
              <a:cs typeface="Poppins" panose="00000500000000000000" pitchFamily="2" charset="0"/>
            </a:endParaRPr>
          </a:p>
          <a:p>
            <a:pPr algn="l"/>
            <a:r>
              <a:rPr lang="es-ES" sz="2800" b="0" i="0" u="none" strike="noStrike" baseline="0" dirty="0">
                <a:solidFill>
                  <a:srgbClr val="000000"/>
                </a:solidFill>
                <a:latin typeface="Poppins" panose="00000500000000000000" pitchFamily="2" charset="0"/>
                <a:cs typeface="Poppins" panose="00000500000000000000" pitchFamily="2" charset="0"/>
              </a:rPr>
              <a:t>El organigrama de la empresa consiste en la representación gráfica de la estructura de la misma.</a:t>
            </a:r>
          </a:p>
          <a:p>
            <a:pPr algn="l"/>
            <a:r>
              <a:rPr lang="es-ES" sz="2800" b="0" i="0" u="none" strike="noStrike" baseline="0" dirty="0">
                <a:solidFill>
                  <a:srgbClr val="000000"/>
                </a:solidFill>
                <a:latin typeface="Poppins" panose="00000500000000000000" pitchFamily="2" charset="0"/>
                <a:cs typeface="Poppins" panose="00000500000000000000" pitchFamily="2" charset="0"/>
              </a:rPr>
              <a:t>En el organigrama quedan representados los distintos puestos de trabajo de la empresa, así como los distintos niveles de responsabilidad y dependencia.</a:t>
            </a:r>
          </a:p>
          <a:p>
            <a:pPr algn="l"/>
            <a:r>
              <a:rPr lang="es-ES" sz="2800" b="0" i="0" u="none" strike="noStrike" baseline="0" dirty="0">
                <a:solidFill>
                  <a:srgbClr val="000000"/>
                </a:solidFill>
                <a:latin typeface="Poppins" panose="00000500000000000000" pitchFamily="2" charset="0"/>
                <a:cs typeface="Poppins" panose="00000500000000000000" pitchFamily="2" charset="0"/>
              </a:rPr>
              <a:t>En el caso de que la empresa esté estructurada en departamentos en el organigrama figurarán también los responsables de los mismos.</a:t>
            </a:r>
            <a:endParaRPr lang="es-ES" sz="28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742529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F3B49B6E-A41A-74DF-119F-9911CAA701F6}"/>
              </a:ext>
            </a:extLst>
          </p:cNvPr>
          <p:cNvPicPr>
            <a:picLocks noChangeAspect="1"/>
          </p:cNvPicPr>
          <p:nvPr/>
        </p:nvPicPr>
        <p:blipFill>
          <a:blip r:embed="rId2"/>
          <a:stretch>
            <a:fillRect/>
          </a:stretch>
        </p:blipFill>
        <p:spPr>
          <a:xfrm>
            <a:off x="16352471" y="498303"/>
            <a:ext cx="1127858" cy="1030313"/>
          </a:xfrm>
          <a:prstGeom prst="rect">
            <a:avLst/>
          </a:prstGeom>
        </p:spPr>
      </p:pic>
      <p:pic>
        <p:nvPicPr>
          <p:cNvPr id="7" name="Imagen 6">
            <a:extLst>
              <a:ext uri="{FF2B5EF4-FFF2-40B4-BE49-F238E27FC236}">
                <a16:creationId xmlns:a16="http://schemas.microsoft.com/office/drawing/2014/main" id="{C936C075-8A7F-609F-210F-0F0DC8CC3B42}"/>
              </a:ext>
            </a:extLst>
          </p:cNvPr>
          <p:cNvPicPr>
            <a:picLocks noChangeAspect="1"/>
          </p:cNvPicPr>
          <p:nvPr/>
        </p:nvPicPr>
        <p:blipFill>
          <a:blip r:embed="rId3"/>
          <a:stretch>
            <a:fillRect/>
          </a:stretch>
        </p:blipFill>
        <p:spPr>
          <a:xfrm>
            <a:off x="338855" y="8971431"/>
            <a:ext cx="4529721" cy="1085182"/>
          </a:xfrm>
          <a:prstGeom prst="rect">
            <a:avLst/>
          </a:prstGeom>
        </p:spPr>
      </p:pic>
      <p:pic>
        <p:nvPicPr>
          <p:cNvPr id="8" name="Imagen 7">
            <a:extLst>
              <a:ext uri="{FF2B5EF4-FFF2-40B4-BE49-F238E27FC236}">
                <a16:creationId xmlns:a16="http://schemas.microsoft.com/office/drawing/2014/main" id="{8E6C05F2-F65A-DE63-98C7-0FEBB2AEDEAF}"/>
              </a:ext>
            </a:extLst>
          </p:cNvPr>
          <p:cNvPicPr>
            <a:picLocks noChangeAspect="1"/>
          </p:cNvPicPr>
          <p:nvPr/>
        </p:nvPicPr>
        <p:blipFill>
          <a:blip r:embed="rId4"/>
          <a:stretch>
            <a:fillRect/>
          </a:stretch>
        </p:blipFill>
        <p:spPr>
          <a:xfrm>
            <a:off x="13419426" y="8971431"/>
            <a:ext cx="4499238" cy="1085182"/>
          </a:xfrm>
          <a:prstGeom prst="rect">
            <a:avLst/>
          </a:prstGeom>
        </p:spPr>
      </p:pic>
      <p:pic>
        <p:nvPicPr>
          <p:cNvPr id="2" name="Picture 5" descr="71-gra-02">
            <a:extLst>
              <a:ext uri="{FF2B5EF4-FFF2-40B4-BE49-F238E27FC236}">
                <a16:creationId xmlns:a16="http://schemas.microsoft.com/office/drawing/2014/main" id="{3015EE3D-B561-17DA-A8A9-3884B5FC3C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7538" y="2160334"/>
            <a:ext cx="8061960" cy="6265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uadroTexto 2">
            <a:extLst>
              <a:ext uri="{FF2B5EF4-FFF2-40B4-BE49-F238E27FC236}">
                <a16:creationId xmlns:a16="http://schemas.microsoft.com/office/drawing/2014/main" id="{E58688E9-A680-436A-C5DB-776FDAD5D6A3}"/>
              </a:ext>
            </a:extLst>
          </p:cNvPr>
          <p:cNvSpPr txBox="1"/>
          <p:nvPr/>
        </p:nvSpPr>
        <p:spPr>
          <a:xfrm>
            <a:off x="1493520" y="891539"/>
            <a:ext cx="8061960" cy="523220"/>
          </a:xfrm>
          <a:prstGeom prst="rect">
            <a:avLst/>
          </a:prstGeom>
          <a:noFill/>
        </p:spPr>
        <p:txBody>
          <a:bodyPr wrap="square" rtlCol="0">
            <a:spAutoFit/>
          </a:bodyPr>
          <a:lstStyle/>
          <a:p>
            <a:r>
              <a:rPr lang="es-ES" sz="2800" dirty="0">
                <a:latin typeface="Poppins" panose="00000500000000000000" pitchFamily="2" charset="0"/>
                <a:cs typeface="Poppins" panose="00000500000000000000" pitchFamily="2" charset="0"/>
              </a:rPr>
              <a:t>Ejemplo de un organigrama:</a:t>
            </a:r>
          </a:p>
        </p:txBody>
      </p:sp>
    </p:spTree>
    <p:extLst>
      <p:ext uri="{BB962C8B-B14F-4D97-AF65-F5344CB8AC3E}">
        <p14:creationId xmlns:p14="http://schemas.microsoft.com/office/powerpoint/2010/main" val="1329806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F3B49B6E-A41A-74DF-119F-9911CAA701F6}"/>
              </a:ext>
            </a:extLst>
          </p:cNvPr>
          <p:cNvPicPr>
            <a:picLocks noChangeAspect="1"/>
          </p:cNvPicPr>
          <p:nvPr/>
        </p:nvPicPr>
        <p:blipFill>
          <a:blip r:embed="rId2"/>
          <a:stretch>
            <a:fillRect/>
          </a:stretch>
        </p:blipFill>
        <p:spPr>
          <a:xfrm>
            <a:off x="16352471" y="498303"/>
            <a:ext cx="1127858" cy="1030313"/>
          </a:xfrm>
          <a:prstGeom prst="rect">
            <a:avLst/>
          </a:prstGeom>
        </p:spPr>
      </p:pic>
      <p:sp>
        <p:nvSpPr>
          <p:cNvPr id="3" name="CuadroTexto 2">
            <a:extLst>
              <a:ext uri="{FF2B5EF4-FFF2-40B4-BE49-F238E27FC236}">
                <a16:creationId xmlns:a16="http://schemas.microsoft.com/office/drawing/2014/main" id="{6BCBD1AE-6CCF-4207-22B7-6F78B8FAB63A}"/>
              </a:ext>
            </a:extLst>
          </p:cNvPr>
          <p:cNvSpPr txBox="1"/>
          <p:nvPr/>
        </p:nvSpPr>
        <p:spPr>
          <a:xfrm>
            <a:off x="807671" y="498303"/>
            <a:ext cx="15666769" cy="9140964"/>
          </a:xfrm>
          <a:prstGeom prst="rect">
            <a:avLst/>
          </a:prstGeom>
          <a:noFill/>
        </p:spPr>
        <p:txBody>
          <a:bodyPr wrap="square">
            <a:spAutoFit/>
          </a:bodyPr>
          <a:lstStyle/>
          <a:p>
            <a:pPr algn="l"/>
            <a:r>
              <a:rPr lang="es-ES" sz="2800" b="1" i="0" u="none" strike="noStrike" baseline="0" dirty="0">
                <a:solidFill>
                  <a:srgbClr val="430A1F"/>
                </a:solidFill>
                <a:latin typeface="Poppins" panose="00000500000000000000" pitchFamily="2" charset="0"/>
                <a:cs typeface="Poppins" panose="00000500000000000000" pitchFamily="2" charset="0"/>
              </a:rPr>
              <a:t>2. Reclutamiento y selección de personal.</a:t>
            </a:r>
          </a:p>
          <a:p>
            <a:pPr algn="l"/>
            <a:endParaRPr lang="es-ES" sz="2800" b="1" i="0" u="none" strike="noStrike" baseline="0" dirty="0">
              <a:solidFill>
                <a:srgbClr val="430A1F"/>
              </a:solidFill>
              <a:latin typeface="Poppins" panose="00000500000000000000" pitchFamily="2" charset="0"/>
              <a:cs typeface="Poppins" panose="00000500000000000000" pitchFamily="2" charset="0"/>
            </a:endParaRPr>
          </a:p>
          <a:p>
            <a:pPr algn="l"/>
            <a:r>
              <a:rPr lang="es-ES" sz="2800" b="0" i="0" u="none" strike="noStrike" baseline="0" dirty="0">
                <a:solidFill>
                  <a:srgbClr val="000000"/>
                </a:solidFill>
                <a:latin typeface="Poppins" panose="00000500000000000000" pitchFamily="2" charset="0"/>
                <a:cs typeface="Poppins" panose="00000500000000000000" pitchFamily="2" charset="0"/>
              </a:rPr>
              <a:t>Será necesario determinar la política de reclutamiento y selección de personal en el caso de que exista necesidad de contratar a personal adicional a los propios promotores, siendo necesario determinar en cada caso el tipo de contrato a realizar, así como la duración de los mismos.</a:t>
            </a:r>
          </a:p>
          <a:p>
            <a:pPr algn="l"/>
            <a:r>
              <a:rPr lang="es-ES" sz="2800" b="0" i="0" u="none" strike="noStrike" baseline="0" dirty="0">
                <a:solidFill>
                  <a:srgbClr val="000000"/>
                </a:solidFill>
                <a:latin typeface="Poppins" panose="00000500000000000000" pitchFamily="2" charset="0"/>
                <a:cs typeface="Poppins" panose="00000500000000000000" pitchFamily="2" charset="0"/>
              </a:rPr>
              <a:t>Para la contratación de nuevos trabajadores se puede recurrir a las oficinas de empleo del Instituto Nacional de Empleo (INEM), a las agencias privadas de colocación, a las empresas de trabajo temporal, a los colegios y asociaciones profesionales, a las bolsas de trabajo o departamentos de salidas profesionales de universidades y centros de formación, a los anuncios de prensa y a las publicaciones especializadas.</a:t>
            </a:r>
          </a:p>
          <a:p>
            <a:pPr algn="l"/>
            <a:endParaRPr lang="es-ES" sz="2800" dirty="0">
              <a:latin typeface="Poppins" panose="00000500000000000000" pitchFamily="2" charset="0"/>
              <a:cs typeface="Poppins" panose="00000500000000000000" pitchFamily="2" charset="0"/>
            </a:endParaRPr>
          </a:p>
          <a:p>
            <a:pPr algn="l"/>
            <a:r>
              <a:rPr lang="es-ES" sz="2800" b="1" i="0" u="none" strike="noStrike" baseline="0" dirty="0">
                <a:solidFill>
                  <a:srgbClr val="430A1F"/>
                </a:solidFill>
                <a:latin typeface="Poppins" panose="00000500000000000000" pitchFamily="2" charset="0"/>
                <a:cs typeface="Poppins" panose="00000500000000000000" pitchFamily="2" charset="0"/>
              </a:rPr>
              <a:t>3. Formación</a:t>
            </a:r>
          </a:p>
          <a:p>
            <a:pPr algn="l"/>
            <a:endParaRPr lang="es-ES" sz="2800" b="1" i="0" u="none" strike="noStrike" baseline="0" dirty="0">
              <a:solidFill>
                <a:srgbClr val="430A1F"/>
              </a:solidFill>
              <a:latin typeface="Poppins" panose="00000500000000000000" pitchFamily="2" charset="0"/>
              <a:cs typeface="Poppins" panose="00000500000000000000" pitchFamily="2" charset="0"/>
            </a:endParaRPr>
          </a:p>
          <a:p>
            <a:pPr algn="l"/>
            <a:r>
              <a:rPr lang="es-ES" sz="2800" b="0" i="0" u="none" strike="noStrike" baseline="0" dirty="0">
                <a:solidFill>
                  <a:srgbClr val="000000"/>
                </a:solidFill>
                <a:latin typeface="Poppins" panose="00000500000000000000" pitchFamily="2" charset="0"/>
                <a:cs typeface="Poppins" panose="00000500000000000000" pitchFamily="2" charset="0"/>
              </a:rPr>
              <a:t>Determinar si existen necesidades formativas en la empresa, y su incidencia en la promoción de los trabajadores. En caso de existir, diseñar los planes de formación para los promotores y para los trabajadores de la plantilla.</a:t>
            </a:r>
          </a:p>
          <a:p>
            <a:pPr algn="l"/>
            <a:r>
              <a:rPr lang="es-ES" sz="2800" b="0" i="0" u="none" strike="noStrike" baseline="0" dirty="0">
                <a:solidFill>
                  <a:srgbClr val="000000"/>
                </a:solidFill>
                <a:latin typeface="Poppins" panose="00000500000000000000" pitchFamily="2" charset="0"/>
                <a:cs typeface="Poppins" panose="00000500000000000000" pitchFamily="2" charset="0"/>
              </a:rPr>
              <a:t>Puede ser útil recurrir a las ofertas formativas de las asociaciones representativas.</a:t>
            </a:r>
          </a:p>
          <a:p>
            <a:pPr algn="l"/>
            <a:r>
              <a:rPr lang="es-ES" sz="2800" b="0" i="0" u="none" strike="noStrike" baseline="0" dirty="0">
                <a:solidFill>
                  <a:srgbClr val="000000"/>
                </a:solidFill>
                <a:latin typeface="Poppins" panose="00000500000000000000" pitchFamily="2" charset="0"/>
                <a:cs typeface="Poppins" panose="00000500000000000000" pitchFamily="2" charset="0"/>
              </a:rPr>
              <a:t>Posteriormente, establecer sistemas de evaluación que permitan controlar la eficacia de la participación en las acciones formativas.</a:t>
            </a:r>
            <a:endParaRPr lang="es-ES" sz="28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127773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1DB0D-AAD9-9FFD-A615-CAED22096436}"/>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A4169FFD-AC78-03F7-351A-4391B5AD6D05}"/>
              </a:ext>
            </a:extLst>
          </p:cNvPr>
          <p:cNvPicPr>
            <a:picLocks noChangeAspect="1"/>
          </p:cNvPicPr>
          <p:nvPr/>
        </p:nvPicPr>
        <p:blipFill>
          <a:blip r:embed="rId2"/>
          <a:stretch>
            <a:fillRect/>
          </a:stretch>
        </p:blipFill>
        <p:spPr>
          <a:xfrm>
            <a:off x="16352471" y="498303"/>
            <a:ext cx="1127858" cy="1030313"/>
          </a:xfrm>
          <a:prstGeom prst="rect">
            <a:avLst/>
          </a:prstGeom>
        </p:spPr>
      </p:pic>
      <p:pic>
        <p:nvPicPr>
          <p:cNvPr id="7" name="Imagen 6">
            <a:extLst>
              <a:ext uri="{FF2B5EF4-FFF2-40B4-BE49-F238E27FC236}">
                <a16:creationId xmlns:a16="http://schemas.microsoft.com/office/drawing/2014/main" id="{1B58E0F3-BECB-3C42-37E2-0364F555A25F}"/>
              </a:ext>
            </a:extLst>
          </p:cNvPr>
          <p:cNvPicPr>
            <a:picLocks noChangeAspect="1"/>
          </p:cNvPicPr>
          <p:nvPr/>
        </p:nvPicPr>
        <p:blipFill>
          <a:blip r:embed="rId3"/>
          <a:stretch>
            <a:fillRect/>
          </a:stretch>
        </p:blipFill>
        <p:spPr>
          <a:xfrm>
            <a:off x="338855" y="8971431"/>
            <a:ext cx="4529721" cy="1085182"/>
          </a:xfrm>
          <a:prstGeom prst="rect">
            <a:avLst/>
          </a:prstGeom>
        </p:spPr>
      </p:pic>
      <p:pic>
        <p:nvPicPr>
          <p:cNvPr id="8" name="Imagen 7">
            <a:extLst>
              <a:ext uri="{FF2B5EF4-FFF2-40B4-BE49-F238E27FC236}">
                <a16:creationId xmlns:a16="http://schemas.microsoft.com/office/drawing/2014/main" id="{3FEB924F-FFD6-9DF3-694C-6D6493F80083}"/>
              </a:ext>
            </a:extLst>
          </p:cNvPr>
          <p:cNvPicPr>
            <a:picLocks noChangeAspect="1"/>
          </p:cNvPicPr>
          <p:nvPr/>
        </p:nvPicPr>
        <p:blipFill>
          <a:blip r:embed="rId4"/>
          <a:stretch>
            <a:fillRect/>
          </a:stretch>
        </p:blipFill>
        <p:spPr>
          <a:xfrm>
            <a:off x="13419426" y="8971431"/>
            <a:ext cx="4499238" cy="1085182"/>
          </a:xfrm>
          <a:prstGeom prst="rect">
            <a:avLst/>
          </a:prstGeom>
        </p:spPr>
      </p:pic>
      <p:sp>
        <p:nvSpPr>
          <p:cNvPr id="3" name="CuadroTexto 2">
            <a:extLst>
              <a:ext uri="{FF2B5EF4-FFF2-40B4-BE49-F238E27FC236}">
                <a16:creationId xmlns:a16="http://schemas.microsoft.com/office/drawing/2014/main" id="{79FD695C-4FAB-192E-4DA0-1C6E295EEC65}"/>
              </a:ext>
            </a:extLst>
          </p:cNvPr>
          <p:cNvSpPr txBox="1"/>
          <p:nvPr/>
        </p:nvSpPr>
        <p:spPr>
          <a:xfrm>
            <a:off x="655319" y="640080"/>
            <a:ext cx="15697151" cy="8063746"/>
          </a:xfrm>
          <a:prstGeom prst="rect">
            <a:avLst/>
          </a:prstGeom>
          <a:noFill/>
        </p:spPr>
        <p:txBody>
          <a:bodyPr wrap="square">
            <a:spAutoFit/>
          </a:bodyPr>
          <a:lstStyle/>
          <a:p>
            <a:pPr algn="l"/>
            <a:r>
              <a:rPr lang="es-ES" sz="2800" b="1" i="0" u="none" strike="noStrike" baseline="0" dirty="0">
                <a:solidFill>
                  <a:srgbClr val="430A1F"/>
                </a:solidFill>
                <a:latin typeface="Poppins" panose="00000500000000000000" pitchFamily="2" charset="0"/>
                <a:cs typeface="Poppins" panose="00000500000000000000" pitchFamily="2" charset="0"/>
              </a:rPr>
              <a:t>4. Estimación de los costes salariales.</a:t>
            </a:r>
          </a:p>
          <a:p>
            <a:pPr algn="l"/>
            <a:endParaRPr lang="es-ES" sz="2800" b="1" i="0" u="none" strike="noStrike" baseline="0" dirty="0">
              <a:solidFill>
                <a:srgbClr val="430A1F"/>
              </a:solidFill>
              <a:latin typeface="Poppins" panose="00000500000000000000" pitchFamily="2" charset="0"/>
              <a:cs typeface="Poppins" panose="00000500000000000000" pitchFamily="2" charset="0"/>
            </a:endParaRPr>
          </a:p>
          <a:p>
            <a:pPr algn="l"/>
            <a:r>
              <a:rPr lang="es-ES" sz="2800" b="0" i="0" u="none" strike="noStrike" baseline="0" dirty="0">
                <a:solidFill>
                  <a:srgbClr val="000000"/>
                </a:solidFill>
                <a:latin typeface="Poppins" panose="00000500000000000000" pitchFamily="2" charset="0"/>
                <a:cs typeface="Poppins" panose="00000500000000000000" pitchFamily="2" charset="0"/>
              </a:rPr>
              <a:t>A la hora de estimar los costes salariales que ha de soportar la empresa por las personas que trabajan en la misma hay que tener en cuenta:</a:t>
            </a:r>
          </a:p>
          <a:p>
            <a:pPr algn="l"/>
            <a:endParaRPr lang="es-ES" sz="2800" dirty="0">
              <a:latin typeface="Poppins" panose="00000500000000000000" pitchFamily="2" charset="0"/>
              <a:cs typeface="Poppins" panose="00000500000000000000" pitchFamily="2" charset="0"/>
            </a:endParaRPr>
          </a:p>
          <a:p>
            <a:pPr algn="l"/>
            <a:endParaRPr lang="es-ES" sz="2800" dirty="0">
              <a:latin typeface="Poppins" panose="00000500000000000000" pitchFamily="2" charset="0"/>
              <a:cs typeface="Poppins" panose="00000500000000000000" pitchFamily="2" charset="0"/>
            </a:endParaRPr>
          </a:p>
          <a:p>
            <a:pPr algn="l"/>
            <a:r>
              <a:rPr lang="es-ES" sz="2800" b="0" i="0" u="none" strike="noStrike" baseline="0" dirty="0">
                <a:solidFill>
                  <a:srgbClr val="000000"/>
                </a:solidFill>
                <a:latin typeface="Poppins" panose="00000500000000000000" pitchFamily="2" charset="0"/>
                <a:cs typeface="Poppins" panose="00000500000000000000" pitchFamily="2" charset="0"/>
              </a:rPr>
              <a:t>• </a:t>
            </a:r>
            <a:r>
              <a:rPr lang="es-ES" sz="2800" b="1" i="0" u="none" strike="noStrike" baseline="0" dirty="0">
                <a:solidFill>
                  <a:srgbClr val="430A1F"/>
                </a:solidFill>
                <a:latin typeface="Poppins" panose="00000500000000000000" pitchFamily="2" charset="0"/>
                <a:cs typeface="Poppins" panose="00000500000000000000" pitchFamily="2" charset="0"/>
              </a:rPr>
              <a:t>El salario bruto </a:t>
            </a:r>
            <a:r>
              <a:rPr lang="es-ES" sz="2800" b="0" i="0" u="none" strike="noStrike" baseline="0" dirty="0">
                <a:solidFill>
                  <a:srgbClr val="430A1F"/>
                </a:solidFill>
                <a:latin typeface="Poppins" panose="00000500000000000000" pitchFamily="2" charset="0"/>
                <a:cs typeface="Poppins" panose="00000500000000000000" pitchFamily="2" charset="0"/>
              </a:rPr>
              <a:t>que percibe cada trabajador</a:t>
            </a:r>
            <a:r>
              <a:rPr lang="es-ES" sz="2800" b="0" i="0" u="none" strike="noStrike" baseline="0" dirty="0">
                <a:solidFill>
                  <a:srgbClr val="000000"/>
                </a:solidFill>
                <a:latin typeface="Poppins" panose="00000500000000000000" pitchFamily="2" charset="0"/>
                <a:cs typeface="Poppins" panose="00000500000000000000" pitchFamily="2" charset="0"/>
              </a:rPr>
              <a:t>. En los Convenios Colectivos se establecen los salarios mínimos para las distintas categorías, lo que puede servir como referencia. Además, hay que tener en cuenta el número de pagas, y si se van a aplicar sistemas de retribución fijos o variables, así como determinar el coste de las horas extras, y el plus por antigüedad, riesgo, nocturnidad, etc.</a:t>
            </a:r>
          </a:p>
          <a:p>
            <a:pPr algn="l"/>
            <a:endParaRPr lang="es-ES" sz="2800" b="0" i="0" u="none" strike="noStrike" baseline="0" dirty="0">
              <a:solidFill>
                <a:srgbClr val="000000"/>
              </a:solidFill>
              <a:latin typeface="Poppins" panose="00000500000000000000" pitchFamily="2" charset="0"/>
              <a:cs typeface="Poppins" panose="00000500000000000000" pitchFamily="2" charset="0"/>
            </a:endParaRPr>
          </a:p>
          <a:p>
            <a:pPr algn="l"/>
            <a:r>
              <a:rPr lang="es-ES" sz="2800" b="0" i="0" u="none" strike="noStrike" baseline="0" dirty="0">
                <a:solidFill>
                  <a:srgbClr val="000000"/>
                </a:solidFill>
                <a:latin typeface="Poppins" panose="00000500000000000000" pitchFamily="2" charset="0"/>
                <a:cs typeface="Poppins" panose="00000500000000000000" pitchFamily="2" charset="0"/>
              </a:rPr>
              <a:t>• </a:t>
            </a:r>
            <a:r>
              <a:rPr lang="es-ES" sz="2800" b="1" i="0" u="none" strike="noStrike" baseline="0" dirty="0">
                <a:solidFill>
                  <a:srgbClr val="430A1F"/>
                </a:solidFill>
                <a:latin typeface="Poppins" panose="00000500000000000000" pitchFamily="2" charset="0"/>
                <a:cs typeface="Poppins" panose="00000500000000000000" pitchFamily="2" charset="0"/>
              </a:rPr>
              <a:t>El coste de la Seguridad Socia</a:t>
            </a:r>
            <a:r>
              <a:rPr lang="es-ES" sz="2800" b="1" i="0" u="none" strike="noStrike" baseline="0" dirty="0">
                <a:solidFill>
                  <a:srgbClr val="000000"/>
                </a:solidFill>
                <a:latin typeface="Poppins" panose="00000500000000000000" pitchFamily="2" charset="0"/>
                <a:cs typeface="Poppins" panose="00000500000000000000" pitchFamily="2" charset="0"/>
              </a:rPr>
              <a:t>l A cargo de la empresa</a:t>
            </a:r>
            <a:r>
              <a:rPr lang="es-ES" sz="2800" b="0" i="0" u="none" strike="noStrike" baseline="0" dirty="0">
                <a:solidFill>
                  <a:srgbClr val="000000"/>
                </a:solidFill>
                <a:latin typeface="Poppins" panose="00000500000000000000" pitchFamily="2" charset="0"/>
                <a:cs typeface="Poppins" panose="00000500000000000000" pitchFamily="2" charset="0"/>
              </a:rPr>
              <a:t>, que se determinará en función de la categoría profesional del trabajador y del sector de actividad en el que esté dado de alta la empresa. En el caso de estar dado de alta en el Régimen Especial de Trabajadores Autónomos, y que la empresa asuma este coste, la cuantía de la cotización se determinará en función del sector de actividad, de la base de cotización y de las coberturas elegidas.</a:t>
            </a:r>
          </a:p>
          <a:p>
            <a:pPr algn="l"/>
            <a:endParaRPr lang="es-ES" dirty="0"/>
          </a:p>
        </p:txBody>
      </p:sp>
    </p:spTree>
    <p:extLst>
      <p:ext uri="{BB962C8B-B14F-4D97-AF65-F5344CB8AC3E}">
        <p14:creationId xmlns:p14="http://schemas.microsoft.com/office/powerpoint/2010/main" val="3432811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42621-F79B-324A-7308-FCB83E099EC8}"/>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E924BA79-B47A-77EF-0EBB-A4EB29103D67}"/>
              </a:ext>
            </a:extLst>
          </p:cNvPr>
          <p:cNvPicPr>
            <a:picLocks noChangeAspect="1"/>
          </p:cNvPicPr>
          <p:nvPr/>
        </p:nvPicPr>
        <p:blipFill>
          <a:blip r:embed="rId2"/>
          <a:stretch>
            <a:fillRect/>
          </a:stretch>
        </p:blipFill>
        <p:spPr>
          <a:xfrm>
            <a:off x="16352471" y="498303"/>
            <a:ext cx="1127858" cy="1030313"/>
          </a:xfrm>
          <a:prstGeom prst="rect">
            <a:avLst/>
          </a:prstGeom>
        </p:spPr>
      </p:pic>
      <p:pic>
        <p:nvPicPr>
          <p:cNvPr id="7" name="Imagen 6">
            <a:extLst>
              <a:ext uri="{FF2B5EF4-FFF2-40B4-BE49-F238E27FC236}">
                <a16:creationId xmlns:a16="http://schemas.microsoft.com/office/drawing/2014/main" id="{360E099A-F0F0-EB69-9025-FFF14FA414A9}"/>
              </a:ext>
            </a:extLst>
          </p:cNvPr>
          <p:cNvPicPr>
            <a:picLocks noChangeAspect="1"/>
          </p:cNvPicPr>
          <p:nvPr/>
        </p:nvPicPr>
        <p:blipFill>
          <a:blip r:embed="rId3"/>
          <a:stretch>
            <a:fillRect/>
          </a:stretch>
        </p:blipFill>
        <p:spPr>
          <a:xfrm>
            <a:off x="338855" y="8971431"/>
            <a:ext cx="4529721" cy="1085182"/>
          </a:xfrm>
          <a:prstGeom prst="rect">
            <a:avLst/>
          </a:prstGeom>
        </p:spPr>
      </p:pic>
      <p:pic>
        <p:nvPicPr>
          <p:cNvPr id="8" name="Imagen 7">
            <a:extLst>
              <a:ext uri="{FF2B5EF4-FFF2-40B4-BE49-F238E27FC236}">
                <a16:creationId xmlns:a16="http://schemas.microsoft.com/office/drawing/2014/main" id="{101C5EAD-6462-2FE5-C8B5-B9FBF583406D}"/>
              </a:ext>
            </a:extLst>
          </p:cNvPr>
          <p:cNvPicPr>
            <a:picLocks noChangeAspect="1"/>
          </p:cNvPicPr>
          <p:nvPr/>
        </p:nvPicPr>
        <p:blipFill>
          <a:blip r:embed="rId4"/>
          <a:stretch>
            <a:fillRect/>
          </a:stretch>
        </p:blipFill>
        <p:spPr>
          <a:xfrm>
            <a:off x="13419426" y="8971431"/>
            <a:ext cx="4499238" cy="1085182"/>
          </a:xfrm>
          <a:prstGeom prst="rect">
            <a:avLst/>
          </a:prstGeom>
        </p:spPr>
      </p:pic>
      <p:sp>
        <p:nvSpPr>
          <p:cNvPr id="3" name="CuadroTexto 2">
            <a:extLst>
              <a:ext uri="{FF2B5EF4-FFF2-40B4-BE49-F238E27FC236}">
                <a16:creationId xmlns:a16="http://schemas.microsoft.com/office/drawing/2014/main" id="{04E845FA-D673-38DE-7F33-5727EC7F2CC0}"/>
              </a:ext>
            </a:extLst>
          </p:cNvPr>
          <p:cNvSpPr txBox="1"/>
          <p:nvPr/>
        </p:nvSpPr>
        <p:spPr>
          <a:xfrm>
            <a:off x="1066800" y="1528616"/>
            <a:ext cx="15575280" cy="6124754"/>
          </a:xfrm>
          <a:prstGeom prst="rect">
            <a:avLst/>
          </a:prstGeom>
          <a:noFill/>
        </p:spPr>
        <p:txBody>
          <a:bodyPr wrap="square">
            <a:spAutoFit/>
          </a:bodyPr>
          <a:lstStyle/>
          <a:p>
            <a:pPr algn="l"/>
            <a:r>
              <a:rPr lang="es-ES" sz="2800" b="1" i="0" u="none" strike="noStrike" baseline="0" dirty="0">
                <a:solidFill>
                  <a:srgbClr val="140041"/>
                </a:solidFill>
                <a:latin typeface="Poppins" panose="00000500000000000000" pitchFamily="2" charset="0"/>
                <a:cs typeface="Poppins" panose="00000500000000000000" pitchFamily="2" charset="0"/>
              </a:rPr>
              <a:t>5. Responsabilidad Social Corporativa (RSC)</a:t>
            </a:r>
          </a:p>
          <a:p>
            <a:pPr algn="l"/>
            <a:endParaRPr lang="es-ES" sz="2800" b="1" i="0" u="none" strike="noStrike" baseline="0" dirty="0">
              <a:solidFill>
                <a:srgbClr val="140041"/>
              </a:solidFill>
              <a:latin typeface="Poppins" panose="00000500000000000000" pitchFamily="2" charset="0"/>
              <a:cs typeface="Poppins" panose="00000500000000000000" pitchFamily="2" charset="0"/>
            </a:endParaRPr>
          </a:p>
          <a:p>
            <a:pPr algn="l"/>
            <a:r>
              <a:rPr lang="es-ES" sz="2800" i="0" u="none" strike="noStrike" baseline="0" dirty="0">
                <a:solidFill>
                  <a:srgbClr val="430A1F"/>
                </a:solidFill>
                <a:latin typeface="Poppins" panose="00000500000000000000" pitchFamily="2" charset="0"/>
                <a:cs typeface="Poppins" panose="00000500000000000000" pitchFamily="2" charset="0"/>
              </a:rPr>
              <a:t>S</a:t>
            </a:r>
            <a:r>
              <a:rPr lang="es-ES" sz="2800" b="0" i="0" u="none" strike="noStrike" baseline="0" dirty="0">
                <a:solidFill>
                  <a:srgbClr val="1A1A1A"/>
                </a:solidFill>
                <a:latin typeface="Poppins" panose="00000500000000000000" pitchFamily="2" charset="0"/>
                <a:cs typeface="Poppins" panose="00000500000000000000" pitchFamily="2" charset="0"/>
              </a:rPr>
              <a:t>in duda hemos llegado a un punto en el que no vale todo. Las empresas no pueden crecer a cualquier precio, “precio </a:t>
            </a:r>
            <a:r>
              <a:rPr lang="es-ES" sz="2800" b="0" i="0" u="none" strike="noStrike" baseline="0" dirty="0" err="1">
                <a:solidFill>
                  <a:srgbClr val="1A1A1A"/>
                </a:solidFill>
                <a:latin typeface="Poppins" panose="00000500000000000000" pitchFamily="2" charset="0"/>
                <a:cs typeface="Poppins" panose="00000500000000000000" pitchFamily="2" charset="0"/>
              </a:rPr>
              <a:t>social”,“precio</a:t>
            </a:r>
            <a:r>
              <a:rPr lang="es-ES" sz="2800" b="0" i="0" u="none" strike="noStrike" baseline="0" dirty="0">
                <a:solidFill>
                  <a:srgbClr val="1A1A1A"/>
                </a:solidFill>
                <a:latin typeface="Poppins" panose="00000500000000000000" pitchFamily="2" charset="0"/>
                <a:cs typeface="Poppins" panose="00000500000000000000" pitchFamily="2" charset="0"/>
              </a:rPr>
              <a:t> MA” o “precio económico”.</a:t>
            </a:r>
          </a:p>
          <a:p>
            <a:pPr algn="l"/>
            <a:endParaRPr lang="es-ES" sz="2800" b="0" i="0" u="none" strike="noStrike" baseline="0" dirty="0">
              <a:solidFill>
                <a:srgbClr val="1A1A1A"/>
              </a:solidFill>
              <a:latin typeface="Poppins" panose="00000500000000000000" pitchFamily="2" charset="0"/>
              <a:cs typeface="Poppins" panose="00000500000000000000" pitchFamily="2" charset="0"/>
            </a:endParaRPr>
          </a:p>
          <a:p>
            <a:pPr algn="l"/>
            <a:r>
              <a:rPr lang="es-ES" sz="2800" b="0" i="0" u="none" strike="noStrike" baseline="0" dirty="0">
                <a:solidFill>
                  <a:srgbClr val="1A1A1A"/>
                </a:solidFill>
                <a:latin typeface="Poppins" panose="00000500000000000000" pitchFamily="2" charset="0"/>
                <a:cs typeface="Poppins" panose="00000500000000000000" pitchFamily="2" charset="0"/>
              </a:rPr>
              <a:t>RSC es la integración voluntaria, por parte de las empresas, de las preocupaciones sociales y medioambientales en sus operaciones comerciales y sus relaciones con sus interlocutores.</a:t>
            </a:r>
          </a:p>
          <a:p>
            <a:pPr algn="l"/>
            <a:endParaRPr lang="es-ES" sz="2800" b="0" i="0" u="none" strike="noStrike" baseline="0" dirty="0">
              <a:solidFill>
                <a:srgbClr val="1A1A1A"/>
              </a:solidFill>
              <a:latin typeface="Poppins" panose="00000500000000000000" pitchFamily="2" charset="0"/>
              <a:cs typeface="Poppins" panose="00000500000000000000" pitchFamily="2" charset="0"/>
            </a:endParaRPr>
          </a:p>
          <a:p>
            <a:pPr algn="l"/>
            <a:r>
              <a:rPr lang="es-ES" sz="2800" b="0" i="0" u="none" strike="noStrike" baseline="0" dirty="0">
                <a:solidFill>
                  <a:srgbClr val="1A1A1A"/>
                </a:solidFill>
                <a:latin typeface="Poppins" panose="00000500000000000000" pitchFamily="2" charset="0"/>
                <a:cs typeface="Poppins" panose="00000500000000000000" pitchFamily="2" charset="0"/>
              </a:rPr>
              <a:t>La </a:t>
            </a:r>
            <a:r>
              <a:rPr lang="es-ES" sz="2800" b="1" i="0" u="none" strike="noStrike" baseline="0" dirty="0">
                <a:solidFill>
                  <a:srgbClr val="1A1A1A"/>
                </a:solidFill>
                <a:latin typeface="Poppins" panose="00000500000000000000" pitchFamily="2" charset="0"/>
                <a:cs typeface="Poppins" panose="00000500000000000000" pitchFamily="2" charset="0"/>
              </a:rPr>
              <a:t>RSC</a:t>
            </a:r>
            <a:r>
              <a:rPr lang="es-ES" sz="2800" b="0" i="0" u="none" strike="noStrike" baseline="0" dirty="0">
                <a:solidFill>
                  <a:srgbClr val="1A1A1A"/>
                </a:solidFill>
                <a:latin typeface="Poppins" panose="00000500000000000000" pitchFamily="2" charset="0"/>
                <a:cs typeface="Poppins" panose="00000500000000000000" pitchFamily="2" charset="0"/>
              </a:rPr>
              <a:t> se basa en tres pilares, el económico, social y MA, siendo muy importante para la empresa definir sus grupos de interés.</a:t>
            </a:r>
          </a:p>
          <a:p>
            <a:pPr algn="l"/>
            <a:endParaRPr lang="es-ES" sz="2800" b="0" i="0" u="none" strike="noStrike" baseline="0" dirty="0">
              <a:solidFill>
                <a:srgbClr val="1A1A1A"/>
              </a:solidFill>
              <a:latin typeface="Poppins" panose="00000500000000000000" pitchFamily="2" charset="0"/>
              <a:cs typeface="Poppins" panose="00000500000000000000" pitchFamily="2" charset="0"/>
            </a:endParaRPr>
          </a:p>
          <a:p>
            <a:pPr algn="l"/>
            <a:r>
              <a:rPr lang="es-ES" sz="2800" b="0" i="0" u="none" strike="noStrike" baseline="0" dirty="0">
                <a:solidFill>
                  <a:srgbClr val="1A1A1A"/>
                </a:solidFill>
                <a:latin typeface="Poppins" panose="00000500000000000000" pitchFamily="2" charset="0"/>
                <a:cs typeface="Poppins" panose="00000500000000000000" pitchFamily="2" charset="0"/>
              </a:rPr>
              <a:t>Un grupo de interés son todas aquellas partes interesadas de la empresa, la propia organización, los consumidores/clientes y la sociedad.</a:t>
            </a:r>
            <a:endParaRPr lang="es-ES" sz="28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998694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C7DD1-B629-FB2F-B8D5-4CBC29A77F37}"/>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DD841F69-6EE0-B8E8-1288-FEEC86C30D84}"/>
              </a:ext>
            </a:extLst>
          </p:cNvPr>
          <p:cNvPicPr>
            <a:picLocks noChangeAspect="1"/>
          </p:cNvPicPr>
          <p:nvPr/>
        </p:nvPicPr>
        <p:blipFill>
          <a:blip r:embed="rId2"/>
          <a:stretch>
            <a:fillRect/>
          </a:stretch>
        </p:blipFill>
        <p:spPr>
          <a:xfrm>
            <a:off x="16352471" y="498303"/>
            <a:ext cx="1127858" cy="1030313"/>
          </a:xfrm>
          <a:prstGeom prst="rect">
            <a:avLst/>
          </a:prstGeom>
        </p:spPr>
      </p:pic>
      <p:pic>
        <p:nvPicPr>
          <p:cNvPr id="7" name="Imagen 6">
            <a:extLst>
              <a:ext uri="{FF2B5EF4-FFF2-40B4-BE49-F238E27FC236}">
                <a16:creationId xmlns:a16="http://schemas.microsoft.com/office/drawing/2014/main" id="{3E16CE5F-6DC4-8004-7431-B4B7DB93998A}"/>
              </a:ext>
            </a:extLst>
          </p:cNvPr>
          <p:cNvPicPr>
            <a:picLocks noChangeAspect="1"/>
          </p:cNvPicPr>
          <p:nvPr/>
        </p:nvPicPr>
        <p:blipFill>
          <a:blip r:embed="rId3"/>
          <a:stretch>
            <a:fillRect/>
          </a:stretch>
        </p:blipFill>
        <p:spPr>
          <a:xfrm>
            <a:off x="338855" y="8971431"/>
            <a:ext cx="4529721" cy="1085182"/>
          </a:xfrm>
          <a:prstGeom prst="rect">
            <a:avLst/>
          </a:prstGeom>
        </p:spPr>
      </p:pic>
      <p:pic>
        <p:nvPicPr>
          <p:cNvPr id="8" name="Imagen 7">
            <a:extLst>
              <a:ext uri="{FF2B5EF4-FFF2-40B4-BE49-F238E27FC236}">
                <a16:creationId xmlns:a16="http://schemas.microsoft.com/office/drawing/2014/main" id="{B04433EC-F239-EAE7-962B-F390A2283F7C}"/>
              </a:ext>
            </a:extLst>
          </p:cNvPr>
          <p:cNvPicPr>
            <a:picLocks noChangeAspect="1"/>
          </p:cNvPicPr>
          <p:nvPr/>
        </p:nvPicPr>
        <p:blipFill>
          <a:blip r:embed="rId4"/>
          <a:stretch>
            <a:fillRect/>
          </a:stretch>
        </p:blipFill>
        <p:spPr>
          <a:xfrm>
            <a:off x="13419426" y="8971431"/>
            <a:ext cx="4499238" cy="1085182"/>
          </a:xfrm>
          <a:prstGeom prst="rect">
            <a:avLst/>
          </a:prstGeom>
        </p:spPr>
      </p:pic>
      <p:pic>
        <p:nvPicPr>
          <p:cNvPr id="4098" name="Picture 2">
            <a:extLst>
              <a:ext uri="{FF2B5EF4-FFF2-40B4-BE49-F238E27FC236}">
                <a16:creationId xmlns:a16="http://schemas.microsoft.com/office/drawing/2014/main" id="{19C78BF1-10F7-4EFF-105C-5923AF6AF1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2719" y="1002591"/>
            <a:ext cx="11809095" cy="7184010"/>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1831505B-DB00-0498-A9AE-ADE2DE071C69}"/>
              </a:ext>
            </a:extLst>
          </p:cNvPr>
          <p:cNvSpPr txBox="1"/>
          <p:nvPr/>
        </p:nvSpPr>
        <p:spPr>
          <a:xfrm>
            <a:off x="4416024" y="8448211"/>
            <a:ext cx="13761720" cy="523220"/>
          </a:xfrm>
          <a:prstGeom prst="rect">
            <a:avLst/>
          </a:prstGeom>
          <a:noFill/>
        </p:spPr>
        <p:txBody>
          <a:bodyPr wrap="square" rtlCol="0">
            <a:spAutoFit/>
          </a:bodyPr>
          <a:lstStyle/>
          <a:p>
            <a:r>
              <a:rPr lang="es-ES" sz="2800" dirty="0">
                <a:latin typeface="Poppins" panose="00000500000000000000" pitchFamily="2" charset="0"/>
                <a:cs typeface="Poppins" panose="00000500000000000000" pitchFamily="2" charset="0"/>
              </a:rPr>
              <a:t>https://youtu.be/I3vPdJxOr5Q?si=Mp6ho4j6PLc46Y8U</a:t>
            </a:r>
          </a:p>
        </p:txBody>
      </p:sp>
    </p:spTree>
    <p:extLst>
      <p:ext uri="{BB962C8B-B14F-4D97-AF65-F5344CB8AC3E}">
        <p14:creationId xmlns:p14="http://schemas.microsoft.com/office/powerpoint/2010/main" val="2980011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D4A31-655E-665A-79D3-A626B615BF6D}"/>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FB4F4A4A-2EE3-2EE2-F0C9-42FDEE4FF883}"/>
              </a:ext>
            </a:extLst>
          </p:cNvPr>
          <p:cNvPicPr>
            <a:picLocks noChangeAspect="1"/>
          </p:cNvPicPr>
          <p:nvPr/>
        </p:nvPicPr>
        <p:blipFill>
          <a:blip r:embed="rId2"/>
          <a:stretch>
            <a:fillRect/>
          </a:stretch>
        </p:blipFill>
        <p:spPr>
          <a:xfrm>
            <a:off x="16352471" y="498303"/>
            <a:ext cx="1127858" cy="1030313"/>
          </a:xfrm>
          <a:prstGeom prst="rect">
            <a:avLst/>
          </a:prstGeom>
        </p:spPr>
      </p:pic>
      <p:pic>
        <p:nvPicPr>
          <p:cNvPr id="7" name="Imagen 6">
            <a:extLst>
              <a:ext uri="{FF2B5EF4-FFF2-40B4-BE49-F238E27FC236}">
                <a16:creationId xmlns:a16="http://schemas.microsoft.com/office/drawing/2014/main" id="{21CC2971-83A5-6111-F0D0-755195C2DF99}"/>
              </a:ext>
            </a:extLst>
          </p:cNvPr>
          <p:cNvPicPr>
            <a:picLocks noChangeAspect="1"/>
          </p:cNvPicPr>
          <p:nvPr/>
        </p:nvPicPr>
        <p:blipFill>
          <a:blip r:embed="rId3"/>
          <a:stretch>
            <a:fillRect/>
          </a:stretch>
        </p:blipFill>
        <p:spPr>
          <a:xfrm>
            <a:off x="13388943" y="7553867"/>
            <a:ext cx="4529721" cy="1085182"/>
          </a:xfrm>
          <a:prstGeom prst="rect">
            <a:avLst/>
          </a:prstGeom>
        </p:spPr>
      </p:pic>
      <p:pic>
        <p:nvPicPr>
          <p:cNvPr id="8" name="Imagen 7">
            <a:extLst>
              <a:ext uri="{FF2B5EF4-FFF2-40B4-BE49-F238E27FC236}">
                <a16:creationId xmlns:a16="http://schemas.microsoft.com/office/drawing/2014/main" id="{D3570125-3C1C-92EE-8DF5-DE8DC336DF78}"/>
              </a:ext>
            </a:extLst>
          </p:cNvPr>
          <p:cNvPicPr>
            <a:picLocks noChangeAspect="1"/>
          </p:cNvPicPr>
          <p:nvPr/>
        </p:nvPicPr>
        <p:blipFill>
          <a:blip r:embed="rId4"/>
          <a:stretch>
            <a:fillRect/>
          </a:stretch>
        </p:blipFill>
        <p:spPr>
          <a:xfrm>
            <a:off x="13419426" y="8971431"/>
            <a:ext cx="4499238" cy="1085182"/>
          </a:xfrm>
          <a:prstGeom prst="rect">
            <a:avLst/>
          </a:prstGeom>
        </p:spPr>
      </p:pic>
      <p:sp>
        <p:nvSpPr>
          <p:cNvPr id="3" name="CuadroTexto 2">
            <a:extLst>
              <a:ext uri="{FF2B5EF4-FFF2-40B4-BE49-F238E27FC236}">
                <a16:creationId xmlns:a16="http://schemas.microsoft.com/office/drawing/2014/main" id="{15E3110D-873F-02B1-7950-A2C4AA9C15F7}"/>
              </a:ext>
            </a:extLst>
          </p:cNvPr>
          <p:cNvSpPr txBox="1"/>
          <p:nvPr/>
        </p:nvSpPr>
        <p:spPr>
          <a:xfrm>
            <a:off x="594310" y="788461"/>
            <a:ext cx="15895369" cy="8710077"/>
          </a:xfrm>
          <a:prstGeom prst="rect">
            <a:avLst/>
          </a:prstGeom>
          <a:noFill/>
        </p:spPr>
        <p:txBody>
          <a:bodyPr wrap="square">
            <a:spAutoFit/>
          </a:bodyPr>
          <a:lstStyle/>
          <a:p>
            <a:pPr algn="l"/>
            <a:r>
              <a:rPr lang="es-ES" sz="2800" b="1" i="0" u="none" strike="noStrike" baseline="0" dirty="0">
                <a:solidFill>
                  <a:srgbClr val="1A1A1A"/>
                </a:solidFill>
                <a:latin typeface="Poppins" panose="00000500000000000000" pitchFamily="2" charset="0"/>
                <a:cs typeface="Poppins" panose="00000500000000000000" pitchFamily="2" charset="0"/>
              </a:rPr>
              <a:t>RSC referente a sus empleados</a:t>
            </a:r>
          </a:p>
          <a:p>
            <a:pPr algn="l"/>
            <a:r>
              <a:rPr lang="es-ES" sz="2800" b="0" i="0" u="none" strike="noStrike" baseline="0" dirty="0">
                <a:solidFill>
                  <a:srgbClr val="4D4D4D"/>
                </a:solidFill>
                <a:latin typeface="Poppins" panose="00000500000000000000" pitchFamily="2" charset="0"/>
                <a:cs typeface="Poppins" panose="00000500000000000000" pitchFamily="2" charset="0"/>
              </a:rPr>
              <a:t>• </a:t>
            </a:r>
            <a:r>
              <a:rPr lang="es-ES" sz="2800" b="0" i="0" u="none" strike="noStrike" baseline="0" dirty="0">
                <a:solidFill>
                  <a:srgbClr val="1A1A1A"/>
                </a:solidFill>
                <a:latin typeface="Poppins" panose="00000500000000000000" pitchFamily="2" charset="0"/>
                <a:cs typeface="Poppins" panose="00000500000000000000" pitchFamily="2" charset="0"/>
              </a:rPr>
              <a:t>Flexibilidad horaria, teletrabajo, reducción de jornadas como medidas de conciliación.</a:t>
            </a:r>
          </a:p>
          <a:p>
            <a:pPr algn="l"/>
            <a:r>
              <a:rPr lang="es-ES" sz="2800" b="0" i="0" u="none" strike="noStrike" baseline="0" dirty="0">
                <a:solidFill>
                  <a:srgbClr val="4D4D4D"/>
                </a:solidFill>
                <a:latin typeface="Poppins" panose="00000500000000000000" pitchFamily="2" charset="0"/>
                <a:cs typeface="Poppins" panose="00000500000000000000" pitchFamily="2" charset="0"/>
              </a:rPr>
              <a:t>• </a:t>
            </a:r>
            <a:r>
              <a:rPr lang="es-ES" sz="2800" b="0" i="0" u="none" strike="noStrike" baseline="0" dirty="0">
                <a:solidFill>
                  <a:srgbClr val="1A1A1A"/>
                </a:solidFill>
                <a:latin typeface="Poppins" panose="00000500000000000000" pitchFamily="2" charset="0"/>
                <a:cs typeface="Poppins" panose="00000500000000000000" pitchFamily="2" charset="0"/>
              </a:rPr>
              <a:t>Igualdad de oportunidades. (hombres y mujeres).</a:t>
            </a:r>
          </a:p>
          <a:p>
            <a:pPr algn="l"/>
            <a:r>
              <a:rPr lang="es-ES" sz="2800" b="0" i="0" u="none" strike="noStrike" baseline="0" dirty="0">
                <a:solidFill>
                  <a:srgbClr val="4D4D4D"/>
                </a:solidFill>
                <a:latin typeface="Poppins" panose="00000500000000000000" pitchFamily="2" charset="0"/>
                <a:cs typeface="Poppins" panose="00000500000000000000" pitchFamily="2" charset="0"/>
              </a:rPr>
              <a:t>• </a:t>
            </a:r>
            <a:r>
              <a:rPr lang="es-ES" sz="2800" b="0" i="0" u="none" strike="noStrike" baseline="0" dirty="0">
                <a:solidFill>
                  <a:srgbClr val="1A1A1A"/>
                </a:solidFill>
                <a:latin typeface="Poppins" panose="00000500000000000000" pitchFamily="2" charset="0"/>
                <a:cs typeface="Poppins" panose="00000500000000000000" pitchFamily="2" charset="0"/>
              </a:rPr>
              <a:t>Plan de Formación. Definir carrera profesional.</a:t>
            </a:r>
          </a:p>
          <a:p>
            <a:pPr algn="l"/>
            <a:r>
              <a:rPr lang="es-ES" sz="2800" b="0" i="0" u="none" strike="noStrike" baseline="0" dirty="0">
                <a:solidFill>
                  <a:srgbClr val="4D4D4D"/>
                </a:solidFill>
                <a:latin typeface="Poppins" panose="00000500000000000000" pitchFamily="2" charset="0"/>
                <a:cs typeface="Poppins" panose="00000500000000000000" pitchFamily="2" charset="0"/>
              </a:rPr>
              <a:t>• </a:t>
            </a:r>
            <a:r>
              <a:rPr lang="es-ES" sz="2800" b="0" i="0" u="none" strike="noStrike" baseline="0" dirty="0">
                <a:solidFill>
                  <a:srgbClr val="1A1A1A"/>
                </a:solidFill>
                <a:latin typeface="Poppins" panose="00000500000000000000" pitchFamily="2" charset="0"/>
                <a:cs typeface="Poppins" panose="00000500000000000000" pitchFamily="2" charset="0"/>
              </a:rPr>
              <a:t>Políticas retributivas, ofrecer seguros médicos, guarderías.</a:t>
            </a:r>
          </a:p>
          <a:p>
            <a:pPr algn="l"/>
            <a:r>
              <a:rPr lang="es-ES" sz="2800" b="0" i="0" u="none" strike="noStrike" baseline="0" dirty="0">
                <a:solidFill>
                  <a:srgbClr val="4D4D4D"/>
                </a:solidFill>
                <a:latin typeface="Poppins" panose="00000500000000000000" pitchFamily="2" charset="0"/>
                <a:cs typeface="Poppins" panose="00000500000000000000" pitchFamily="2" charset="0"/>
              </a:rPr>
              <a:t>• </a:t>
            </a:r>
            <a:r>
              <a:rPr lang="es-ES" sz="2800" b="0" i="0" u="none" strike="noStrike" baseline="0" dirty="0">
                <a:solidFill>
                  <a:srgbClr val="1A1A1A"/>
                </a:solidFill>
                <a:latin typeface="Poppins" panose="00000500000000000000" pitchFamily="2" charset="0"/>
                <a:cs typeface="Poppins" panose="00000500000000000000" pitchFamily="2" charset="0"/>
              </a:rPr>
              <a:t>Actividades que mejoren las relaciones personales.</a:t>
            </a:r>
          </a:p>
          <a:p>
            <a:pPr algn="l"/>
            <a:r>
              <a:rPr lang="es-ES" sz="2800" b="0" i="0" u="none" strike="noStrike" baseline="0" dirty="0">
                <a:solidFill>
                  <a:srgbClr val="4D4D4D"/>
                </a:solidFill>
                <a:latin typeface="Poppins" panose="00000500000000000000" pitchFamily="2" charset="0"/>
                <a:cs typeface="Poppins" panose="00000500000000000000" pitchFamily="2" charset="0"/>
              </a:rPr>
              <a:t>• </a:t>
            </a:r>
            <a:r>
              <a:rPr lang="es-ES" sz="2800" b="0" i="0" u="none" strike="noStrike" baseline="0" dirty="0">
                <a:solidFill>
                  <a:srgbClr val="1A1A1A"/>
                </a:solidFill>
                <a:latin typeface="Poppins" panose="00000500000000000000" pitchFamily="2" charset="0"/>
                <a:cs typeface="Poppins" panose="00000500000000000000" pitchFamily="2" charset="0"/>
              </a:rPr>
              <a:t>Voluntariado social.</a:t>
            </a:r>
          </a:p>
          <a:p>
            <a:pPr algn="l"/>
            <a:r>
              <a:rPr lang="es-ES" sz="2800" b="1" i="0" u="none" strike="noStrike" baseline="0" dirty="0">
                <a:solidFill>
                  <a:srgbClr val="1A1A1A"/>
                </a:solidFill>
                <a:latin typeface="Poppins" panose="00000500000000000000" pitchFamily="2" charset="0"/>
                <a:cs typeface="Poppins" panose="00000500000000000000" pitchFamily="2" charset="0"/>
              </a:rPr>
              <a:t>RSC referente a la Sociedad</a:t>
            </a:r>
          </a:p>
          <a:p>
            <a:pPr algn="l"/>
            <a:r>
              <a:rPr lang="es-ES" sz="2800" b="0" i="0" u="none" strike="noStrike" baseline="0" dirty="0">
                <a:solidFill>
                  <a:srgbClr val="4D4D4D"/>
                </a:solidFill>
                <a:latin typeface="Poppins" panose="00000500000000000000" pitchFamily="2" charset="0"/>
                <a:cs typeface="Poppins" panose="00000500000000000000" pitchFamily="2" charset="0"/>
              </a:rPr>
              <a:t>• </a:t>
            </a:r>
            <a:r>
              <a:rPr lang="es-ES" sz="2800" b="0" i="0" u="none" strike="noStrike" baseline="0" dirty="0">
                <a:solidFill>
                  <a:srgbClr val="1A1A1A"/>
                </a:solidFill>
                <a:latin typeface="Poppins" panose="00000500000000000000" pitchFamily="2" charset="0"/>
                <a:cs typeface="Poppins" panose="00000500000000000000" pitchFamily="2" charset="0"/>
              </a:rPr>
              <a:t>Contratación de colectivos desfavorecidos.</a:t>
            </a:r>
          </a:p>
          <a:p>
            <a:pPr algn="l"/>
            <a:r>
              <a:rPr lang="es-ES" sz="2800" b="0" i="0" u="none" strike="noStrike" baseline="0" dirty="0">
                <a:solidFill>
                  <a:srgbClr val="4D4D4D"/>
                </a:solidFill>
                <a:latin typeface="Poppins" panose="00000500000000000000" pitchFamily="2" charset="0"/>
                <a:cs typeface="Poppins" panose="00000500000000000000" pitchFamily="2" charset="0"/>
              </a:rPr>
              <a:t>• </a:t>
            </a:r>
            <a:r>
              <a:rPr lang="es-ES" sz="2800" b="0" i="0" u="none" strike="noStrike" baseline="0" dirty="0">
                <a:solidFill>
                  <a:srgbClr val="1A1A1A"/>
                </a:solidFill>
                <a:latin typeface="Poppins" panose="00000500000000000000" pitchFamily="2" charset="0"/>
                <a:cs typeface="Poppins" panose="00000500000000000000" pitchFamily="2" charset="0"/>
              </a:rPr>
              <a:t>Patrocinios y Donaciones</a:t>
            </a:r>
          </a:p>
          <a:p>
            <a:pPr algn="l"/>
            <a:r>
              <a:rPr lang="es-ES" sz="2800" b="0" i="0" u="none" strike="noStrike" baseline="0" dirty="0">
                <a:solidFill>
                  <a:srgbClr val="4D4D4D"/>
                </a:solidFill>
                <a:latin typeface="Poppins" panose="00000500000000000000" pitchFamily="2" charset="0"/>
                <a:cs typeface="Poppins" panose="00000500000000000000" pitchFamily="2" charset="0"/>
              </a:rPr>
              <a:t>• </a:t>
            </a:r>
            <a:r>
              <a:rPr lang="es-ES" sz="2800" b="0" i="0" u="none" strike="noStrike" baseline="0" dirty="0">
                <a:solidFill>
                  <a:srgbClr val="1A1A1A"/>
                </a:solidFill>
                <a:latin typeface="Poppins" panose="00000500000000000000" pitchFamily="2" charset="0"/>
                <a:cs typeface="Poppins" panose="00000500000000000000" pitchFamily="2" charset="0"/>
              </a:rPr>
              <a:t>Participar en eventos sociales o culturales</a:t>
            </a:r>
          </a:p>
          <a:p>
            <a:pPr algn="l"/>
            <a:r>
              <a:rPr lang="es-ES" sz="2800" b="0" i="0" u="none" strike="noStrike" baseline="0" dirty="0">
                <a:solidFill>
                  <a:srgbClr val="4D4D4D"/>
                </a:solidFill>
                <a:latin typeface="Poppins" panose="00000500000000000000" pitchFamily="2" charset="0"/>
                <a:cs typeface="Poppins" panose="00000500000000000000" pitchFamily="2" charset="0"/>
              </a:rPr>
              <a:t>• </a:t>
            </a:r>
            <a:r>
              <a:rPr lang="es-ES" sz="2800" b="0" i="0" u="none" strike="noStrike" baseline="0" dirty="0">
                <a:solidFill>
                  <a:srgbClr val="1A1A1A"/>
                </a:solidFill>
                <a:latin typeface="Poppins" panose="00000500000000000000" pitchFamily="2" charset="0"/>
                <a:cs typeface="Poppins" panose="00000500000000000000" pitchFamily="2" charset="0"/>
              </a:rPr>
              <a:t>Fomentar el voluntariado Social dentro de las empresas</a:t>
            </a:r>
          </a:p>
          <a:p>
            <a:pPr algn="l"/>
            <a:r>
              <a:rPr lang="es-ES" sz="2800" b="0" i="0" u="none" strike="noStrike" baseline="0" dirty="0">
                <a:solidFill>
                  <a:srgbClr val="4D4D4D"/>
                </a:solidFill>
                <a:latin typeface="Poppins" panose="00000500000000000000" pitchFamily="2" charset="0"/>
                <a:cs typeface="Poppins" panose="00000500000000000000" pitchFamily="2" charset="0"/>
              </a:rPr>
              <a:t>• </a:t>
            </a:r>
            <a:r>
              <a:rPr lang="es-ES" sz="2800" b="0" i="0" u="none" strike="noStrike" baseline="0" dirty="0">
                <a:solidFill>
                  <a:srgbClr val="1A1A1A"/>
                </a:solidFill>
                <a:latin typeface="Poppins" panose="00000500000000000000" pitchFamily="2" charset="0"/>
                <a:cs typeface="Poppins" panose="00000500000000000000" pitchFamily="2" charset="0"/>
              </a:rPr>
              <a:t>Acoger personal en prácticas.</a:t>
            </a:r>
          </a:p>
          <a:p>
            <a:pPr algn="l"/>
            <a:r>
              <a:rPr lang="es-ES" sz="2800" b="0" i="0" u="none" strike="noStrike" baseline="0" dirty="0">
                <a:solidFill>
                  <a:srgbClr val="4D4D4D"/>
                </a:solidFill>
                <a:latin typeface="Poppins" panose="00000500000000000000" pitchFamily="2" charset="0"/>
                <a:cs typeface="Poppins" panose="00000500000000000000" pitchFamily="2" charset="0"/>
              </a:rPr>
              <a:t>• </a:t>
            </a:r>
            <a:r>
              <a:rPr lang="es-ES" sz="2800" b="0" i="0" u="none" strike="noStrike" baseline="0" dirty="0">
                <a:solidFill>
                  <a:srgbClr val="1A1A1A"/>
                </a:solidFill>
                <a:latin typeface="Poppins" panose="00000500000000000000" pitchFamily="2" charset="0"/>
                <a:cs typeface="Poppins" panose="00000500000000000000" pitchFamily="2" charset="0"/>
              </a:rPr>
              <a:t>Difundir y fomentar tu RSE</a:t>
            </a:r>
          </a:p>
          <a:p>
            <a:pPr algn="l"/>
            <a:r>
              <a:rPr lang="es-ES" sz="2800" b="1" i="0" u="none" strike="noStrike" baseline="0" dirty="0">
                <a:solidFill>
                  <a:srgbClr val="1A1A1A"/>
                </a:solidFill>
                <a:latin typeface="Poppins" panose="00000500000000000000" pitchFamily="2" charset="0"/>
                <a:cs typeface="Poppins" panose="00000500000000000000" pitchFamily="2" charset="0"/>
              </a:rPr>
              <a:t>RSC referente a los clientes y consumidores</a:t>
            </a:r>
          </a:p>
          <a:p>
            <a:pPr algn="l"/>
            <a:r>
              <a:rPr lang="es-ES" sz="2800" b="0" i="0" u="none" strike="noStrike" baseline="0" dirty="0">
                <a:solidFill>
                  <a:srgbClr val="4D4D4D"/>
                </a:solidFill>
                <a:latin typeface="Poppins" panose="00000500000000000000" pitchFamily="2" charset="0"/>
                <a:cs typeface="Poppins" panose="00000500000000000000" pitchFamily="2" charset="0"/>
              </a:rPr>
              <a:t>• </a:t>
            </a:r>
            <a:r>
              <a:rPr lang="es-ES" sz="2800" b="0" i="0" u="none" strike="noStrike" baseline="0" dirty="0">
                <a:solidFill>
                  <a:srgbClr val="1A1A1A"/>
                </a:solidFill>
                <a:latin typeface="Poppins" panose="00000500000000000000" pitchFamily="2" charset="0"/>
                <a:cs typeface="Poppins" panose="00000500000000000000" pitchFamily="2" charset="0"/>
              </a:rPr>
              <a:t>Transparencia en productos y servicios.</a:t>
            </a:r>
          </a:p>
          <a:p>
            <a:pPr algn="l"/>
            <a:r>
              <a:rPr lang="es-ES" sz="2800" b="0" i="0" u="none" strike="noStrike" baseline="0" dirty="0">
                <a:solidFill>
                  <a:srgbClr val="4D4D4D"/>
                </a:solidFill>
                <a:latin typeface="Poppins" panose="00000500000000000000" pitchFamily="2" charset="0"/>
                <a:cs typeface="Poppins" panose="00000500000000000000" pitchFamily="2" charset="0"/>
              </a:rPr>
              <a:t>• </a:t>
            </a:r>
            <a:r>
              <a:rPr lang="es-ES" sz="2800" b="0" i="0" u="none" strike="noStrike" baseline="0" dirty="0">
                <a:solidFill>
                  <a:srgbClr val="1A1A1A"/>
                </a:solidFill>
                <a:latin typeface="Poppins" panose="00000500000000000000" pitchFamily="2" charset="0"/>
                <a:cs typeface="Poppins" panose="00000500000000000000" pitchFamily="2" charset="0"/>
              </a:rPr>
              <a:t>Marketing no engañoso.</a:t>
            </a:r>
          </a:p>
          <a:p>
            <a:pPr algn="l"/>
            <a:r>
              <a:rPr lang="es-ES" sz="2800" b="0" i="0" u="none" strike="noStrike" baseline="0" dirty="0">
                <a:solidFill>
                  <a:srgbClr val="4D4D4D"/>
                </a:solidFill>
                <a:latin typeface="Poppins" panose="00000500000000000000" pitchFamily="2" charset="0"/>
                <a:cs typeface="Poppins" panose="00000500000000000000" pitchFamily="2" charset="0"/>
              </a:rPr>
              <a:t>• </a:t>
            </a:r>
            <a:r>
              <a:rPr lang="es-ES" sz="2800" b="0" i="0" u="none" strike="noStrike" baseline="0" dirty="0">
                <a:solidFill>
                  <a:srgbClr val="1A1A1A"/>
                </a:solidFill>
                <a:latin typeface="Poppins" panose="00000500000000000000" pitchFamily="2" charset="0"/>
                <a:cs typeface="Poppins" panose="00000500000000000000" pitchFamily="2" charset="0"/>
              </a:rPr>
              <a:t>Abrir vías de comunicación con los clientes.</a:t>
            </a:r>
          </a:p>
          <a:p>
            <a:pPr algn="l"/>
            <a:r>
              <a:rPr lang="es-ES" sz="2800" b="0" i="0" u="none" strike="noStrike" baseline="0" dirty="0">
                <a:solidFill>
                  <a:srgbClr val="4D4D4D"/>
                </a:solidFill>
                <a:latin typeface="Poppins" panose="00000500000000000000" pitchFamily="2" charset="0"/>
                <a:cs typeface="Poppins" panose="00000500000000000000" pitchFamily="2" charset="0"/>
              </a:rPr>
              <a:t>• </a:t>
            </a:r>
            <a:r>
              <a:rPr lang="es-ES" sz="2800" b="0" i="0" u="none" strike="noStrike" baseline="0" dirty="0">
                <a:solidFill>
                  <a:srgbClr val="1A1A1A"/>
                </a:solidFill>
                <a:latin typeface="Poppins" panose="00000500000000000000" pitchFamily="2" charset="0"/>
                <a:cs typeface="Poppins" panose="00000500000000000000" pitchFamily="2" charset="0"/>
              </a:rPr>
              <a:t>Protocolo de actuación ante reclamaciones.</a:t>
            </a:r>
          </a:p>
          <a:p>
            <a:pPr algn="l"/>
            <a:r>
              <a:rPr lang="es-ES" sz="2800" b="0" i="0" u="none" strike="noStrike" baseline="0" dirty="0">
                <a:solidFill>
                  <a:srgbClr val="4D4D4D"/>
                </a:solidFill>
                <a:latin typeface="Poppins" panose="00000500000000000000" pitchFamily="2" charset="0"/>
                <a:cs typeface="Poppins" panose="00000500000000000000" pitchFamily="2" charset="0"/>
              </a:rPr>
              <a:t>• </a:t>
            </a:r>
            <a:r>
              <a:rPr lang="es-ES" sz="2800" b="0" i="0" u="none" strike="noStrike" baseline="0" dirty="0">
                <a:solidFill>
                  <a:srgbClr val="1A1A1A"/>
                </a:solidFill>
                <a:latin typeface="Poppins" panose="00000500000000000000" pitchFamily="2" charset="0"/>
                <a:cs typeface="Poppins" panose="00000500000000000000" pitchFamily="2" charset="0"/>
              </a:rPr>
              <a:t>Facilitar el acceso a las Instalaciones.</a:t>
            </a:r>
            <a:endParaRPr lang="es-ES" sz="28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371618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6D4A7-028F-D6EF-7ADB-B9FDBD306B53}"/>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521016E1-543F-28D6-F6CE-B79C6FCF61A8}"/>
              </a:ext>
            </a:extLst>
          </p:cNvPr>
          <p:cNvPicPr>
            <a:picLocks noChangeAspect="1"/>
          </p:cNvPicPr>
          <p:nvPr/>
        </p:nvPicPr>
        <p:blipFill>
          <a:blip r:embed="rId2"/>
          <a:stretch>
            <a:fillRect/>
          </a:stretch>
        </p:blipFill>
        <p:spPr>
          <a:xfrm>
            <a:off x="16352471" y="498303"/>
            <a:ext cx="1127858" cy="1030313"/>
          </a:xfrm>
          <a:prstGeom prst="rect">
            <a:avLst/>
          </a:prstGeom>
        </p:spPr>
      </p:pic>
      <p:pic>
        <p:nvPicPr>
          <p:cNvPr id="7" name="Imagen 6">
            <a:extLst>
              <a:ext uri="{FF2B5EF4-FFF2-40B4-BE49-F238E27FC236}">
                <a16:creationId xmlns:a16="http://schemas.microsoft.com/office/drawing/2014/main" id="{33EE8CA5-9BD3-1C6B-9C79-3159700326AB}"/>
              </a:ext>
            </a:extLst>
          </p:cNvPr>
          <p:cNvPicPr>
            <a:picLocks noChangeAspect="1"/>
          </p:cNvPicPr>
          <p:nvPr/>
        </p:nvPicPr>
        <p:blipFill>
          <a:blip r:embed="rId3"/>
          <a:stretch>
            <a:fillRect/>
          </a:stretch>
        </p:blipFill>
        <p:spPr>
          <a:xfrm>
            <a:off x="338855" y="8971431"/>
            <a:ext cx="4529721" cy="1085182"/>
          </a:xfrm>
          <a:prstGeom prst="rect">
            <a:avLst/>
          </a:prstGeom>
        </p:spPr>
      </p:pic>
      <p:pic>
        <p:nvPicPr>
          <p:cNvPr id="8" name="Imagen 7">
            <a:extLst>
              <a:ext uri="{FF2B5EF4-FFF2-40B4-BE49-F238E27FC236}">
                <a16:creationId xmlns:a16="http://schemas.microsoft.com/office/drawing/2014/main" id="{2051F40F-8E21-EA44-508A-07B79455CA6F}"/>
              </a:ext>
            </a:extLst>
          </p:cNvPr>
          <p:cNvPicPr>
            <a:picLocks noChangeAspect="1"/>
          </p:cNvPicPr>
          <p:nvPr/>
        </p:nvPicPr>
        <p:blipFill>
          <a:blip r:embed="rId4"/>
          <a:stretch>
            <a:fillRect/>
          </a:stretch>
        </p:blipFill>
        <p:spPr>
          <a:xfrm>
            <a:off x="13419426" y="8971431"/>
            <a:ext cx="4499238" cy="1085182"/>
          </a:xfrm>
          <a:prstGeom prst="rect">
            <a:avLst/>
          </a:prstGeom>
        </p:spPr>
      </p:pic>
      <p:pic>
        <p:nvPicPr>
          <p:cNvPr id="7170" name="Picture 2" descr="Richard Branson – Pablo García FORTES">
            <a:extLst>
              <a:ext uri="{FF2B5EF4-FFF2-40B4-BE49-F238E27FC236}">
                <a16:creationId xmlns:a16="http://schemas.microsoft.com/office/drawing/2014/main" id="{7CA3A7EB-F237-EB9B-FA15-205A93CE880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3466" b="13466"/>
          <a:stretch/>
        </p:blipFill>
        <p:spPr bwMode="auto">
          <a:xfrm>
            <a:off x="3282043" y="801887"/>
            <a:ext cx="12605657" cy="7917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0821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6A5D5-15BE-622D-B08F-6AADB09189A2}"/>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61C49683-A1EE-E13F-2D75-28CC0FFA3835}"/>
              </a:ext>
            </a:extLst>
          </p:cNvPr>
          <p:cNvPicPr>
            <a:picLocks noChangeAspect="1"/>
          </p:cNvPicPr>
          <p:nvPr/>
        </p:nvPicPr>
        <p:blipFill>
          <a:blip r:embed="rId2"/>
          <a:stretch>
            <a:fillRect/>
          </a:stretch>
        </p:blipFill>
        <p:spPr>
          <a:xfrm>
            <a:off x="16352471" y="498303"/>
            <a:ext cx="1127858" cy="1030313"/>
          </a:xfrm>
          <a:prstGeom prst="rect">
            <a:avLst/>
          </a:prstGeom>
        </p:spPr>
      </p:pic>
      <p:pic>
        <p:nvPicPr>
          <p:cNvPr id="7" name="Imagen 6">
            <a:extLst>
              <a:ext uri="{FF2B5EF4-FFF2-40B4-BE49-F238E27FC236}">
                <a16:creationId xmlns:a16="http://schemas.microsoft.com/office/drawing/2014/main" id="{AE5C88BB-874C-A285-480C-B0F3877B944E}"/>
              </a:ext>
            </a:extLst>
          </p:cNvPr>
          <p:cNvPicPr>
            <a:picLocks noChangeAspect="1"/>
          </p:cNvPicPr>
          <p:nvPr/>
        </p:nvPicPr>
        <p:blipFill>
          <a:blip r:embed="rId3"/>
          <a:stretch>
            <a:fillRect/>
          </a:stretch>
        </p:blipFill>
        <p:spPr>
          <a:xfrm>
            <a:off x="338855" y="8971431"/>
            <a:ext cx="4529721" cy="1085182"/>
          </a:xfrm>
          <a:prstGeom prst="rect">
            <a:avLst/>
          </a:prstGeom>
        </p:spPr>
      </p:pic>
      <p:pic>
        <p:nvPicPr>
          <p:cNvPr id="8" name="Imagen 7">
            <a:extLst>
              <a:ext uri="{FF2B5EF4-FFF2-40B4-BE49-F238E27FC236}">
                <a16:creationId xmlns:a16="http://schemas.microsoft.com/office/drawing/2014/main" id="{AFE46946-1FD8-1C96-4FC5-5361F05F69E0}"/>
              </a:ext>
            </a:extLst>
          </p:cNvPr>
          <p:cNvPicPr>
            <a:picLocks noChangeAspect="1"/>
          </p:cNvPicPr>
          <p:nvPr/>
        </p:nvPicPr>
        <p:blipFill>
          <a:blip r:embed="rId4"/>
          <a:stretch>
            <a:fillRect/>
          </a:stretch>
        </p:blipFill>
        <p:spPr>
          <a:xfrm>
            <a:off x="13419426" y="8971431"/>
            <a:ext cx="4499238" cy="1085182"/>
          </a:xfrm>
          <a:prstGeom prst="rect">
            <a:avLst/>
          </a:prstGeom>
        </p:spPr>
      </p:pic>
      <p:sp>
        <p:nvSpPr>
          <p:cNvPr id="2" name="CuadroTexto 1">
            <a:extLst>
              <a:ext uri="{FF2B5EF4-FFF2-40B4-BE49-F238E27FC236}">
                <a16:creationId xmlns:a16="http://schemas.microsoft.com/office/drawing/2014/main" id="{6D6BD024-6103-8ECF-5C6C-A898DD28B1C4}"/>
              </a:ext>
            </a:extLst>
          </p:cNvPr>
          <p:cNvSpPr txBox="1"/>
          <p:nvPr/>
        </p:nvSpPr>
        <p:spPr>
          <a:xfrm>
            <a:off x="1234440" y="245627"/>
            <a:ext cx="13959840" cy="11295400"/>
          </a:xfrm>
          <a:prstGeom prst="rect">
            <a:avLst/>
          </a:prstGeom>
          <a:noFill/>
        </p:spPr>
        <p:txBody>
          <a:bodyPr wrap="square" rtlCol="0">
            <a:spAutoFit/>
          </a:bodyPr>
          <a:lstStyle/>
          <a:p>
            <a:r>
              <a:rPr lang="es-ES" sz="2800" b="1" dirty="0">
                <a:latin typeface="Poppins" panose="00000500000000000000" pitchFamily="2" charset="0"/>
                <a:cs typeface="Poppins" panose="00000500000000000000" pitchFamily="2" charset="0"/>
              </a:rPr>
              <a:t>VÍDEOS ANEXOS SOBRE LA POLÍTICA DE RRHH DE UNA NUEVA EMPRESA</a:t>
            </a:r>
          </a:p>
          <a:p>
            <a:endParaRPr lang="es-ES" sz="2800" dirty="0">
              <a:latin typeface="Poppins" panose="00000500000000000000" pitchFamily="2" charset="0"/>
              <a:cs typeface="Poppins" panose="00000500000000000000" pitchFamily="2" charset="0"/>
            </a:endParaRPr>
          </a:p>
          <a:p>
            <a:pPr marL="342900" indent="-342900">
              <a:buAutoNum type="arabicPeriod"/>
            </a:pPr>
            <a:r>
              <a:rPr lang="es-ES" sz="2800" dirty="0">
                <a:latin typeface="Poppins" panose="00000500000000000000" pitchFamily="2" charset="0"/>
                <a:cs typeface="Poppins" panose="00000500000000000000" pitchFamily="2" charset="0"/>
              </a:rPr>
              <a:t>PERSONAS Y ORGANIZACIÓN</a:t>
            </a:r>
          </a:p>
          <a:p>
            <a:r>
              <a:rPr lang="es-ES" sz="2800" dirty="0">
                <a:latin typeface="Poppins" panose="00000500000000000000" pitchFamily="2" charset="0"/>
                <a:cs typeface="Poppins" panose="00000500000000000000" pitchFamily="2" charset="0"/>
                <a:hlinkClick r:id="rId5"/>
              </a:rPr>
              <a:t>https://youtu.be/DpSii_Fw2Cg?si=_xjmg2WgjiZcCB0J</a:t>
            </a:r>
            <a:endParaRPr lang="es-ES" sz="2800" dirty="0">
              <a:latin typeface="Poppins" panose="00000500000000000000" pitchFamily="2" charset="0"/>
              <a:cs typeface="Poppins" panose="00000500000000000000" pitchFamily="2" charset="0"/>
            </a:endParaRPr>
          </a:p>
          <a:p>
            <a:endParaRPr lang="es-ES" sz="2800" dirty="0">
              <a:latin typeface="Poppins" panose="00000500000000000000" pitchFamily="2" charset="0"/>
              <a:cs typeface="Poppins" panose="00000500000000000000" pitchFamily="2" charset="0"/>
            </a:endParaRPr>
          </a:p>
          <a:p>
            <a:r>
              <a:rPr lang="es-ES" sz="2800" dirty="0">
                <a:latin typeface="Poppins" panose="00000500000000000000" pitchFamily="2" charset="0"/>
                <a:cs typeface="Poppins" panose="00000500000000000000" pitchFamily="2" charset="0"/>
              </a:rPr>
              <a:t>2. ANÁLISIS DE PUESTOS Y SELECCIÓN</a:t>
            </a:r>
          </a:p>
          <a:p>
            <a:r>
              <a:rPr lang="es-ES" sz="2800" dirty="0">
                <a:latin typeface="Poppins" panose="00000500000000000000" pitchFamily="2" charset="0"/>
                <a:cs typeface="Poppins" panose="00000500000000000000" pitchFamily="2" charset="0"/>
                <a:hlinkClick r:id="rId6"/>
              </a:rPr>
              <a:t>https://youtu.be/9SRv-EZNFvI?si=H_GizcQnjDT1bCOX</a:t>
            </a:r>
            <a:endParaRPr lang="es-ES" sz="2800" dirty="0">
              <a:latin typeface="Poppins" panose="00000500000000000000" pitchFamily="2" charset="0"/>
              <a:cs typeface="Poppins" panose="00000500000000000000" pitchFamily="2" charset="0"/>
            </a:endParaRPr>
          </a:p>
          <a:p>
            <a:endParaRPr lang="es-ES" sz="2800" dirty="0">
              <a:latin typeface="Poppins" panose="00000500000000000000" pitchFamily="2" charset="0"/>
              <a:cs typeface="Poppins" panose="00000500000000000000" pitchFamily="2" charset="0"/>
            </a:endParaRPr>
          </a:p>
          <a:p>
            <a:r>
              <a:rPr lang="es-ES" sz="2800" dirty="0">
                <a:latin typeface="Poppins" panose="00000500000000000000" pitchFamily="2" charset="0"/>
                <a:cs typeface="Poppins" panose="00000500000000000000" pitchFamily="2" charset="0"/>
              </a:rPr>
              <a:t>3. DIRECCIÓN Y LIDERAZGO</a:t>
            </a:r>
          </a:p>
          <a:p>
            <a:r>
              <a:rPr lang="es-ES" sz="2800" dirty="0">
                <a:latin typeface="Poppins" panose="00000500000000000000" pitchFamily="2" charset="0"/>
                <a:cs typeface="Poppins" panose="00000500000000000000" pitchFamily="2" charset="0"/>
                <a:hlinkClick r:id="rId7"/>
              </a:rPr>
              <a:t>https://youtu.be/CsCCazF2rUY?si=WRD4QczDnBTSg62r</a:t>
            </a:r>
            <a:endParaRPr lang="es-ES" sz="2800" dirty="0">
              <a:latin typeface="Poppins" panose="00000500000000000000" pitchFamily="2" charset="0"/>
              <a:cs typeface="Poppins" panose="00000500000000000000" pitchFamily="2" charset="0"/>
            </a:endParaRPr>
          </a:p>
          <a:p>
            <a:endParaRPr lang="es-ES" sz="2800" dirty="0">
              <a:latin typeface="Poppins" panose="00000500000000000000" pitchFamily="2" charset="0"/>
              <a:cs typeface="Poppins" panose="00000500000000000000" pitchFamily="2" charset="0"/>
            </a:endParaRPr>
          </a:p>
          <a:p>
            <a:r>
              <a:rPr lang="es-ES" sz="2800" dirty="0">
                <a:latin typeface="Poppins" panose="00000500000000000000" pitchFamily="2" charset="0"/>
                <a:cs typeface="Poppins" panose="00000500000000000000" pitchFamily="2" charset="0"/>
              </a:rPr>
              <a:t>4. MOTIVACIÓN LABORAL</a:t>
            </a:r>
          </a:p>
          <a:p>
            <a:r>
              <a:rPr lang="es-ES" sz="2800" dirty="0">
                <a:latin typeface="Poppins" panose="00000500000000000000" pitchFamily="2" charset="0"/>
                <a:cs typeface="Poppins" panose="00000500000000000000" pitchFamily="2" charset="0"/>
                <a:hlinkClick r:id="rId8"/>
              </a:rPr>
              <a:t>https://youtu.be/_y7Tp1ji7T8?si=kZWvacU3T-oS82se</a:t>
            </a:r>
            <a:endParaRPr lang="es-ES" sz="2800" dirty="0">
              <a:latin typeface="Poppins" panose="00000500000000000000" pitchFamily="2" charset="0"/>
              <a:cs typeface="Poppins" panose="00000500000000000000" pitchFamily="2" charset="0"/>
            </a:endParaRPr>
          </a:p>
          <a:p>
            <a:endParaRPr lang="es-ES" sz="2800" dirty="0">
              <a:latin typeface="Poppins" panose="00000500000000000000" pitchFamily="2" charset="0"/>
              <a:cs typeface="Poppins" panose="00000500000000000000" pitchFamily="2" charset="0"/>
            </a:endParaRPr>
          </a:p>
          <a:p>
            <a:r>
              <a:rPr lang="es-ES" sz="2800" dirty="0">
                <a:latin typeface="Poppins" panose="00000500000000000000" pitchFamily="2" charset="0"/>
                <a:cs typeface="Poppins" panose="00000500000000000000" pitchFamily="2" charset="0"/>
              </a:rPr>
              <a:t>5. IGUALDAD DE GÉNERO EN LA EMPRESA</a:t>
            </a:r>
          </a:p>
          <a:p>
            <a:r>
              <a:rPr lang="es-ES" sz="2800" dirty="0">
                <a:latin typeface="Poppins" panose="00000500000000000000" pitchFamily="2" charset="0"/>
                <a:cs typeface="Poppins" panose="00000500000000000000" pitchFamily="2" charset="0"/>
                <a:hlinkClick r:id="rId9"/>
              </a:rPr>
              <a:t>https://youtu.be/vzIBphE3H9Q?si=BJM11B86_DHMwWmh</a:t>
            </a:r>
            <a:endParaRPr lang="es-ES" sz="2800" dirty="0">
              <a:latin typeface="Poppins" panose="00000500000000000000" pitchFamily="2" charset="0"/>
              <a:cs typeface="Poppins" panose="00000500000000000000" pitchFamily="2" charset="0"/>
            </a:endParaRPr>
          </a:p>
          <a:p>
            <a:endParaRPr lang="es-ES" sz="2800" dirty="0">
              <a:latin typeface="Poppins" panose="00000500000000000000" pitchFamily="2" charset="0"/>
              <a:cs typeface="Poppins" panose="00000500000000000000" pitchFamily="2" charset="0"/>
            </a:endParaRPr>
          </a:p>
          <a:p>
            <a:r>
              <a:rPr lang="es-ES" sz="2800" dirty="0">
                <a:latin typeface="Poppins" panose="00000500000000000000" pitchFamily="2" charset="0"/>
                <a:cs typeface="Poppins" panose="00000500000000000000" pitchFamily="2" charset="0"/>
              </a:rPr>
              <a:t>6. PRINCIPALES OBLIGACIONES LABORALES</a:t>
            </a:r>
          </a:p>
          <a:p>
            <a:r>
              <a:rPr lang="es-ES" sz="2800" dirty="0">
                <a:latin typeface="Poppins" panose="00000500000000000000" pitchFamily="2" charset="0"/>
                <a:cs typeface="Poppins" panose="00000500000000000000" pitchFamily="2" charset="0"/>
                <a:hlinkClick r:id="rId10"/>
              </a:rPr>
              <a:t>https://youtu.be/3HzFFqEtAOI?si=X7XV3ckkLCESMYY9</a:t>
            </a:r>
            <a:endParaRPr lang="es-ES" sz="2800" dirty="0">
              <a:latin typeface="Poppins" panose="00000500000000000000" pitchFamily="2" charset="0"/>
              <a:cs typeface="Poppins" panose="00000500000000000000" pitchFamily="2" charset="0"/>
            </a:endParaRPr>
          </a:p>
          <a:p>
            <a:endParaRPr lang="es-ES" sz="2800" dirty="0">
              <a:latin typeface="Poppins" panose="00000500000000000000" pitchFamily="2" charset="0"/>
              <a:cs typeface="Poppins" panose="00000500000000000000" pitchFamily="2" charset="0"/>
            </a:endParaRPr>
          </a:p>
          <a:p>
            <a:endParaRPr lang="es-ES" sz="2800" dirty="0">
              <a:latin typeface="Poppins" panose="00000500000000000000" pitchFamily="2" charset="0"/>
              <a:cs typeface="Poppins" panose="00000500000000000000" pitchFamily="2" charset="0"/>
            </a:endParaRPr>
          </a:p>
          <a:p>
            <a:endParaRPr lang="es-ES" sz="2800" dirty="0">
              <a:latin typeface="Poppins" panose="00000500000000000000" pitchFamily="2" charset="0"/>
              <a:cs typeface="Poppins" panose="00000500000000000000" pitchFamily="2" charset="0"/>
            </a:endParaRPr>
          </a:p>
          <a:p>
            <a:endParaRPr lang="es-ES" dirty="0"/>
          </a:p>
          <a:p>
            <a:endParaRPr lang="es-ES" dirty="0"/>
          </a:p>
          <a:p>
            <a:endParaRPr lang="es-ES" dirty="0"/>
          </a:p>
          <a:p>
            <a:endParaRPr lang="es-ES" dirty="0"/>
          </a:p>
          <a:p>
            <a:endParaRPr lang="es-ES" dirty="0"/>
          </a:p>
          <a:p>
            <a:endParaRPr lang="es-ES" dirty="0"/>
          </a:p>
          <a:p>
            <a:endParaRPr lang="es-ES" dirty="0"/>
          </a:p>
          <a:p>
            <a:endParaRPr lang="es-ES" dirty="0"/>
          </a:p>
        </p:txBody>
      </p:sp>
    </p:spTree>
    <p:extLst>
      <p:ext uri="{BB962C8B-B14F-4D97-AF65-F5344CB8AC3E}">
        <p14:creationId xmlns:p14="http://schemas.microsoft.com/office/powerpoint/2010/main" val="3180742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67B49E"/>
        </a:solidFill>
        <a:effectLst/>
      </p:bgPr>
    </p:bg>
    <p:spTree>
      <p:nvGrpSpPr>
        <p:cNvPr id="1" name="Shape 110"/>
        <p:cNvGrpSpPr/>
        <p:nvPr/>
      </p:nvGrpSpPr>
      <p:grpSpPr>
        <a:xfrm>
          <a:off x="0" y="0"/>
          <a:ext cx="0" cy="0"/>
          <a:chOff x="0" y="0"/>
          <a:chExt cx="0" cy="0"/>
        </a:xfrm>
      </p:grpSpPr>
      <p:sp>
        <p:nvSpPr>
          <p:cNvPr id="111" name="Google Shape;111;p4"/>
          <p:cNvSpPr/>
          <p:nvPr/>
        </p:nvSpPr>
        <p:spPr>
          <a:xfrm>
            <a:off x="15147925" y="1028700"/>
            <a:ext cx="2111375" cy="1931987"/>
          </a:xfrm>
          <a:custGeom>
            <a:avLst/>
            <a:gdLst/>
            <a:ahLst/>
            <a:cxnLst/>
            <a:rect l="l" t="t" r="r" b="b"/>
            <a:pathLst>
              <a:path w="2111795" h="1932533" extrusionOk="0">
                <a:moveTo>
                  <a:pt x="0" y="0"/>
                </a:moveTo>
                <a:lnTo>
                  <a:pt x="2111795" y="0"/>
                </a:lnTo>
                <a:lnTo>
                  <a:pt x="2111795" y="1932533"/>
                </a:lnTo>
                <a:lnTo>
                  <a:pt x="0" y="1932533"/>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12" name="Google Shape;112;p4"/>
          <p:cNvSpPr txBox="1"/>
          <p:nvPr/>
        </p:nvSpPr>
        <p:spPr>
          <a:xfrm>
            <a:off x="3767137" y="4246562"/>
            <a:ext cx="10753725" cy="154622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F8FBFD"/>
              </a:buClr>
              <a:buSzPts val="8500"/>
              <a:buFont typeface="Poppins"/>
              <a:buNone/>
            </a:pPr>
            <a:r>
              <a:rPr lang="en-US" sz="8500" b="0" i="0" u="none">
                <a:solidFill>
                  <a:srgbClr val="F8FBFD"/>
                </a:solidFill>
                <a:latin typeface="Poppins"/>
                <a:ea typeface="Poppins"/>
                <a:cs typeface="Poppins"/>
                <a:sym typeface="Poppins"/>
              </a:rPr>
              <a:t>Gracias</a:t>
            </a:r>
            <a:endParaRPr/>
          </a:p>
        </p:txBody>
      </p:sp>
      <p:sp>
        <p:nvSpPr>
          <p:cNvPr id="113" name="Google Shape;113;p4"/>
          <p:cNvSpPr/>
          <p:nvPr/>
        </p:nvSpPr>
        <p:spPr>
          <a:xfrm>
            <a:off x="12755562" y="8174037"/>
            <a:ext cx="4502150" cy="1084262"/>
          </a:xfrm>
          <a:custGeom>
            <a:avLst/>
            <a:gdLst/>
            <a:ahLst/>
            <a:cxnLst/>
            <a:rect l="l" t="t" r="r" b="b"/>
            <a:pathLst>
              <a:path w="5424343" h="1297322" extrusionOk="0">
                <a:moveTo>
                  <a:pt x="0" y="0"/>
                </a:moveTo>
                <a:lnTo>
                  <a:pt x="5424343" y="0"/>
                </a:lnTo>
                <a:lnTo>
                  <a:pt x="5424343" y="1297322"/>
                </a:lnTo>
                <a:lnTo>
                  <a:pt x="0" y="1297322"/>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pic>
        <p:nvPicPr>
          <p:cNvPr id="2" name="Imagen 1" descr="Interfaz de usuario gráfica, Texto&#10;&#10;Descripción generada automáticamente">
            <a:extLst>
              <a:ext uri="{FF2B5EF4-FFF2-40B4-BE49-F238E27FC236}">
                <a16:creationId xmlns:a16="http://schemas.microsoft.com/office/drawing/2014/main" id="{615600F2-9570-0A82-F817-FEE37CF05C09}"/>
              </a:ext>
            </a:extLst>
          </p:cNvPr>
          <p:cNvPicPr>
            <a:picLocks noChangeAspect="1"/>
          </p:cNvPicPr>
          <p:nvPr/>
        </p:nvPicPr>
        <p:blipFill>
          <a:blip r:embed="rId5"/>
          <a:stretch>
            <a:fillRect/>
          </a:stretch>
        </p:blipFill>
        <p:spPr>
          <a:xfrm>
            <a:off x="838200" y="8174037"/>
            <a:ext cx="4531295" cy="108426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1263</TotalTime>
  <Words>1792</Words>
  <Application>Microsoft Office PowerPoint</Application>
  <PresentationFormat>Personalizado</PresentationFormat>
  <Paragraphs>157</Paragraphs>
  <Slides>17</Slides>
  <Notes>3</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17</vt:i4>
      </vt:variant>
    </vt:vector>
  </HeadingPairs>
  <TitlesOfParts>
    <vt:vector size="24" baseType="lpstr">
      <vt:lpstr>Arial</vt:lpstr>
      <vt:lpstr>Calibri</vt:lpstr>
      <vt:lpstr>Poppins</vt:lpstr>
      <vt:lpstr>Wingdings</vt:lpstr>
      <vt:lpstr>Lucida Sans Unicode</vt:lpstr>
      <vt:lpstr>Open Sans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Álvaro Estevez Villalba</dc:creator>
  <cp:lastModifiedBy>Gancedo, Oscar</cp:lastModifiedBy>
  <cp:revision>179</cp:revision>
  <cp:lastPrinted>2024-01-26T11:53:40Z</cp:lastPrinted>
  <dcterms:created xsi:type="dcterms:W3CDTF">2006-08-16T00:00:00Z</dcterms:created>
  <dcterms:modified xsi:type="dcterms:W3CDTF">2025-01-16T00:05:54Z</dcterms:modified>
</cp:coreProperties>
</file>